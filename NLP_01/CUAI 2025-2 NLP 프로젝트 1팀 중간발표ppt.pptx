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8531"/>
    <p:restoredTop sz="94660"/>
  </p:normalViewPr>
  <p:slideViewPr>
    <p:cSldViewPr snapToGrid="0">
      <p:cViewPr>
        <p:scale>
          <a:sx n="90" d="100"/>
          <a:sy n="90" d="100"/>
        </p:scale>
        <p:origin x="834" y="120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6831484" cy="130567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>
                <a:solidFill>
                  <a:srgbClr val="19264b"/>
                </a:solidFill>
              </a:rPr>
              <a:t>CUAI</a:t>
            </a:r>
            <a:r>
              <a:rPr lang="en-US" altLang="ko" sz="2500" b="1">
                <a:solidFill>
                  <a:srgbClr val="19264b"/>
                </a:solidFill>
              </a:rPr>
              <a:t> NLP </a:t>
            </a:r>
            <a:r>
              <a:rPr lang="ko-KR" altLang="en-US" sz="2500" b="1">
                <a:solidFill>
                  <a:srgbClr val="19264b"/>
                </a:solidFill>
              </a:rPr>
              <a:t>프로젝트 </a:t>
            </a:r>
            <a:r>
              <a:rPr lang="en-US" altLang="ko-KR" sz="2500" b="1">
                <a:solidFill>
                  <a:srgbClr val="19264b"/>
                </a:solidFill>
              </a:rPr>
              <a:t>1</a:t>
            </a:r>
            <a:r>
              <a:rPr lang="ko-KR" altLang="en-US" sz="2500" b="1">
                <a:solidFill>
                  <a:srgbClr val="19264b"/>
                </a:solidFill>
              </a:rPr>
              <a:t>팀</a:t>
            </a:r>
            <a:endParaRPr lang="ko-KR" altLang="en-US" sz="2500" b="1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solidFill>
                  <a:srgbClr val="19264b"/>
                </a:solidFill>
              </a:rPr>
              <a:t>202</a:t>
            </a:r>
            <a:r>
              <a:rPr lang="en-US" altLang="ko-KR">
                <a:solidFill>
                  <a:srgbClr val="19264b"/>
                </a:solidFill>
              </a:rPr>
              <a:t>5</a:t>
            </a:r>
            <a:r>
              <a:rPr lang="ko">
                <a:solidFill>
                  <a:srgbClr val="19264b"/>
                </a:solidFill>
              </a:rPr>
              <a:t>.</a:t>
            </a:r>
            <a:r>
              <a:rPr lang="en-US" altLang="ko-KR">
                <a:solidFill>
                  <a:srgbClr val="19264b"/>
                </a:solidFill>
              </a:rPr>
              <a:t>10</a:t>
            </a:r>
            <a:r>
              <a:rPr lang="ko">
                <a:solidFill>
                  <a:srgbClr val="19264b"/>
                </a:solidFill>
              </a:rPr>
              <a:t>.</a:t>
            </a:r>
            <a:r>
              <a:rPr lang="en-US" altLang="ko-KR">
                <a:solidFill>
                  <a:srgbClr val="19264b"/>
                </a:solidFill>
              </a:rPr>
              <a:t>28</a:t>
            </a:r>
            <a:endParaRPr lang="en-US" altLang="ko-KR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10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>
                <a:solidFill>
                  <a:srgbClr val="19264b"/>
                </a:solidFill>
              </a:rPr>
              <a:t>발표자</a:t>
            </a:r>
            <a:r>
              <a:rPr lang="en-US" altLang="ko-KR">
                <a:solidFill>
                  <a:srgbClr val="19264b"/>
                </a:solidFill>
              </a:rPr>
              <a:t>: </a:t>
            </a:r>
            <a:r>
              <a:rPr lang="ko-KR" altLang="en-US">
                <a:solidFill>
                  <a:srgbClr val="19264b"/>
                </a:solidFill>
              </a:rPr>
              <a:t>유재윤</a:t>
            </a:r>
            <a:endParaRPr lang="ko-KR" altLang="en-US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주제</a:t>
            </a:r>
            <a:endParaRPr sz="2000" b="1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67;p14"/>
          <p:cNvSpPr txBox="1"/>
          <p:nvPr/>
        </p:nvSpPr>
        <p:spPr>
          <a:xfrm>
            <a:off x="1408975" y="1055550"/>
            <a:ext cx="5961643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/>
              <a:t>프로젝트 주제</a:t>
            </a:r>
            <a:r>
              <a:rPr lang="en-US" altLang="ko-KR" b="1"/>
              <a:t>:</a:t>
            </a:r>
            <a:endParaRPr lang="en-US" altLang="ko-KR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/>
              <a:t>학술적 동영상 </a:t>
            </a:r>
            <a:r>
              <a:rPr lang="en-US" altLang="ko-KR" b="1"/>
              <a:t>(Ex: CS224N)</a:t>
            </a:r>
            <a:r>
              <a:rPr lang="ko-KR" altLang="en-US" b="1"/>
              <a:t>의 자막을 자동으로 생성해주는 서비스 제작</a:t>
            </a:r>
            <a:endParaRPr lang="en-US" altLang="ko-KR" b="1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53963" y="1894130"/>
            <a:ext cx="3719942" cy="155263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61875" y="1724895"/>
            <a:ext cx="1653000" cy="1891105"/>
          </a:xfrm>
          <a:prstGeom prst="rect">
            <a:avLst/>
          </a:prstGeom>
        </p:spPr>
      </p:pic>
      <p:sp>
        <p:nvSpPr>
          <p:cNvPr id="7" name="화살표: 오른쪽 6"/>
          <p:cNvSpPr/>
          <p:nvPr/>
        </p:nvSpPr>
        <p:spPr>
          <a:xfrm>
            <a:off x="5106608" y="2571750"/>
            <a:ext cx="422563" cy="20930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화살표: 오른쪽 7"/>
          <p:cNvSpPr/>
          <p:nvPr/>
        </p:nvSpPr>
        <p:spPr>
          <a:xfrm>
            <a:off x="7280282" y="2571750"/>
            <a:ext cx="422563" cy="20930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Google Shape;67;p14"/>
          <p:cNvSpPr txBox="1"/>
          <p:nvPr/>
        </p:nvSpPr>
        <p:spPr>
          <a:xfrm>
            <a:off x="7636593" y="2362685"/>
            <a:ext cx="1299589" cy="60529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/>
              <a:t>한국어 번역 자막</a:t>
            </a:r>
            <a:endParaRPr lang="en-US" altLang="ko-KR" b="1"/>
          </a:p>
        </p:txBody>
      </p:sp>
      <p:sp>
        <p:nvSpPr>
          <p:cNvPr id="10" name="Google Shape;67;p14"/>
          <p:cNvSpPr txBox="1"/>
          <p:nvPr/>
        </p:nvSpPr>
        <p:spPr>
          <a:xfrm>
            <a:off x="1408975" y="3655832"/>
            <a:ext cx="5961643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/>
              <a:t>매주 화요일 세션 직후</a:t>
            </a:r>
            <a:endParaRPr lang="ko-KR" altLang="en-US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b="1"/>
              <a:t>회의 진행</a:t>
            </a:r>
            <a:endParaRPr lang="ko-KR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데이터셋 소개</a:t>
            </a:r>
            <a:endParaRPr lang="ko-KR" altLang="en-US" sz="2000" b="1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67;p14"/>
          <p:cNvSpPr txBox="1"/>
          <p:nvPr/>
        </p:nvSpPr>
        <p:spPr>
          <a:xfrm>
            <a:off x="1408968" y="1055548"/>
            <a:ext cx="7342768" cy="380790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>
              <a:defRPr/>
            </a:pPr>
            <a:r>
              <a:rPr lang="en-US" altLang="ko-KR" sz="1800" b="1"/>
              <a:t>-</a:t>
            </a:r>
            <a:r>
              <a:rPr lang="ko-KR" altLang="en-US" sz="1800" b="1"/>
              <a:t> 평가용 데이터셋 필요성</a:t>
            </a:r>
            <a:endParaRPr lang="ko-KR" altLang="en-US" sz="1700" b="1"/>
          </a:p>
          <a:p>
            <a:pPr lvl="0">
              <a:defRPr/>
            </a:pPr>
            <a:endParaRPr lang="ko-KR" altLang="en-US" sz="1400" b="1"/>
          </a:p>
          <a:p>
            <a:pPr lvl="0">
              <a:defRPr/>
            </a:pPr>
            <a:r>
              <a:rPr lang="ko-KR" altLang="en-US"/>
              <a:t>Whisper 기본 출력 vs 후처리 모델 결과 비교 가능해야 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음성 파일과 실제 문장이 함께 있는 데이터셋 필요 → AIHub 영어-한국어 번역/음성 데이터 활용 가능</a:t>
            </a:r>
            <a:endParaRPr lang="ko-KR" altLang="en-US" sz="1500"/>
          </a:p>
          <a:p>
            <a:pPr lvl="0">
              <a:defRPr/>
            </a:pPr>
            <a:endParaRPr lang="ko-KR" altLang="en-US" sz="1800" b="1"/>
          </a:p>
          <a:p>
            <a:pPr lvl="0">
              <a:defRPr/>
            </a:pPr>
            <a:r>
              <a:rPr lang="en-US" altLang="ko-KR" sz="1800" b="1"/>
              <a:t>-</a:t>
            </a:r>
            <a:r>
              <a:rPr lang="ko-KR" altLang="en-US" sz="1800" b="1"/>
              <a:t> 활용 데이터셋 </a:t>
            </a:r>
            <a:endParaRPr lang="ko-KR" altLang="en-US" sz="1800" b="1"/>
          </a:p>
          <a:p>
            <a:pPr lvl="0">
              <a:defRPr/>
            </a:pPr>
            <a:endParaRPr lang="ko-KR" altLang="en-US" sz="1800" b="1"/>
          </a:p>
          <a:p>
            <a:pPr lvl="0">
              <a:defRPr/>
            </a:pPr>
            <a:r>
              <a:rPr lang="ko-KR" altLang="en-US"/>
              <a:t>Validation 세트의 VS_en_* (원천 데이터, 32GB), VL_en_* (라벨링 데이터) 사용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Ground truth: 영어 원문은 source_cleaned, 번역은 MTPE 필드 사용</a:t>
            </a:r>
            <a:endParaRPr lang="ko-KR" altLang="en-US" b="1"/>
          </a:p>
          <a:p>
            <a:pPr lvl="0">
              <a:defRPr/>
            </a:pPr>
            <a:endParaRPr lang="ko-KR" altLang="en-US" sz="1800" b="1"/>
          </a:p>
          <a:p>
            <a:pPr lvl="0">
              <a:defRPr/>
            </a:pPr>
            <a:r>
              <a:rPr lang="en-US" altLang="ko-KR" sz="1800" b="1"/>
              <a:t>-</a:t>
            </a:r>
            <a:r>
              <a:rPr lang="ko-KR" altLang="en-US" sz="1800" b="1"/>
              <a:t> 자체 제작 데이터</a:t>
            </a:r>
            <a:endParaRPr lang="ko-KR" altLang="en-US" sz="1800" b="1"/>
          </a:p>
          <a:p>
            <a:pPr lvl="0">
              <a:defRPr/>
            </a:pPr>
            <a:endParaRPr lang="ko-KR" altLang="en-US" sz="1800" b="0"/>
          </a:p>
          <a:p>
            <a:pPr lvl="0">
              <a:defRPr/>
            </a:pPr>
            <a:r>
              <a:rPr lang="ko-KR" altLang="en-US"/>
              <a:t>“네가 인생네컷 찍고 내가 훠궈 먹자고 했잖아. 지갑에 값도 없어.” 와 같은 실제 사용 예제 기반 음성 파일 생성 후 테스트 진행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구현 방향성</a:t>
            </a:r>
            <a:endParaRPr lang="ko-KR" altLang="en-US" sz="2000" b="1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67;p14"/>
          <p:cNvSpPr txBox="1"/>
          <p:nvPr/>
        </p:nvSpPr>
        <p:spPr>
          <a:xfrm>
            <a:off x="1454295" y="1138677"/>
            <a:ext cx="7240825" cy="3419973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>
              <a:defRPr/>
            </a:pPr>
            <a:r>
              <a:rPr lang="en-US" altLang="ko-KR" sz="1800" b="1"/>
              <a:t>ASR (자동 음성 인식)</a:t>
            </a:r>
            <a:endParaRPr lang="en-US" altLang="ko-KR" sz="1800" b="1"/>
          </a:p>
          <a:p>
            <a:pPr lvl="0">
              <a:defRPr/>
            </a:pPr>
            <a:endParaRPr lang="en-US" altLang="ko-KR" sz="1800" b="1"/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긴 음성을 적절히 세그먼트 분리 → ASR 수행 → N-best 출력 구조 설계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WhisperX, pyannote.audio 기반 VAD, faster-whisper 등 다양한</a:t>
            </a:r>
            <a:r>
              <a:rPr lang="ko-KR" altLang="en-US">
                <a:solidFill>
                  <a:schemeClr val="tx1"/>
                </a:solidFill>
                <a:latin typeface="Arial"/>
              </a:rPr>
              <a:t> </a:t>
            </a:r>
            <a:r>
              <a:rPr lang="ko-KR" altLang="ko-KR">
                <a:solidFill>
                  <a:schemeClr val="tx1"/>
                </a:solidFill>
                <a:latin typeface="Arial"/>
              </a:rPr>
              <a:t>세그멘테이션 방식 검토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VAD 기반 + ASR 조합이 효율적이라고 판단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ko-KR" b="1">
              <a:solidFill>
                <a:schemeClr val="tx1"/>
              </a:solidFill>
              <a:latin typeface="Arial"/>
            </a:endParaRP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ko-KR" b="1">
              <a:solidFill>
                <a:schemeClr val="tx1"/>
              </a:solidFill>
              <a:latin typeface="Arial"/>
            </a:endParaRPr>
          </a:p>
          <a:p>
            <a:pPr lvl="0">
              <a:defRPr/>
            </a:pPr>
            <a:r>
              <a:rPr lang="en-US" altLang="ko-KR" sz="1800" b="1"/>
              <a:t>후처리 (LLM 기반)</a:t>
            </a:r>
            <a:endParaRPr lang="en-US" altLang="ko-KR" sz="1800" b="1"/>
          </a:p>
          <a:p>
            <a:pPr lvl="0">
              <a:defRPr/>
            </a:pPr>
            <a:endParaRPr lang="en-US" altLang="ko-KR" sz="1800" b="1"/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Whisper의 N-best 후보를 LLM이 교정/재구성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선택적 재순위화, 생성적 재구성, 검색 증강 교정, 클로즈 제약 선택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28575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과보정(over-correction) 문제를 방지하기 위한 제약 기반 접근 참고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ko-KR" b="1"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모델 소개</a:t>
            </a:r>
            <a:endParaRPr lang="ko-KR" altLang="en-US" sz="2000" b="1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67;p14"/>
          <p:cNvSpPr txBox="1"/>
          <p:nvPr/>
        </p:nvSpPr>
        <p:spPr>
          <a:xfrm>
            <a:off x="1433128" y="831757"/>
            <a:ext cx="7494826" cy="4593668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>
              <a:defRPr/>
            </a:pPr>
            <a:r>
              <a:rPr lang="en-US" altLang="ko-KR" sz="1800" b="1"/>
              <a:t>ASR </a:t>
            </a:r>
            <a:r>
              <a:rPr lang="ko-KR" altLang="en-US" sz="1800" b="1"/>
              <a:t>모델</a:t>
            </a:r>
            <a:endParaRPr lang="ko-KR" altLang="en-US" sz="1800" b="1"/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OpenAI Whisper, WhisperX (segmentation 내장), faster-whisper(beam search) 활용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ko-KR" b="1">
              <a:solidFill>
                <a:schemeClr val="tx1"/>
              </a:solidFill>
              <a:latin typeface="Arial"/>
            </a:endParaRP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ko-KR" b="1">
              <a:solidFill>
                <a:schemeClr val="tx1"/>
              </a:solidFill>
              <a:latin typeface="Arial"/>
            </a:endParaRPr>
          </a:p>
          <a:p>
            <a:pPr lvl="0">
              <a:defRPr/>
            </a:pPr>
            <a:r>
              <a:rPr lang="en-US" altLang="ko-KR" sz="1800" b="1"/>
              <a:t>LLM 후처리 모델</a:t>
            </a:r>
            <a:endParaRPr lang="en-US" altLang="ko-KR" sz="1800" b="1"/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테스트용: HuggingFace facebook/opt-1.3b (연습 및 소규모 실험)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실제 성능 확인: OpenAI GPT-5 기반 후처리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0" lvl="0" indent="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0" lvl="0" indent="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ko-KR" altLang="en-US" sz="1800" b="1">
                <a:solidFill>
                  <a:schemeClr val="tx1"/>
                </a:solidFill>
                <a:latin typeface="Arial"/>
              </a:rPr>
              <a:t>파인튜닝</a:t>
            </a:r>
            <a:endParaRPr lang="ko-KR" altLang="en-US" sz="1800" b="1">
              <a:solidFill>
                <a:schemeClr val="tx1"/>
              </a:solidFill>
              <a:latin typeface="Arial"/>
            </a:endParaRPr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LoRA/QLoRA 방식 적용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시간 부족으로 소규모 데이터셋을 직접 제작해 실험 진행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0" lvl="0" indent="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0" lvl="0" indent="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ko-KR" altLang="en-US" sz="1800" b="1">
                <a:solidFill>
                  <a:schemeClr val="tx1"/>
                </a:solidFill>
                <a:latin typeface="Arial"/>
              </a:rPr>
              <a:t>방법 비교</a:t>
            </a:r>
            <a:endParaRPr lang="ko-KR" altLang="en-US" sz="1800" b="1">
              <a:solidFill>
                <a:schemeClr val="tx1"/>
              </a:solidFill>
              <a:latin typeface="Arial"/>
            </a:endParaRPr>
          </a:p>
          <a:p>
            <a:pPr lvl="0">
              <a:defRPr/>
            </a:pPr>
            <a:r>
              <a:rPr lang="ko-KR" altLang="en-US"/>
              <a:t>방법 </a:t>
            </a:r>
            <a:r>
              <a:rPr lang="en-US" altLang="ko-KR"/>
              <a:t>1:</a:t>
            </a:r>
            <a:r>
              <a:rPr lang="ko-KR" altLang="en-US"/>
              <a:t> 선택적 재순위화 (N-best 중 선택, 수정 적음)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방법 </a:t>
            </a:r>
            <a:r>
              <a:rPr lang="en-US" altLang="ko-KR"/>
              <a:t>2:</a:t>
            </a:r>
            <a:r>
              <a:rPr lang="ko-KR" altLang="en-US"/>
              <a:t> 생성적 재구성 (새로운 문장 생성, 수정 과다 가능성)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방법 </a:t>
            </a:r>
            <a:r>
              <a:rPr lang="en-US" altLang="ko-KR"/>
              <a:t>3:</a:t>
            </a:r>
            <a:r>
              <a:rPr lang="ko-KR" altLang="en-US"/>
              <a:t> 검색 증강 교정 (외부 지식 활용 시 성능 향상 가능)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방법 </a:t>
            </a:r>
            <a:r>
              <a:rPr lang="en-US" altLang="ko-KR"/>
              <a:t>4:</a:t>
            </a:r>
            <a:r>
              <a:rPr lang="ko-KR" altLang="en-US"/>
              <a:t> 클로즈 제약 선택 (N-best 차이 부분만 선택, 과보정 방지)</a:t>
            </a:r>
            <a:endParaRPr lang="ko-KR" altLang="en-US" b="1"/>
          </a:p>
          <a:p>
            <a:pPr lvl="0">
              <a:defRPr/>
            </a:pPr>
            <a:endParaRPr lang="ko-KR" altLang="en-US" sz="1800" b="1">
              <a:solidFill>
                <a:schemeClr val="tx1"/>
              </a:solidFill>
              <a:latin typeface="Arial"/>
            </a:endParaRP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ko-KR" altLang="en-US" sz="18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480607" y="4099135"/>
            <a:ext cx="7304618" cy="29950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진행 현황 </a:t>
            </a:r>
            <a:endParaRPr lang="ko-KR" altLang="en-US" sz="2000" b="1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67;p14"/>
          <p:cNvSpPr txBox="1"/>
          <p:nvPr/>
        </p:nvSpPr>
        <p:spPr>
          <a:xfrm>
            <a:off x="1454295" y="1138674"/>
            <a:ext cx="6235409" cy="249605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>
              <a:defRPr/>
            </a:pPr>
            <a:r>
              <a:rPr lang="ko-KR" altLang="en-US" sz="1800" b="1"/>
              <a:t>현재까지 진행</a:t>
            </a:r>
            <a:endParaRPr lang="ko-KR" altLang="en-US" sz="1800" b="1"/>
          </a:p>
          <a:p>
            <a:pPr marL="0" lvl="0" indent="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en-US" altLang="ko-KR" sz="1800" b="1"/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AIHub 및 자체 제작 데이터 기반 테스트 진행.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Whisper N-best 결과와 LLM 후처리 비교 실험 완료.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과보정 문제, 점수 가중치(ASR vs LLM) 조정 방법 검토</a:t>
            </a:r>
            <a:r>
              <a:rPr lang="en-US" altLang="ko-KR">
                <a:solidFill>
                  <a:schemeClr val="tx1"/>
                </a:solidFill>
                <a:latin typeface="Arial"/>
              </a:rPr>
              <a:t>.</a:t>
            </a:r>
            <a:endParaRPr lang="en-US" altLang="ko-KR">
              <a:solidFill>
                <a:schemeClr val="tx1"/>
              </a:solidFill>
              <a:latin typeface="Arial"/>
            </a:endParaRPr>
          </a:p>
          <a:p>
            <a:pPr marL="285750" lvl="0" indent="-28575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  <a:defRPr/>
            </a:pPr>
            <a:r>
              <a:rPr lang="ko-KR" altLang="ko-KR">
                <a:solidFill>
                  <a:schemeClr val="tx1"/>
                </a:solidFill>
                <a:latin typeface="Arial"/>
              </a:rPr>
              <a:t>LoRA 기반 파인튜닝 코드 및 실험 데이터셋 구성 완료.</a:t>
            </a:r>
            <a:endParaRPr lang="ko-KR" altLang="ko-KR">
              <a:solidFill>
                <a:schemeClr val="tx1"/>
              </a:solidFill>
              <a:latin typeface="Arial"/>
            </a:endParaRP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ko-KR" b="1">
              <a:solidFill>
                <a:schemeClr val="tx1"/>
              </a:solidFill>
              <a:latin typeface="Arial"/>
            </a:endParaRP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ko-KR" b="1">
              <a:solidFill>
                <a:schemeClr val="tx1"/>
              </a:solidFill>
              <a:latin typeface="Arial"/>
            </a:endParaRPr>
          </a:p>
          <a:p>
            <a:pPr marL="0" lvl="0" indent="0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lang="ko-KR" altLang="ko-KR">
              <a:solidFill>
                <a:schemeClr val="tx1"/>
              </a:solidFill>
              <a:latin typeface="Arial"/>
            </a:endParaRPr>
          </a:p>
          <a:p>
            <a:pPr lvl="0" eaLnBrk="0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ko-KR" altLang="en-US" sz="1800" b="1"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3466376" y="2125489"/>
            <a:ext cx="2792910" cy="880586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감사합니다</a:t>
            </a:r>
            <a:endParaRPr sz="4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395</ep:Words>
  <ep:PresentationFormat>화면 슬라이드 쇼(16:9)</ep:PresentationFormat>
  <ep:Paragraphs>73</ep:Paragraphs>
  <ep:Slides>7</ep:Slides>
  <ep:Notes>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정성룡</dc:creator>
  <cp:lastModifiedBy>seren</cp:lastModifiedBy>
  <dcterms:modified xsi:type="dcterms:W3CDTF">2025-10-27T07:00:16.703</dcterms:modified>
  <cp:revision>28</cp:revision>
  <cp:version>1000.0000.01</cp:version>
</cp:coreProperties>
</file>