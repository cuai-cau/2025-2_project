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6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71" r:id="rId6"/>
    <p:sldId id="272" r:id="rId7"/>
    <p:sldId id="273" r:id="rId8"/>
    <p:sldId id="274" r:id="rId9"/>
    <p:sldId id="275" r:id="rId10"/>
    <p:sldId id="276" r:id="rId11"/>
    <p:sldId id="279" r:id="rId12"/>
    <p:sldId id="277" r:id="rId13"/>
    <p:sldId id="278" r:id="rId14"/>
    <p:sldId id="266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17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86424" autoAdjust="0"/>
  </p:normalViewPr>
  <p:slideViewPr>
    <p:cSldViewPr snapToGrid="0">
      <p:cViewPr varScale="1">
        <p:scale>
          <a:sx n="126" d="100"/>
          <a:sy n="126" d="100"/>
        </p:scale>
        <p:origin x="1146" y="108"/>
      </p:cViewPr>
      <p:guideLst>
        <p:guide orient="horz" pos="161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 lvl="0">
              <a:defRPr/>
            </a:pPr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나눔고딕"/>
        <a:ea typeface="나눔고딕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011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54BBD81-762D-E090-9E4D-FE02A2337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DA73A218-E17C-A8B1-24B5-D157A3C30AEA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7CAF92E7-B4FE-C53F-D75D-8E88652B1A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42392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0840A72-4E21-295B-CC28-EC21AD140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0FC82EBC-22FD-2516-BC95-23B27A9385C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463D7256-B556-0654-B54F-200FC43E33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46621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1ADF453-CF2B-00AF-AA62-2E0A68A4D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85DCB34A-D9D9-FB04-AA49-CD755D9C5FE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2F034440-1A08-1FC0-1DCA-A5BC678DE1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7174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894FE88-CE8A-9155-47A7-31DD084DE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9EF624E4-BF87-39FC-0AC5-5D905974C510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7DCBFA36-F8BE-E4D3-1605-228E953751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98086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6C4C20A-871D-DE4E-0144-12D6DC5EC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EC942561-BA4F-DBAF-C3F1-722B0A0ABED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2A2B8663-9399-2162-11E3-BA401970B9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48715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9FC7CE5-283A-F9C0-9147-BDFAAA6DB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29271CA3-F72D-2B66-2E23-0607FEB548CC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B7ADBCB0-1C82-7D46-9078-87DD44F2C8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3724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DA7C4D4-7EA1-0999-D875-E4945B271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BB57D4C5-855E-2776-DBF9-4B367720208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1AB1BB60-F1CE-06DA-0ECD-E251BB8236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29709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9563AEF-D9EA-05EF-3030-CCED1C88D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C0346417-B8E7-6F14-5343-BCC9BC6F31F6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2660CF70-4DCC-39C8-F5AF-82D21ACFB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91391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 dirty="0"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 dirty="0"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 dirty="0"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 dirty="0"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 dirty="0"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rPr dirty="0"/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나눔고딕" panose="020D0604000000000000" pitchFamily="50" charset="-127"/>
          <a:ea typeface="나눔고딕" panose="020D0604000000000000" pitchFamily="50" charset="-127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나눔고딕" panose="020D0604000000000000" pitchFamily="50" charset="-127"/>
          <a:ea typeface="나눔고딕" panose="020D0604000000000000" pitchFamily="50" charset="-127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>
                <a:latin typeface="맑은 고딕"/>
                <a:ea typeface="맑은 고딕"/>
              </a:rPr>
              <a:t>T</a:t>
            </a:r>
            <a:endParaRPr>
              <a:latin typeface="맑은 고딕"/>
              <a:ea typeface="맑은 고딕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339750" y="2710050"/>
            <a:ext cx="4979400" cy="1553325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2500" b="1" dirty="0">
                <a:solidFill>
                  <a:srgbClr val="19264B"/>
                </a:solidFill>
                <a:latin typeface="나눔스퀘어 ExtraBold"/>
                <a:ea typeface="나눔스퀘어 ExtraBold"/>
              </a:rPr>
              <a:t>CUAI </a:t>
            </a:r>
            <a:r>
              <a:rPr lang="en-US" altLang="ko" sz="2500" b="1" dirty="0">
                <a:solidFill>
                  <a:srgbClr val="19264B"/>
                </a:solidFill>
                <a:latin typeface="나눔스퀘어 ExtraBold"/>
                <a:ea typeface="나눔스퀘어 ExtraBold"/>
              </a:rPr>
              <a:t>NLP</a:t>
            </a:r>
            <a:r>
              <a:rPr lang="ko-KR" altLang="en-US" sz="2500" b="1" dirty="0">
                <a:solidFill>
                  <a:srgbClr val="19264B"/>
                </a:solidFill>
                <a:latin typeface="나눔스퀘어 ExtraBold"/>
                <a:ea typeface="나눔스퀘어 ExtraBold"/>
              </a:rPr>
              <a:t> 프로젝트</a:t>
            </a:r>
            <a:r>
              <a:rPr lang="ko" sz="2500" b="1" dirty="0">
                <a:solidFill>
                  <a:srgbClr val="19264B"/>
                </a:solidFill>
                <a:latin typeface="나눔스퀘어 ExtraBold"/>
                <a:ea typeface="나눔스퀘어 ExtraBold"/>
              </a:rPr>
              <a:t> </a:t>
            </a:r>
            <a:r>
              <a:rPr lang="en-US" altLang="ko" sz="2500" b="1" dirty="0">
                <a:solidFill>
                  <a:srgbClr val="19264B"/>
                </a:solidFill>
                <a:latin typeface="나눔스퀘어 ExtraBold"/>
                <a:ea typeface="나눔스퀘어 ExtraBold"/>
              </a:rPr>
              <a:t>2</a:t>
            </a:r>
            <a:r>
              <a:rPr lang="ko" sz="2500" b="1" dirty="0">
                <a:solidFill>
                  <a:srgbClr val="19264B"/>
                </a:solidFill>
                <a:latin typeface="나눔스퀘어 ExtraBold"/>
                <a:ea typeface="나눔스퀘어 ExtraBold"/>
              </a:rPr>
              <a:t>팀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dirty="0">
                <a:solidFill>
                  <a:srgbClr val="19264B"/>
                </a:solidFill>
                <a:latin typeface="나눔스퀘어 ExtraBold"/>
                <a:ea typeface="나눔스퀘어 ExtraBold"/>
              </a:rPr>
              <a:t>202</a:t>
            </a:r>
            <a:r>
              <a:rPr lang="en-US" altLang="ko" dirty="0">
                <a:solidFill>
                  <a:srgbClr val="19264B"/>
                </a:solidFill>
                <a:latin typeface="나눔스퀘어 ExtraBold"/>
                <a:ea typeface="나눔스퀘어 ExtraBold"/>
              </a:rPr>
              <a:t>5</a:t>
            </a:r>
            <a:r>
              <a:rPr lang="ko" dirty="0">
                <a:solidFill>
                  <a:srgbClr val="19264B"/>
                </a:solidFill>
                <a:latin typeface="나눔스퀘어 ExtraBold"/>
                <a:ea typeface="나눔스퀘어 ExtraBold"/>
              </a:rPr>
              <a:t>.</a:t>
            </a:r>
            <a:r>
              <a:rPr lang="en-US" altLang="ko-KR" dirty="0">
                <a:solidFill>
                  <a:srgbClr val="19264B"/>
                </a:solidFill>
                <a:latin typeface="나눔스퀘어 ExtraBold"/>
                <a:ea typeface="나눔스퀘어 ExtraBold"/>
              </a:rPr>
              <a:t>11</a:t>
            </a:r>
            <a:r>
              <a:rPr lang="ko" dirty="0">
                <a:solidFill>
                  <a:srgbClr val="19264B"/>
                </a:solidFill>
                <a:latin typeface="나눔스퀘어 ExtraBold"/>
                <a:ea typeface="나눔스퀘어 ExtraBold"/>
              </a:rPr>
              <a:t>.</a:t>
            </a:r>
            <a:r>
              <a:rPr lang="en-US" altLang="ko" dirty="0">
                <a:solidFill>
                  <a:srgbClr val="19264B"/>
                </a:solidFill>
                <a:latin typeface="나눔스퀘어 ExtraBold"/>
                <a:ea typeface="나눔스퀘어 ExtraBold"/>
              </a:rPr>
              <a:t>25</a:t>
            </a:r>
            <a:endParaRPr lang="en-US" altLang="ko-KR" dirty="0">
              <a:solidFill>
                <a:srgbClr val="19264B"/>
              </a:solidFill>
              <a:latin typeface="나눔스퀘어 ExtraBold"/>
              <a:ea typeface="나눔스퀘어 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dirty="0">
              <a:solidFill>
                <a:srgbClr val="19264B"/>
              </a:solidFill>
              <a:latin typeface="나눔스퀘어 ExtraBold"/>
              <a:ea typeface="나눔스퀘어 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dirty="0">
              <a:solidFill>
                <a:srgbClr val="19264B"/>
              </a:solidFill>
              <a:latin typeface="나눔스퀘어 ExtraBold"/>
              <a:ea typeface="나눔스퀘어 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1100" dirty="0">
                <a:solidFill>
                  <a:srgbClr val="19264B"/>
                </a:solidFill>
                <a:latin typeface="나눔스퀘어 ExtraBold"/>
                <a:ea typeface="나눔스퀘어 ExtraBold"/>
              </a:rPr>
              <a:t>발표자</a:t>
            </a:r>
            <a:r>
              <a:rPr lang="en-US" altLang="ko" sz="1100" dirty="0">
                <a:solidFill>
                  <a:srgbClr val="19264B"/>
                </a:solidFill>
                <a:latin typeface="나눔스퀘어 ExtraBold"/>
                <a:ea typeface="나눔스퀘어 ExtraBold"/>
              </a:rPr>
              <a:t> : </a:t>
            </a:r>
            <a:r>
              <a:rPr lang="ko-KR" altLang="en-US" sz="1100" dirty="0">
                <a:solidFill>
                  <a:srgbClr val="19264B"/>
                </a:solidFill>
                <a:latin typeface="나눔스퀘어 ExtraBold"/>
                <a:ea typeface="나눔스퀘어 ExtraBold"/>
              </a:rPr>
              <a:t>양희원</a:t>
            </a:r>
            <a:r>
              <a:rPr lang="en-US" altLang="ko-KR" sz="1100" dirty="0">
                <a:solidFill>
                  <a:srgbClr val="19264B"/>
                </a:solidFill>
                <a:latin typeface="나눔스퀘어 ExtraBold"/>
                <a:ea typeface="나눔스퀘어 ExtraBold"/>
              </a:rPr>
              <a:t>	</a:t>
            </a:r>
            <a:endParaRPr lang="ko-KR" altLang="en-US" sz="1100" dirty="0">
              <a:solidFill>
                <a:srgbClr val="19264B"/>
              </a:solidFill>
              <a:latin typeface="나눔스퀘어 ExtraBold"/>
              <a:ea typeface="나눔스퀘어 ExtraBold"/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57" name="Google Shape;57;p13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63" name="Google Shape;63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64" name="Google Shape;64;p14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/>
          <p:nvPr/>
        </p:nvSpPr>
        <p:spPr>
          <a:xfrm>
            <a:off x="1599250" y="1262100"/>
            <a:ext cx="4287600" cy="3109734"/>
          </a:xfrm>
          <a:prstGeom prst="rect">
            <a:avLst/>
          </a:prstGeom>
          <a:solidFill>
            <a:srgbClr val="EFEFEF"/>
          </a:solidFill>
          <a:ln w="38100" cap="flat" cmpd="sng">
            <a:solidFill>
              <a:srgbClr val="19264B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200">
              <a:latin typeface="맑은 고딕"/>
              <a:ea typeface="맑은 고딕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2000" b="1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스터디원 소개 및 만남 인증</a:t>
            </a:r>
            <a:endParaRPr sz="2000" b="1">
              <a:solidFill>
                <a:srgbClr val="19264B"/>
              </a:solidFill>
              <a:latin typeface="나눔스퀘어 ExtraBold"/>
              <a:ea typeface="나눔스퀘어 ExtraBold"/>
              <a:cs typeface="NanumGothic ExtraBold"/>
              <a:sym typeface="NanumGothic ExtraBol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5995164" y="1350452"/>
            <a:ext cx="2886200" cy="1985127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300" dirty="0">
                <a:latin typeface="나눔스퀘어"/>
                <a:ea typeface="나눔스퀘어"/>
              </a:rPr>
              <a:t>팀</a:t>
            </a:r>
            <a:r>
              <a:rPr lang="ko" sz="1300" dirty="0">
                <a:latin typeface="나눔스퀘어"/>
                <a:ea typeface="나눔스퀘어"/>
              </a:rPr>
              <a:t>원 1:</a:t>
            </a:r>
            <a:r>
              <a:rPr lang="en-US" altLang="ko" sz="1300" dirty="0">
                <a:latin typeface="나눔스퀘어"/>
                <a:ea typeface="나눔스퀘어"/>
              </a:rPr>
              <a:t> </a:t>
            </a:r>
            <a:r>
              <a:rPr lang="ko-KR" altLang="en-US" sz="1300" dirty="0">
                <a:latin typeface="나눔스퀘어"/>
                <a:ea typeface="나눔스퀘어"/>
              </a:rPr>
              <a:t>박준우</a:t>
            </a:r>
            <a:endParaRPr lang="en-US" altLang="ko-KR" sz="1100" dirty="0">
              <a:latin typeface="나눔스퀘어"/>
              <a:ea typeface="나눔스퀘어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" sz="1300" dirty="0">
              <a:latin typeface="나눔스퀘어"/>
              <a:ea typeface="나눔스퀘어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300" dirty="0">
                <a:latin typeface="나눔스퀘어"/>
                <a:ea typeface="나눔스퀘어"/>
              </a:rPr>
              <a:t>팀</a:t>
            </a:r>
            <a:r>
              <a:rPr lang="ko" sz="1300" dirty="0">
                <a:latin typeface="나눔스퀘어"/>
                <a:ea typeface="나눔스퀘어"/>
              </a:rPr>
              <a:t>원 2:</a:t>
            </a:r>
            <a:r>
              <a:rPr lang="en-US" altLang="ko" sz="1300" dirty="0">
                <a:latin typeface="나눔스퀘어"/>
                <a:ea typeface="나눔스퀘어"/>
              </a:rPr>
              <a:t> </a:t>
            </a:r>
            <a:r>
              <a:rPr lang="ko-KR" altLang="en-US" sz="1300" dirty="0" err="1">
                <a:latin typeface="나눔스퀘어"/>
                <a:ea typeface="나눔스퀘어"/>
              </a:rPr>
              <a:t>안솔</a:t>
            </a:r>
            <a:endParaRPr lang="en-US" altLang="ko-KR" sz="1300" dirty="0">
              <a:latin typeface="나눔스퀘어"/>
              <a:ea typeface="나눔스퀘어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1300" dirty="0">
              <a:latin typeface="나눔스퀘어"/>
              <a:ea typeface="나눔스퀘어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300" dirty="0">
                <a:latin typeface="나눔스퀘어"/>
                <a:ea typeface="나눔스퀘어"/>
              </a:rPr>
              <a:t>팀원 </a:t>
            </a:r>
            <a:r>
              <a:rPr lang="en-US" altLang="ko-KR" sz="1300" dirty="0">
                <a:latin typeface="나눔스퀘어"/>
                <a:ea typeface="나눔스퀘어"/>
              </a:rPr>
              <a:t>3: </a:t>
            </a:r>
            <a:r>
              <a:rPr lang="ko-KR" altLang="en-US" sz="1300" dirty="0" err="1">
                <a:latin typeface="나눔스퀘어"/>
                <a:ea typeface="나눔스퀘어"/>
              </a:rPr>
              <a:t>양희원</a:t>
            </a:r>
            <a:endParaRPr lang="en-US" altLang="ko-KR" sz="1300" dirty="0">
              <a:latin typeface="나눔스퀘어"/>
              <a:ea typeface="나눔스퀘어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1300" dirty="0">
              <a:latin typeface="나눔스퀘어"/>
              <a:ea typeface="나눔스퀘어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300" dirty="0">
                <a:latin typeface="나눔스퀘어"/>
                <a:ea typeface="나눔스퀘어"/>
              </a:rPr>
              <a:t>팀원 </a:t>
            </a:r>
            <a:r>
              <a:rPr lang="en-US" altLang="ko-KR" sz="1300" dirty="0">
                <a:latin typeface="나눔스퀘어"/>
                <a:ea typeface="나눔스퀘어"/>
              </a:rPr>
              <a:t>4: </a:t>
            </a:r>
            <a:r>
              <a:rPr lang="ko-KR" altLang="en-US" sz="1300" dirty="0" err="1">
                <a:latin typeface="나눔스퀘어"/>
                <a:ea typeface="나눔스퀘어"/>
              </a:rPr>
              <a:t>조한서</a:t>
            </a:r>
            <a:endParaRPr lang="en-US" altLang="ko-KR" sz="1300" dirty="0">
              <a:latin typeface="나눔스퀘어"/>
              <a:ea typeface="나눔스퀘어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 sz="1300" dirty="0">
              <a:latin typeface="나눔스퀘어"/>
              <a:ea typeface="나눔스퀘어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300" dirty="0">
                <a:latin typeface="나눔스퀘어"/>
                <a:ea typeface="나눔스퀘어"/>
              </a:rPr>
              <a:t>팀원 </a:t>
            </a:r>
            <a:r>
              <a:rPr lang="en-US" altLang="ko-KR" sz="1300" dirty="0">
                <a:latin typeface="나눔스퀘어"/>
                <a:ea typeface="나눔스퀘어"/>
              </a:rPr>
              <a:t>5: </a:t>
            </a:r>
            <a:r>
              <a:rPr lang="ko-KR" altLang="en-US" sz="1300" dirty="0">
                <a:latin typeface="나눔스퀘어"/>
                <a:ea typeface="나눔스퀘어"/>
              </a:rPr>
              <a:t>한승원</a:t>
            </a:r>
            <a:endParaRPr lang="en-US" altLang="ko-KR" sz="1300" dirty="0">
              <a:latin typeface="나눔스퀘어"/>
              <a:ea typeface="나눔스퀘어"/>
            </a:endParaRPr>
          </a:p>
        </p:txBody>
      </p:sp>
      <p:sp>
        <p:nvSpPr>
          <p:cNvPr id="4" name="Google Shape;67;p14"/>
          <p:cNvSpPr txBox="1"/>
          <p:nvPr/>
        </p:nvSpPr>
        <p:spPr>
          <a:xfrm>
            <a:off x="2620186" y="4371834"/>
            <a:ext cx="2858050" cy="3693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dirty="0">
                <a:latin typeface="나눔스퀘어"/>
                <a:ea typeface="나눔스퀘어"/>
              </a:rPr>
              <a:t>매주 화요일 세션 직후 회의 진행</a:t>
            </a:r>
            <a:endParaRPr sz="1200" dirty="0">
              <a:latin typeface="나눔스퀘어"/>
              <a:ea typeface="나눔스퀘어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/>
          <p:cNvSpPr txBox="1"/>
          <p:nvPr/>
        </p:nvSpPr>
        <p:spPr>
          <a:xfrm>
            <a:off x="1387203" y="328647"/>
            <a:ext cx="4979400" cy="506004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프로젝트 개요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475280" y="876822"/>
            <a:ext cx="7431498" cy="3693319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b="1" dirty="0">
                <a:latin typeface="+mj-lt"/>
              </a:rPr>
              <a:t>Cost-Efficient</a:t>
            </a:r>
            <a:r>
              <a:rPr lang="en-US" altLang="ko-KR" sz="1600" b="1" dirty="0">
                <a:latin typeface="A"/>
              </a:rPr>
              <a:t> LLM Routing for Math </a:t>
            </a:r>
            <a:r>
              <a:rPr lang="en-US" altLang="ko-KR" sz="1600" b="1" dirty="0">
                <a:latin typeface="+mj-lt"/>
              </a:rPr>
              <a:t>Problem</a:t>
            </a:r>
            <a:r>
              <a:rPr lang="en-US" altLang="ko-KR" sz="1600" b="1" dirty="0">
                <a:latin typeface="A"/>
              </a:rPr>
              <a:t> Solving</a:t>
            </a:r>
          </a:p>
          <a:p>
            <a:pPr lvl="0">
              <a:defRPr/>
            </a:pPr>
            <a:r>
              <a:rPr lang="ko-KR" altLang="en-US" dirty="0"/>
              <a:t>수학 문제 해결을 위한 비용 효율적인 </a:t>
            </a:r>
            <a:r>
              <a:rPr lang="en-US" altLang="ko-KR" dirty="0"/>
              <a:t>Router </a:t>
            </a:r>
            <a:r>
              <a:rPr lang="ko-KR" altLang="en-US" dirty="0"/>
              <a:t>모델 구축 및 최적화</a:t>
            </a:r>
            <a:endParaRPr lang="en-US" altLang="ko-KR" dirty="0"/>
          </a:p>
          <a:p>
            <a:pPr lvl="0">
              <a:defRPr/>
            </a:pPr>
            <a:endParaRPr lang="en-US" altLang="ko-KR" sz="1600" b="1" dirty="0">
              <a:latin typeface="나눔스퀘어"/>
            </a:endParaRPr>
          </a:p>
          <a:p>
            <a:pPr lvl="0">
              <a:defRPr/>
            </a:pPr>
            <a:r>
              <a:rPr lang="en-US" altLang="ko-KR" sz="1600" b="1" dirty="0"/>
              <a:t>Motivation </a:t>
            </a:r>
          </a:p>
          <a:p>
            <a:pPr marL="285750" lvl="0" indent="-285750">
              <a:buFont typeface="Wingdings" panose="05000000000000000000" pitchFamily="2" charset="2"/>
              <a:buChar char="§"/>
              <a:defRPr/>
            </a:pPr>
            <a:r>
              <a:rPr lang="ko-KR" altLang="en-US" b="1" dirty="0"/>
              <a:t>기존 연구의 한계</a:t>
            </a:r>
            <a:r>
              <a:rPr lang="en-US" altLang="ko-KR" b="1" dirty="0"/>
              <a:t>:</a:t>
            </a:r>
            <a:r>
              <a:rPr lang="ko-KR" altLang="en-US" dirty="0"/>
              <a:t> 기존 </a:t>
            </a:r>
            <a:r>
              <a:rPr lang="en-US" altLang="ko-KR" dirty="0"/>
              <a:t>Routing(Ex. </a:t>
            </a:r>
            <a:r>
              <a:rPr lang="en-US" altLang="ko-KR" dirty="0" err="1"/>
              <a:t>RouteLLM</a:t>
            </a:r>
            <a:r>
              <a:rPr lang="en-US" altLang="ko-KR" dirty="0"/>
              <a:t>)</a:t>
            </a:r>
            <a:r>
              <a:rPr lang="ko-KR" altLang="en-US" dirty="0"/>
              <a:t>은 주관적인 </a:t>
            </a:r>
            <a:r>
              <a:rPr lang="en-US" altLang="ko-KR" dirty="0"/>
              <a:t>Human Preference</a:t>
            </a:r>
            <a:r>
              <a:rPr lang="ko-KR" altLang="en-US" dirty="0"/>
              <a:t>에 의존함</a:t>
            </a:r>
            <a:endParaRPr lang="en-US" altLang="ko-KR" dirty="0"/>
          </a:p>
          <a:p>
            <a:pPr marL="285750" lvl="0" indent="-285750">
              <a:buFont typeface="Wingdings" panose="05000000000000000000" pitchFamily="2" charset="2"/>
              <a:buChar char="§"/>
              <a:defRPr/>
            </a:pPr>
            <a:r>
              <a:rPr lang="ko-KR" altLang="en-US" b="1" dirty="0"/>
              <a:t>우리의 접근</a:t>
            </a:r>
            <a:r>
              <a:rPr lang="en-US" altLang="ko-KR" b="1" dirty="0"/>
              <a:t>:</a:t>
            </a:r>
            <a:r>
              <a:rPr lang="ko-KR" altLang="en-US" dirty="0"/>
              <a:t> 수학 문제</a:t>
            </a:r>
            <a:r>
              <a:rPr lang="en-US" altLang="ko-KR" dirty="0"/>
              <a:t>(GSM8K)</a:t>
            </a:r>
            <a:r>
              <a:rPr lang="ko-KR" altLang="en-US" dirty="0"/>
              <a:t>처럼 객관적 검증</a:t>
            </a:r>
            <a:r>
              <a:rPr lang="en-US" altLang="ko-KR" dirty="0"/>
              <a:t>(Verification)</a:t>
            </a:r>
            <a:r>
              <a:rPr lang="ko-KR" altLang="en-US" dirty="0"/>
              <a:t>이 가능한 영역에서 </a:t>
            </a:r>
            <a:r>
              <a:rPr lang="en-US" altLang="ko-KR" dirty="0"/>
              <a:t>Router</a:t>
            </a:r>
            <a:r>
              <a:rPr lang="ko-KR" altLang="en-US" dirty="0"/>
              <a:t>를 구축해보고자 함</a:t>
            </a:r>
            <a:endParaRPr lang="en-US" altLang="ko-KR" dirty="0"/>
          </a:p>
          <a:p>
            <a:pPr marL="285750" lvl="0" indent="-285750">
              <a:buFontTx/>
              <a:buChar char="-"/>
              <a:defRPr/>
            </a:pPr>
            <a:endParaRPr lang="en-US" altLang="ko-KR" dirty="0"/>
          </a:p>
          <a:p>
            <a:pPr lvl="0">
              <a:defRPr/>
            </a:pPr>
            <a:r>
              <a:rPr lang="en-US" altLang="ko-KR" sz="1600" b="1" dirty="0"/>
              <a:t>Problem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altLang="ko-KR" b="1" dirty="0"/>
              <a:t>Small Model</a:t>
            </a:r>
            <a:r>
              <a:rPr lang="en-US" altLang="ko-KR" dirty="0"/>
              <a:t>: </a:t>
            </a:r>
            <a:r>
              <a:rPr lang="ko-KR" altLang="en-US" dirty="0"/>
              <a:t>저렴하지만 정확도 낮음 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40%)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altLang="ko-KR" b="1" dirty="0"/>
              <a:t>Big Model</a:t>
            </a:r>
            <a:r>
              <a:rPr lang="en-US" altLang="ko-KR" dirty="0"/>
              <a:t>: </a:t>
            </a:r>
            <a:r>
              <a:rPr lang="ko-KR" altLang="en-US" dirty="0"/>
              <a:t>정확하지만 비용이 높음 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98%)</a:t>
            </a:r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r>
              <a:rPr lang="en-US" altLang="ko-KR" sz="1600" b="1" dirty="0"/>
              <a:t>Goal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ko-KR" altLang="en-US" dirty="0"/>
              <a:t>비용을 줄이고</a:t>
            </a:r>
            <a:r>
              <a:rPr lang="en-US" altLang="ko-KR" dirty="0"/>
              <a:t>, </a:t>
            </a:r>
            <a:r>
              <a:rPr lang="ko-KR" altLang="en-US" dirty="0"/>
              <a:t>정확도는 유지하는 </a:t>
            </a:r>
            <a:br>
              <a:rPr lang="en-US" altLang="ko-KR" dirty="0"/>
            </a:br>
            <a:r>
              <a:rPr lang="ko-KR" altLang="en-US" dirty="0"/>
              <a:t>최적의 균형점 찾기</a:t>
            </a:r>
            <a:endParaRPr lang="en-US" altLang="ko-KR" dirty="0"/>
          </a:p>
          <a:p>
            <a:pPr marL="285750" lvl="0" indent="-285750">
              <a:buFontTx/>
              <a:buChar char="-"/>
              <a:defRPr/>
            </a:pPr>
            <a:endParaRPr lang="en-US" altLang="ko-KR" dirty="0">
              <a:latin typeface="나눔스퀘어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220B1BF-0BBF-6A4A-DDBE-D1DF4C321A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69" y="2432983"/>
            <a:ext cx="3203063" cy="23818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/>
          <p:cNvSpPr txBox="1"/>
          <p:nvPr/>
        </p:nvSpPr>
        <p:spPr>
          <a:xfrm>
            <a:off x="1408975" y="323204"/>
            <a:ext cx="4979400" cy="506004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Proposed</a:t>
            </a:r>
            <a:r>
              <a:rPr lang="ko-KR" altLang="en-US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 </a:t>
            </a:r>
            <a:r>
              <a:rPr lang="en-US" altLang="ko-KR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Solution</a:t>
            </a:r>
            <a:endParaRPr lang="ko-KR" altLang="en-US" sz="2000" b="1" dirty="0">
              <a:solidFill>
                <a:srgbClr val="19264B"/>
              </a:solidFill>
              <a:latin typeface="나눔스퀘어 ExtraBold"/>
              <a:ea typeface="나눔스퀘어 ExtraBold"/>
              <a:cs typeface="NanumGothic ExtraBold"/>
              <a:sym typeface="NanumGothic ExtraBold"/>
            </a:endParaRPr>
          </a:p>
        </p:txBody>
      </p:sp>
      <p:sp>
        <p:nvSpPr>
          <p:cNvPr id="11" name="Google Shape;67;p14"/>
          <p:cNvSpPr txBox="1"/>
          <p:nvPr/>
        </p:nvSpPr>
        <p:spPr>
          <a:xfrm>
            <a:off x="1960776" y="1189508"/>
            <a:ext cx="5923138" cy="487321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000" b="1">
              <a:latin typeface="나눔스퀘어"/>
              <a:ea typeface="나눔스퀘어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463970" y="1060848"/>
            <a:ext cx="6336124" cy="1343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dirty="0">
                <a:latin typeface="나눔스퀘어"/>
              </a:rPr>
              <a:t>문제의 난이도에 따라 모델을 동적으로 선택하는 </a:t>
            </a:r>
            <a:r>
              <a:rPr lang="en-US" altLang="ko-KR" b="1" dirty="0">
                <a:latin typeface="나눔스퀘어"/>
              </a:rPr>
              <a:t>Router</a:t>
            </a:r>
            <a:r>
              <a:rPr lang="en-US" altLang="ko-KR" dirty="0">
                <a:latin typeface="나눔스퀘어"/>
              </a:rPr>
              <a:t> </a:t>
            </a:r>
            <a:r>
              <a:rPr lang="ko-KR" altLang="en-US" dirty="0">
                <a:latin typeface="나눔스퀘어"/>
              </a:rPr>
              <a:t>도입</a:t>
            </a:r>
            <a:endParaRPr lang="en-US" altLang="ko-KR" dirty="0">
              <a:latin typeface="나눔스퀘어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ko-KR" dirty="0">
                <a:latin typeface="나눔스퀘어"/>
              </a:rPr>
              <a:t>Easy</a:t>
            </a:r>
            <a:r>
              <a:rPr lang="ko-KR" altLang="en-US" dirty="0">
                <a:latin typeface="나눔스퀘어"/>
              </a:rPr>
              <a:t> </a:t>
            </a:r>
            <a:r>
              <a:rPr lang="en-US" altLang="ko-KR" dirty="0">
                <a:latin typeface="나눔스퀘어"/>
              </a:rPr>
              <a:t>Question</a:t>
            </a:r>
            <a:r>
              <a:rPr lang="ko-KR" altLang="en-US" dirty="0">
                <a:latin typeface="나눔스퀘어"/>
              </a:rPr>
              <a:t> </a:t>
            </a:r>
            <a:r>
              <a:rPr lang="en-US" altLang="ko-KR" dirty="0">
                <a:latin typeface="나눔스퀘어"/>
              </a:rPr>
              <a:t>-&gt;</a:t>
            </a:r>
            <a:r>
              <a:rPr lang="ko-KR" altLang="en-US" dirty="0">
                <a:latin typeface="나눔스퀘어"/>
              </a:rPr>
              <a:t> </a:t>
            </a:r>
            <a:r>
              <a:rPr lang="en-US" altLang="ko-KR" dirty="0">
                <a:latin typeface="나눔스퀘어"/>
              </a:rPr>
              <a:t>Small Model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ko-KR" dirty="0">
                <a:latin typeface="나눔스퀘어"/>
              </a:rPr>
              <a:t>Hard Question -&gt; Big Model</a:t>
            </a:r>
          </a:p>
          <a:p>
            <a:pPr lvl="0">
              <a:lnSpc>
                <a:spcPct val="150000"/>
              </a:lnSpc>
              <a:defRPr/>
            </a:pPr>
            <a:endParaRPr lang="en-US" altLang="ko-KR" dirty="0">
              <a:latin typeface="나눔스퀘어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100A11B-D0BE-9B32-F648-8EDAF5D95A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76" t="1420" r="2801" b="11378"/>
          <a:stretch>
            <a:fillRect/>
          </a:stretch>
        </p:blipFill>
        <p:spPr>
          <a:xfrm>
            <a:off x="2019300" y="2066569"/>
            <a:ext cx="5607390" cy="29235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/>
          <p:cNvSpPr txBox="1"/>
          <p:nvPr/>
        </p:nvSpPr>
        <p:spPr>
          <a:xfrm>
            <a:off x="1408975" y="323204"/>
            <a:ext cx="4979400" cy="506004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Experimental Setup</a:t>
            </a:r>
            <a:endParaRPr lang="ko-KR" altLang="en-US" sz="2000" b="1" dirty="0">
              <a:solidFill>
                <a:srgbClr val="19264B"/>
              </a:solidFill>
              <a:latin typeface="나눔스퀘어 ExtraBold"/>
              <a:ea typeface="나눔스퀘어 ExtraBold"/>
              <a:cs typeface="NanumGothic ExtraBold"/>
              <a:sym typeface="NanumGothic ExtraBold"/>
            </a:endParaRPr>
          </a:p>
        </p:txBody>
      </p:sp>
      <p:sp>
        <p:nvSpPr>
          <p:cNvPr id="11" name="Google Shape;67;p14"/>
          <p:cNvSpPr txBox="1"/>
          <p:nvPr/>
        </p:nvSpPr>
        <p:spPr>
          <a:xfrm>
            <a:off x="2197605" y="1404329"/>
            <a:ext cx="5923138" cy="487321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000" b="1">
              <a:latin typeface="나눔스퀘어"/>
              <a:ea typeface="나눔스퀘어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39627" y="853424"/>
            <a:ext cx="7431498" cy="3283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b="1" dirty="0">
                <a:latin typeface="+mj-lt"/>
              </a:rPr>
              <a:t>Dataset : </a:t>
            </a:r>
            <a:r>
              <a:rPr lang="en-US" altLang="ko-KR" dirty="0">
                <a:latin typeface="+mj-lt"/>
              </a:rPr>
              <a:t>GSK8K (</a:t>
            </a:r>
            <a:r>
              <a:rPr lang="ko-KR" altLang="en-US" dirty="0">
                <a:latin typeface="+mj-lt"/>
              </a:rPr>
              <a:t>수학문제</a:t>
            </a:r>
            <a:r>
              <a:rPr lang="en-US" altLang="ko-KR" dirty="0">
                <a:latin typeface="+mj-lt"/>
              </a:rPr>
              <a:t>) </a:t>
            </a:r>
            <a:br>
              <a:rPr lang="en-US" altLang="ko-KR" dirty="0">
                <a:latin typeface="+mj-lt"/>
              </a:rPr>
            </a:br>
            <a:r>
              <a:rPr lang="en-US" altLang="ko-KR" dirty="0">
                <a:latin typeface="+mj-lt"/>
              </a:rPr>
              <a:t>&lt;</a:t>
            </a:r>
            <a:r>
              <a:rPr lang="ko-KR" altLang="en-US" dirty="0"/>
              <a:t>미국 초등학교 </a:t>
            </a:r>
            <a:r>
              <a:rPr lang="en-US" altLang="ko-KR" dirty="0"/>
              <a:t>~ </a:t>
            </a:r>
            <a:r>
              <a:rPr lang="ko-KR" altLang="en-US" dirty="0"/>
              <a:t>중학교 저학년 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7</a:t>
            </a:r>
            <a:r>
              <a:rPr lang="ko-KR" altLang="en-US" dirty="0"/>
              <a:t>세</a:t>
            </a:r>
            <a:r>
              <a:rPr lang="en-US" altLang="ko-KR" dirty="0"/>
              <a:t>~12</a:t>
            </a:r>
            <a:r>
              <a:rPr lang="ko-KR" altLang="en-US" dirty="0"/>
              <a:t>세</a:t>
            </a:r>
            <a:r>
              <a:rPr lang="en-US" altLang="ko-KR" dirty="0"/>
              <a:t>) </a:t>
            </a:r>
            <a:r>
              <a:rPr lang="ko-KR" altLang="en-US" dirty="0"/>
              <a:t>수준의 서술형 수학 문제</a:t>
            </a:r>
            <a:r>
              <a:rPr lang="en-US" altLang="ko-KR" dirty="0"/>
              <a:t>&gt;</a:t>
            </a:r>
            <a:endParaRPr lang="en-US" altLang="ko-KR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b="1" dirty="0">
                <a:latin typeface="+mj-lt"/>
              </a:rPr>
              <a:t>Small Model </a:t>
            </a:r>
            <a:r>
              <a:rPr lang="en-US" altLang="ko-KR" dirty="0">
                <a:latin typeface="+mj-lt"/>
              </a:rPr>
              <a:t>: Qwen2.5-Math 1.5B (Zero-shot)  &lt; Accuracy : 39.93%, Cost :0% &gt;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b="1" dirty="0">
                <a:latin typeface="+mj-lt"/>
              </a:rPr>
              <a:t>Big Model:</a:t>
            </a:r>
            <a:r>
              <a:rPr lang="en-US" altLang="ko-KR" dirty="0">
                <a:latin typeface="+mj-lt"/>
              </a:rPr>
              <a:t> Qwen2.5-Math 7B (</a:t>
            </a:r>
            <a:r>
              <a:rPr lang="en-US" altLang="ko-KR" dirty="0" err="1">
                <a:latin typeface="+mj-lt"/>
              </a:rPr>
              <a:t>CoT</a:t>
            </a:r>
            <a:r>
              <a:rPr lang="en-US" altLang="ko-KR" dirty="0">
                <a:latin typeface="+mj-lt"/>
              </a:rPr>
              <a:t> Prompting) </a:t>
            </a:r>
            <a:r>
              <a:rPr lang="en-US" altLang="ko-KR" dirty="0"/>
              <a:t>&lt; Accuracy : 98.44%, Cost :100% &gt;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b="1" dirty="0"/>
              <a:t>Oracle (</a:t>
            </a:r>
            <a:r>
              <a:rPr lang="ko-KR" altLang="en-US" b="1" dirty="0"/>
              <a:t>완벽히 이상적인 라우터 </a:t>
            </a:r>
            <a:r>
              <a:rPr lang="en-US" altLang="ko-KR" b="1" dirty="0"/>
              <a:t>) </a:t>
            </a:r>
            <a:r>
              <a:rPr lang="en-US" altLang="ko-KR" dirty="0"/>
              <a:t>: big x, small 0 </a:t>
            </a:r>
            <a:r>
              <a:rPr lang="ko-KR" altLang="en-US" dirty="0"/>
              <a:t>포함</a:t>
            </a:r>
            <a:r>
              <a:rPr lang="en-US" altLang="ko-KR" dirty="0"/>
              <a:t>  &lt; Accuracy : 100 %, Cost :60.07% &gt;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b="1" dirty="0">
                <a:latin typeface="+mj-lt"/>
              </a:rPr>
              <a:t>Model </a:t>
            </a:r>
            <a:r>
              <a:rPr lang="ko-KR" altLang="en-US" b="1" dirty="0">
                <a:latin typeface="+mj-lt"/>
              </a:rPr>
              <a:t>선정 이유</a:t>
            </a:r>
            <a:r>
              <a:rPr lang="en-US" altLang="ko-KR" b="1" dirty="0">
                <a:latin typeface="+mj-lt"/>
              </a:rPr>
              <a:t>:</a:t>
            </a:r>
            <a:r>
              <a:rPr lang="ko-KR" altLang="en-US" dirty="0">
                <a:latin typeface="+mj-lt"/>
              </a:rPr>
              <a:t> 가용 자원 내에서 난이도 차이를 명확히 하기 위해 </a:t>
            </a:r>
            <a:r>
              <a:rPr lang="en-US" altLang="ko-KR" dirty="0" err="1">
                <a:latin typeface="+mj-lt"/>
              </a:rPr>
              <a:t>CoT</a:t>
            </a:r>
            <a:r>
              <a:rPr lang="en-US" altLang="ko-KR" dirty="0">
                <a:latin typeface="+mj-lt"/>
              </a:rPr>
              <a:t> </a:t>
            </a:r>
            <a:r>
              <a:rPr lang="ko-KR" altLang="en-US" dirty="0">
                <a:latin typeface="+mj-lt"/>
              </a:rPr>
              <a:t>유무와 파라미터 크기로 성능 격차를 둠</a:t>
            </a:r>
            <a:endParaRPr lang="en-US" altLang="ko-KR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b="1" dirty="0">
                <a:latin typeface="+mj-lt"/>
              </a:rPr>
              <a:t>Data Filtering:</a:t>
            </a:r>
            <a:r>
              <a:rPr lang="ko-KR" altLang="en-US" dirty="0">
                <a:latin typeface="+mj-lt"/>
              </a:rPr>
              <a:t> 두 모델 다 틀리는 경우</a:t>
            </a:r>
            <a:r>
              <a:rPr lang="en-US" altLang="ko-KR" dirty="0">
                <a:latin typeface="+mj-lt"/>
              </a:rPr>
              <a:t>(Ambiguous)</a:t>
            </a:r>
            <a:r>
              <a:rPr lang="ko-KR" altLang="en-US" dirty="0">
                <a:latin typeface="+mj-lt"/>
              </a:rPr>
              <a:t>는 학습 노이즈 방지를 위해 제외 </a:t>
            </a:r>
            <a:r>
              <a:rPr lang="en-US" altLang="ko-KR" dirty="0">
                <a:latin typeface="+mj-lt"/>
              </a:rPr>
              <a:t>(Train 6%, Test 12% </a:t>
            </a:r>
            <a:r>
              <a:rPr lang="ko-KR" altLang="en-US" dirty="0">
                <a:latin typeface="+mj-lt"/>
              </a:rPr>
              <a:t>정도</a:t>
            </a:r>
            <a:r>
              <a:rPr lang="en-US" altLang="ko-KR" dirty="0">
                <a:latin typeface="+mj-lt"/>
              </a:rPr>
              <a:t>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D8994A9-255C-A7CA-246F-19FFF1A54D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998" b="30398"/>
          <a:stretch>
            <a:fillRect/>
          </a:stretch>
        </p:blipFill>
        <p:spPr>
          <a:xfrm>
            <a:off x="1539627" y="4161358"/>
            <a:ext cx="7610276" cy="852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265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AC84D-165F-C77A-59BB-B7F2079C9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33AC3573-B983-DBBA-6E93-6EFB667A9F13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FD50D880-E2C6-9BA3-5090-740C4F48BA61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308D38B8-DF90-8B2B-B92E-3CCC77507F29}"/>
              </a:ext>
            </a:extLst>
          </p:cNvPr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7FA1E692-D651-53BA-94C4-4690C7DA94F6}"/>
              </a:ext>
            </a:extLst>
          </p:cNvPr>
          <p:cNvSpPr txBox="1"/>
          <p:nvPr/>
        </p:nvSpPr>
        <p:spPr>
          <a:xfrm>
            <a:off x="1408975" y="323204"/>
            <a:ext cx="4979400" cy="506004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Methodology Overview (3step)</a:t>
            </a:r>
            <a:endParaRPr lang="ko-KR" altLang="en-US" sz="2000" b="1" dirty="0">
              <a:solidFill>
                <a:srgbClr val="19264B"/>
              </a:solidFill>
              <a:latin typeface="나눔스퀘어 ExtraBold"/>
              <a:ea typeface="나눔스퀘어 ExtraBold"/>
              <a:cs typeface="NanumGothic ExtraBold"/>
              <a:sym typeface="NanumGothic ExtraBold"/>
            </a:endParaRPr>
          </a:p>
        </p:txBody>
      </p:sp>
      <p:sp>
        <p:nvSpPr>
          <p:cNvPr id="11" name="Google Shape;67;p14">
            <a:extLst>
              <a:ext uri="{FF2B5EF4-FFF2-40B4-BE49-F238E27FC236}">
                <a16:creationId xmlns:a16="http://schemas.microsoft.com/office/drawing/2014/main" id="{798A9A87-C5C5-18B3-FEED-C9E1047518EA}"/>
              </a:ext>
            </a:extLst>
          </p:cNvPr>
          <p:cNvSpPr txBox="1"/>
          <p:nvPr/>
        </p:nvSpPr>
        <p:spPr>
          <a:xfrm>
            <a:off x="2197605" y="1404329"/>
            <a:ext cx="5923138" cy="487321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000" b="1">
              <a:latin typeface="나눔스퀘어"/>
              <a:ea typeface="나눔스퀘어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41EF0B-47D6-AA01-E656-D26396EFCE35}"/>
              </a:ext>
            </a:extLst>
          </p:cNvPr>
          <p:cNvSpPr txBox="1"/>
          <p:nvPr/>
        </p:nvSpPr>
        <p:spPr>
          <a:xfrm>
            <a:off x="1539627" y="853424"/>
            <a:ext cx="7431498" cy="39303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ko-KR" b="1" dirty="0">
                <a:latin typeface="+mj-lt"/>
              </a:rPr>
              <a:t>Step 1 (Data Gen) : </a:t>
            </a:r>
            <a:r>
              <a:rPr lang="en-US" altLang="ko-KR" dirty="0">
                <a:latin typeface="+mj-lt"/>
              </a:rPr>
              <a:t>Small/Big </a:t>
            </a:r>
            <a:r>
              <a:rPr lang="ko-KR" altLang="en-US" dirty="0">
                <a:latin typeface="+mj-lt"/>
              </a:rPr>
              <a:t>모델 </a:t>
            </a:r>
            <a:r>
              <a:rPr lang="en-US" altLang="ko-KR" dirty="0">
                <a:latin typeface="+mj-lt"/>
              </a:rPr>
              <a:t>Inference </a:t>
            </a:r>
            <a:r>
              <a:rPr lang="ko-KR" altLang="en-US" dirty="0">
                <a:latin typeface="+mj-lt"/>
              </a:rPr>
              <a:t>및 정답 </a:t>
            </a:r>
            <a:r>
              <a:rPr lang="ko-KR" altLang="en-US" dirty="0" err="1">
                <a:latin typeface="+mj-lt"/>
              </a:rPr>
              <a:t>라벨링</a:t>
            </a:r>
            <a:r>
              <a:rPr lang="en-US" altLang="ko-KR" dirty="0">
                <a:latin typeface="+mj-lt"/>
              </a:rPr>
              <a:t> ( 0: Small </a:t>
            </a:r>
            <a:r>
              <a:rPr lang="ko-KR" altLang="en-US" dirty="0">
                <a:latin typeface="+mj-lt"/>
              </a:rPr>
              <a:t>충분</a:t>
            </a:r>
            <a:r>
              <a:rPr lang="en-US" altLang="ko-KR" dirty="0">
                <a:latin typeface="+mj-lt"/>
              </a:rPr>
              <a:t>, 1: Big</a:t>
            </a:r>
            <a:r>
              <a:rPr lang="ko-KR" altLang="en-US" dirty="0">
                <a:latin typeface="+mj-lt"/>
              </a:rPr>
              <a:t> 필요</a:t>
            </a:r>
            <a:r>
              <a:rPr lang="en-US" altLang="ko-KR" dirty="0">
                <a:latin typeface="+mj-lt"/>
              </a:rPr>
              <a:t>)</a:t>
            </a:r>
          </a:p>
          <a:p>
            <a:pPr lvl="0">
              <a:lnSpc>
                <a:spcPct val="150000"/>
              </a:lnSpc>
              <a:defRPr/>
            </a:pPr>
            <a:endParaRPr lang="en-US" altLang="ko-KR" dirty="0">
              <a:latin typeface="+mj-lt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ko-KR" b="1" dirty="0">
                <a:latin typeface="+mj-lt"/>
              </a:rPr>
              <a:t>Step 2 (Training) : </a:t>
            </a:r>
            <a:r>
              <a:rPr lang="en-US" altLang="ko-KR" dirty="0">
                <a:latin typeface="+mj-lt"/>
              </a:rPr>
              <a:t>Router </a:t>
            </a:r>
            <a:r>
              <a:rPr lang="ko-KR" altLang="en-US" dirty="0">
                <a:latin typeface="+mj-lt"/>
              </a:rPr>
              <a:t>모델 </a:t>
            </a:r>
            <a:r>
              <a:rPr lang="en-US" altLang="ko-KR" dirty="0">
                <a:latin typeface="+mj-lt"/>
              </a:rPr>
              <a:t>(</a:t>
            </a:r>
            <a:r>
              <a:rPr lang="en-US" altLang="ko-KR" dirty="0" err="1">
                <a:latin typeface="+mj-lt"/>
              </a:rPr>
              <a:t>RoBERTa</a:t>
            </a:r>
            <a:r>
              <a:rPr lang="en-US" altLang="ko-KR" dirty="0">
                <a:latin typeface="+mj-lt"/>
              </a:rPr>
              <a:t>, ELECTRA) </a:t>
            </a:r>
            <a:r>
              <a:rPr lang="ko-KR" altLang="en-US" dirty="0">
                <a:latin typeface="+mj-lt"/>
              </a:rPr>
              <a:t>학습</a:t>
            </a:r>
            <a:endParaRPr lang="en-US" altLang="ko-KR" dirty="0">
              <a:latin typeface="+mj-lt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b="1" dirty="0">
              <a:latin typeface="+mj-lt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ko-KR" b="1" dirty="0">
                <a:latin typeface="+mj-lt"/>
              </a:rPr>
              <a:t>Step 3 (Evaluation) : </a:t>
            </a:r>
            <a:r>
              <a:rPr lang="en-US" altLang="ko-KR" dirty="0">
                <a:latin typeface="+mj-lt"/>
              </a:rPr>
              <a:t>Cascade Accuracy, Big Call Rate </a:t>
            </a:r>
            <a:r>
              <a:rPr lang="ko-KR" altLang="en-US" dirty="0">
                <a:latin typeface="+mj-lt"/>
              </a:rPr>
              <a:t>등 측정</a:t>
            </a:r>
            <a:endParaRPr lang="en-US" altLang="ko-KR" dirty="0">
              <a:latin typeface="+mj-lt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b="1" dirty="0">
              <a:latin typeface="+mj-lt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b="1" dirty="0">
              <a:latin typeface="+mj-lt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b="1" dirty="0">
              <a:latin typeface="+mj-lt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b="1" dirty="0">
              <a:latin typeface="+mj-lt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b="1" dirty="0">
              <a:latin typeface="+mj-lt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b="1" dirty="0">
              <a:latin typeface="+mj-lt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dirty="0">
              <a:latin typeface="+mj-lt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60B96E6-9D95-C7B5-AC9E-7321E2CBFD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52" t="24908" r="6672" b="20654"/>
          <a:stretch>
            <a:fillRect/>
          </a:stretch>
        </p:blipFill>
        <p:spPr>
          <a:xfrm>
            <a:off x="1198867" y="2571750"/>
            <a:ext cx="7772258" cy="2038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677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66215-7B2D-7DCA-AC57-4421E673C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E6AA6F9A-A171-8008-CE8B-56A1F7DBA246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A965A878-A021-FF43-7DD7-0F7AE963D963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814A2966-40F2-095F-0BC9-E8D69A2DA0F8}"/>
              </a:ext>
            </a:extLst>
          </p:cNvPr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E8E0D74E-AF2C-A26D-8012-2594D544791D}"/>
              </a:ext>
            </a:extLst>
          </p:cNvPr>
          <p:cNvSpPr txBox="1"/>
          <p:nvPr/>
        </p:nvSpPr>
        <p:spPr>
          <a:xfrm>
            <a:off x="1408975" y="323204"/>
            <a:ext cx="4979400" cy="506004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Router Training Strategy</a:t>
            </a:r>
            <a:endParaRPr lang="ko-KR" altLang="en-US" sz="2000" b="1" dirty="0">
              <a:solidFill>
                <a:srgbClr val="19264B"/>
              </a:solidFill>
              <a:latin typeface="나눔스퀘어 ExtraBold"/>
              <a:ea typeface="나눔스퀘어 ExtraBold"/>
              <a:cs typeface="NanumGothic ExtraBold"/>
              <a:sym typeface="NanumGothic ExtraBold"/>
            </a:endParaRPr>
          </a:p>
        </p:txBody>
      </p:sp>
      <p:sp>
        <p:nvSpPr>
          <p:cNvPr id="11" name="Google Shape;67;p14">
            <a:extLst>
              <a:ext uri="{FF2B5EF4-FFF2-40B4-BE49-F238E27FC236}">
                <a16:creationId xmlns:a16="http://schemas.microsoft.com/office/drawing/2014/main" id="{7C821DBC-DA19-BBFD-2D43-DC2E6B666482}"/>
              </a:ext>
            </a:extLst>
          </p:cNvPr>
          <p:cNvSpPr txBox="1"/>
          <p:nvPr/>
        </p:nvSpPr>
        <p:spPr>
          <a:xfrm>
            <a:off x="2197605" y="1404329"/>
            <a:ext cx="5923138" cy="487321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000" b="1">
              <a:latin typeface="나눔스퀘어"/>
              <a:ea typeface="나눔스퀘어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5C68AE-2278-60CD-FBD4-4472F83CB72F}"/>
              </a:ext>
            </a:extLst>
          </p:cNvPr>
          <p:cNvSpPr txBox="1"/>
          <p:nvPr/>
        </p:nvSpPr>
        <p:spPr>
          <a:xfrm>
            <a:off x="1539627" y="853424"/>
            <a:ext cx="2925693" cy="6192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ko-KR" b="1" dirty="0">
                <a:latin typeface="+mj-lt"/>
              </a:rPr>
              <a:t>Input Type </a:t>
            </a:r>
            <a:r>
              <a:rPr lang="ko-KR" altLang="en-US" b="1" dirty="0">
                <a:latin typeface="+mj-lt"/>
              </a:rPr>
              <a:t>비교</a:t>
            </a:r>
            <a:r>
              <a:rPr lang="en-US" altLang="ko-KR" b="1" dirty="0">
                <a:latin typeface="+mj-lt"/>
              </a:rPr>
              <a:t>: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b="1" dirty="0">
                <a:latin typeface="+mj-lt"/>
              </a:rPr>
              <a:t>Question – only: </a:t>
            </a:r>
            <a:r>
              <a:rPr lang="ko-KR" altLang="en-US" dirty="0">
                <a:latin typeface="+mj-lt"/>
              </a:rPr>
              <a:t>질문만 보고 판단</a:t>
            </a:r>
            <a:endParaRPr lang="en-US" altLang="ko-KR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b="1" dirty="0">
                <a:latin typeface="+mj-lt"/>
              </a:rPr>
              <a:t>Cascade: </a:t>
            </a:r>
            <a:r>
              <a:rPr lang="ko-KR" altLang="en-US" dirty="0">
                <a:latin typeface="+mj-lt"/>
              </a:rPr>
              <a:t>질문  </a:t>
            </a:r>
            <a:r>
              <a:rPr lang="en-US" altLang="ko-KR" dirty="0">
                <a:latin typeface="+mj-lt"/>
              </a:rPr>
              <a:t>+ Small Model</a:t>
            </a:r>
            <a:r>
              <a:rPr lang="ko-KR" altLang="en-US" dirty="0">
                <a:latin typeface="+mj-lt"/>
              </a:rPr>
              <a:t>의 답변을 보고 판단</a:t>
            </a:r>
            <a:endParaRPr lang="en-US" altLang="ko-KR" dirty="0">
              <a:latin typeface="+mj-lt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ko-KR" b="1" dirty="0">
                <a:latin typeface="+mj-lt"/>
              </a:rPr>
              <a:t>Label Definition: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dirty="0">
                <a:latin typeface="+mj-lt"/>
              </a:rPr>
              <a:t>Small</a:t>
            </a:r>
            <a:r>
              <a:rPr lang="ko-KR" altLang="en-US" dirty="0">
                <a:latin typeface="+mj-lt"/>
              </a:rPr>
              <a:t> 모델이 맞춤 </a:t>
            </a:r>
            <a:r>
              <a:rPr lang="en-US" altLang="ko-KR" dirty="0">
                <a:latin typeface="+mj-lt"/>
              </a:rPr>
              <a:t>-&gt; Label 0 (Big </a:t>
            </a:r>
            <a:r>
              <a:rPr lang="ko-KR" altLang="en-US" dirty="0">
                <a:latin typeface="+mj-lt"/>
              </a:rPr>
              <a:t>불필요</a:t>
            </a:r>
            <a:r>
              <a:rPr lang="en-US" altLang="ko-KR" dirty="0">
                <a:latin typeface="+mj-lt"/>
              </a:rPr>
              <a:t>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dirty="0">
                <a:latin typeface="+mj-lt"/>
              </a:rPr>
              <a:t>Small </a:t>
            </a:r>
            <a:r>
              <a:rPr lang="ko-KR" altLang="en-US" dirty="0">
                <a:latin typeface="+mj-lt"/>
              </a:rPr>
              <a:t>틀림 </a:t>
            </a:r>
            <a:r>
              <a:rPr lang="en-US" altLang="ko-KR" dirty="0">
                <a:latin typeface="+mj-lt"/>
              </a:rPr>
              <a:t>&amp; Big </a:t>
            </a:r>
            <a:r>
              <a:rPr lang="ko-KR" altLang="en-US" dirty="0">
                <a:latin typeface="+mj-lt"/>
              </a:rPr>
              <a:t>맞음 </a:t>
            </a:r>
            <a:r>
              <a:rPr lang="en-US" altLang="ko-KR" dirty="0">
                <a:latin typeface="+mj-lt"/>
              </a:rPr>
              <a:t>-&gt; Label 1 (Big </a:t>
            </a:r>
            <a:r>
              <a:rPr lang="ko-KR" altLang="en-US" dirty="0">
                <a:latin typeface="+mj-lt"/>
              </a:rPr>
              <a:t>필요</a:t>
            </a:r>
            <a:r>
              <a:rPr lang="en-US" altLang="ko-KR" dirty="0">
                <a:latin typeface="+mj-lt"/>
              </a:rPr>
              <a:t>)</a:t>
            </a:r>
          </a:p>
          <a:p>
            <a:pPr lvl="0">
              <a:lnSpc>
                <a:spcPct val="150000"/>
              </a:lnSpc>
              <a:defRPr/>
            </a:pPr>
            <a:endParaRPr lang="en-US" altLang="ko-KR" b="1" dirty="0">
              <a:latin typeface="+mj-lt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b="1" dirty="0">
              <a:latin typeface="+mj-lt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b="1" dirty="0">
              <a:latin typeface="+mj-lt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b="1" dirty="0">
              <a:latin typeface="+mj-lt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b="1" dirty="0">
              <a:latin typeface="+mj-lt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b="1" dirty="0">
              <a:latin typeface="+mj-lt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b="1" dirty="0">
              <a:latin typeface="+mj-lt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b="1" dirty="0">
              <a:latin typeface="+mj-lt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dirty="0">
              <a:latin typeface="+mj-lt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86D09D2-9D78-2098-31B6-7679DDBE19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63" r="8578" b="-466"/>
          <a:stretch>
            <a:fillRect/>
          </a:stretch>
        </p:blipFill>
        <p:spPr>
          <a:xfrm>
            <a:off x="4453566" y="1198605"/>
            <a:ext cx="4690434" cy="3091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228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97A24-9899-F54D-6EDD-4828CDC17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638A807C-9FEE-72A7-4B52-43A5F7F59F86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737522BE-5C16-383D-A5BA-815D8787BAFA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5EBA5606-0EAF-F704-C1BF-B27787DF6778}"/>
              </a:ext>
            </a:extLst>
          </p:cNvPr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12773F08-F450-330D-2823-CD401054481D}"/>
              </a:ext>
            </a:extLst>
          </p:cNvPr>
          <p:cNvSpPr txBox="1"/>
          <p:nvPr/>
        </p:nvSpPr>
        <p:spPr>
          <a:xfrm>
            <a:off x="1408974" y="323204"/>
            <a:ext cx="7064465" cy="859947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실험 결과 및 분석</a:t>
            </a:r>
            <a:r>
              <a:rPr lang="en-US" altLang="ko-KR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 (Baseline Results &amp; Insights)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sz="2000" b="1" dirty="0">
              <a:solidFill>
                <a:srgbClr val="19264B"/>
              </a:solidFill>
              <a:latin typeface="나눔스퀘어 ExtraBold"/>
              <a:ea typeface="나눔스퀘어 ExtraBold"/>
              <a:cs typeface="NanumGothic ExtraBold"/>
              <a:sym typeface="NanumGothic ExtraBold"/>
            </a:endParaRPr>
          </a:p>
        </p:txBody>
      </p:sp>
      <p:sp>
        <p:nvSpPr>
          <p:cNvPr id="11" name="Google Shape;67;p14">
            <a:extLst>
              <a:ext uri="{FF2B5EF4-FFF2-40B4-BE49-F238E27FC236}">
                <a16:creationId xmlns:a16="http://schemas.microsoft.com/office/drawing/2014/main" id="{7B91CB3B-8336-01D5-6F74-16750CD48FD8}"/>
              </a:ext>
            </a:extLst>
          </p:cNvPr>
          <p:cNvSpPr txBox="1"/>
          <p:nvPr/>
        </p:nvSpPr>
        <p:spPr>
          <a:xfrm>
            <a:off x="2197605" y="1404329"/>
            <a:ext cx="5923138" cy="487321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000" b="1">
              <a:latin typeface="나눔스퀘어"/>
              <a:ea typeface="나눔스퀘어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1AC17E-77AD-5232-5048-DA49BEE0D041}"/>
              </a:ext>
            </a:extLst>
          </p:cNvPr>
          <p:cNvSpPr txBox="1"/>
          <p:nvPr/>
        </p:nvSpPr>
        <p:spPr>
          <a:xfrm>
            <a:off x="1539627" y="853424"/>
            <a:ext cx="7431498" cy="4576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b="1" dirty="0">
                <a:latin typeface="+mj-lt"/>
              </a:rPr>
              <a:t>Cascade </a:t>
            </a:r>
            <a:r>
              <a:rPr lang="ko-KR" altLang="en-US" b="1" dirty="0">
                <a:latin typeface="+mj-lt"/>
              </a:rPr>
              <a:t>승리</a:t>
            </a:r>
            <a:r>
              <a:rPr lang="en-US" altLang="ko-KR" b="1" dirty="0">
                <a:latin typeface="+mj-lt"/>
              </a:rPr>
              <a:t>: </a:t>
            </a:r>
            <a:r>
              <a:rPr lang="en-US" altLang="ko-KR" dirty="0">
                <a:latin typeface="+mj-lt"/>
              </a:rPr>
              <a:t>Small Model</a:t>
            </a:r>
            <a:r>
              <a:rPr lang="ko-KR" altLang="en-US" dirty="0">
                <a:latin typeface="+mj-lt"/>
              </a:rPr>
              <a:t>의 답변을 참고하는 것이 정확도 </a:t>
            </a:r>
            <a:r>
              <a:rPr lang="ko-KR" altLang="en-US" b="1" dirty="0">
                <a:latin typeface="+mj-lt"/>
              </a:rPr>
              <a:t>약 </a:t>
            </a:r>
            <a:r>
              <a:rPr lang="en-US" altLang="ko-KR" b="1" dirty="0">
                <a:latin typeface="+mj-lt"/>
              </a:rPr>
              <a:t>5.1%p</a:t>
            </a:r>
            <a:r>
              <a:rPr lang="ko-KR" altLang="en-US" b="1" dirty="0">
                <a:latin typeface="+mj-lt"/>
              </a:rPr>
              <a:t> </a:t>
            </a:r>
            <a:r>
              <a:rPr lang="ko-KR" altLang="en-US" dirty="0">
                <a:latin typeface="+mj-lt"/>
              </a:rPr>
              <a:t>상승</a:t>
            </a:r>
            <a:endParaRPr lang="en-US" altLang="ko-KR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b="1" dirty="0">
                <a:latin typeface="+mj-lt"/>
              </a:rPr>
              <a:t>Model Size : ELECTRA(14m) </a:t>
            </a:r>
            <a:r>
              <a:rPr lang="ko-KR" altLang="en-US" dirty="0">
                <a:latin typeface="+mj-lt"/>
              </a:rPr>
              <a:t>가 </a:t>
            </a:r>
            <a:r>
              <a:rPr lang="en-US" altLang="ko-KR" b="1" dirty="0" err="1">
                <a:latin typeface="+mj-lt"/>
              </a:rPr>
              <a:t>RoBERa</a:t>
            </a:r>
            <a:r>
              <a:rPr lang="en-US" altLang="ko-KR" b="1" dirty="0">
                <a:latin typeface="+mj-lt"/>
              </a:rPr>
              <a:t>(125m) </a:t>
            </a:r>
            <a:r>
              <a:rPr lang="ko-KR" altLang="en-US" dirty="0">
                <a:latin typeface="+mj-lt"/>
              </a:rPr>
              <a:t>보다 가볍지만 성능이 우수한 경우 발생</a:t>
            </a:r>
            <a:r>
              <a:rPr lang="en-US" altLang="ko-KR" dirty="0">
                <a:latin typeface="+mj-lt"/>
              </a:rPr>
              <a:t>(</a:t>
            </a:r>
            <a:r>
              <a:rPr lang="ko-KR" altLang="en-US" dirty="0">
                <a:latin typeface="+mj-lt"/>
              </a:rPr>
              <a:t>효율성 입증</a:t>
            </a:r>
            <a:r>
              <a:rPr lang="en-US" altLang="ko-KR" dirty="0">
                <a:latin typeface="+mj-lt"/>
              </a:rPr>
              <a:t>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b="1" dirty="0">
                <a:latin typeface="+mj-lt"/>
              </a:rPr>
              <a:t>한계점 </a:t>
            </a:r>
            <a:r>
              <a:rPr lang="en-US" altLang="ko-KR" b="1" dirty="0">
                <a:latin typeface="+mj-lt"/>
              </a:rPr>
              <a:t>: </a:t>
            </a:r>
            <a:r>
              <a:rPr lang="en-US" altLang="ko-KR" dirty="0">
                <a:latin typeface="+mj-lt"/>
              </a:rPr>
              <a:t>Oracle (</a:t>
            </a:r>
            <a:r>
              <a:rPr lang="ko-KR" altLang="en-US" dirty="0">
                <a:latin typeface="+mj-lt"/>
              </a:rPr>
              <a:t>이상적 수치</a:t>
            </a:r>
            <a:r>
              <a:rPr lang="en-US" altLang="ko-KR" dirty="0">
                <a:latin typeface="+mj-lt"/>
              </a:rPr>
              <a:t>) </a:t>
            </a:r>
            <a:r>
              <a:rPr lang="ko-KR" altLang="en-US" dirty="0">
                <a:latin typeface="+mj-lt"/>
              </a:rPr>
              <a:t>대비 정확도 격차 </a:t>
            </a:r>
            <a:r>
              <a:rPr lang="en-US" altLang="ko-KR" dirty="0">
                <a:latin typeface="+mj-lt"/>
              </a:rPr>
              <a:t>(Gap)</a:t>
            </a:r>
            <a:r>
              <a:rPr lang="ko-KR" altLang="en-US" dirty="0">
                <a:latin typeface="+mj-lt"/>
              </a:rPr>
              <a:t>가 여전히 존재함 </a:t>
            </a:r>
            <a:r>
              <a:rPr lang="en-US" altLang="ko-KR" b="1" dirty="0">
                <a:latin typeface="+mj-lt"/>
              </a:rPr>
              <a:t>(</a:t>
            </a:r>
            <a:r>
              <a:rPr lang="ko-KR" altLang="en-US" b="1" dirty="0">
                <a:latin typeface="+mj-lt"/>
              </a:rPr>
              <a:t>약 </a:t>
            </a:r>
            <a:r>
              <a:rPr lang="en-US" altLang="ko-KR" b="1" dirty="0">
                <a:latin typeface="+mj-lt"/>
              </a:rPr>
              <a:t>13% ~ 16%)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b="1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b="1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b="1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b="1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b="1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b="1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b="1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b="1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b="1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dirty="0">
              <a:latin typeface="+mj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80C3594-7154-6AF6-6E62-B16B71E0EE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9615" y="2572145"/>
            <a:ext cx="7064465" cy="1717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743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CCAD4-8FD4-2B26-D424-8563BC1CB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662050ED-5046-D398-7907-6310A901A422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BA57F430-0FA1-8603-92CB-778DE9B16DC3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A5B46D57-81E1-D909-29E0-4F056972C5AC}"/>
              </a:ext>
            </a:extLst>
          </p:cNvPr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98AE3362-F413-CFA4-4095-74DAADDFD6F7}"/>
              </a:ext>
            </a:extLst>
          </p:cNvPr>
          <p:cNvSpPr txBox="1"/>
          <p:nvPr/>
        </p:nvSpPr>
        <p:spPr>
          <a:xfrm>
            <a:off x="1408974" y="323204"/>
            <a:ext cx="7064465" cy="859947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Problem Identification &amp; Improvement Strategy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sz="2000" b="1" dirty="0">
              <a:solidFill>
                <a:srgbClr val="19264B"/>
              </a:solidFill>
              <a:latin typeface="나눔스퀘어 ExtraBold"/>
              <a:ea typeface="나눔스퀘어 ExtraBold"/>
              <a:cs typeface="NanumGothic ExtraBold"/>
              <a:sym typeface="NanumGothic ExtraBold"/>
            </a:endParaRPr>
          </a:p>
        </p:txBody>
      </p:sp>
      <p:sp>
        <p:nvSpPr>
          <p:cNvPr id="11" name="Google Shape;67;p14">
            <a:extLst>
              <a:ext uri="{FF2B5EF4-FFF2-40B4-BE49-F238E27FC236}">
                <a16:creationId xmlns:a16="http://schemas.microsoft.com/office/drawing/2014/main" id="{8D5FAF7E-D008-F8E8-AC51-A5650F541FAB}"/>
              </a:ext>
            </a:extLst>
          </p:cNvPr>
          <p:cNvSpPr txBox="1"/>
          <p:nvPr/>
        </p:nvSpPr>
        <p:spPr>
          <a:xfrm>
            <a:off x="2197605" y="1404329"/>
            <a:ext cx="5923138" cy="487321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000" b="1">
              <a:latin typeface="나눔스퀘어"/>
              <a:ea typeface="나눔스퀘어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9B6995-E1A6-3D1A-8B78-B390926CD3FD}"/>
              </a:ext>
            </a:extLst>
          </p:cNvPr>
          <p:cNvSpPr txBox="1"/>
          <p:nvPr/>
        </p:nvSpPr>
        <p:spPr>
          <a:xfrm>
            <a:off x="1539627" y="853424"/>
            <a:ext cx="7431498" cy="58693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b="1" dirty="0">
                <a:latin typeface="+mj-lt"/>
              </a:rPr>
              <a:t>문제점 </a:t>
            </a:r>
            <a:r>
              <a:rPr lang="en-US" altLang="ko-KR" b="1" dirty="0">
                <a:latin typeface="+mj-lt"/>
              </a:rPr>
              <a:t>: </a:t>
            </a:r>
            <a:r>
              <a:rPr lang="en-US" altLang="ko-KR" dirty="0">
                <a:latin typeface="+mj-lt"/>
              </a:rPr>
              <a:t>Baseline Router</a:t>
            </a:r>
            <a:r>
              <a:rPr lang="ko-KR" altLang="en-US" dirty="0">
                <a:latin typeface="+mj-lt"/>
              </a:rPr>
              <a:t>가 </a:t>
            </a:r>
            <a:r>
              <a:rPr lang="en-US" altLang="ko-KR" dirty="0">
                <a:latin typeface="+mj-lt"/>
              </a:rPr>
              <a:t>Big Model</a:t>
            </a:r>
            <a:r>
              <a:rPr lang="ko-KR" altLang="en-US" dirty="0">
                <a:latin typeface="+mj-lt"/>
              </a:rPr>
              <a:t>이 필요한 </a:t>
            </a:r>
            <a:r>
              <a:rPr lang="ko-KR" altLang="en-US" dirty="0" err="1">
                <a:latin typeface="+mj-lt"/>
              </a:rPr>
              <a:t>문제인데도</a:t>
            </a:r>
            <a:r>
              <a:rPr lang="ko-KR" altLang="en-US" dirty="0">
                <a:latin typeface="+mj-lt"/>
              </a:rPr>
              <a:t> </a:t>
            </a:r>
            <a:r>
              <a:rPr lang="en-US" altLang="ko-KR" dirty="0">
                <a:latin typeface="+mj-lt"/>
              </a:rPr>
              <a:t>Small </a:t>
            </a:r>
            <a:r>
              <a:rPr lang="ko-KR" altLang="en-US" dirty="0">
                <a:latin typeface="+mj-lt"/>
              </a:rPr>
              <a:t>로 보내는 경우</a:t>
            </a:r>
            <a:r>
              <a:rPr lang="en-US" altLang="ko-KR" dirty="0">
                <a:latin typeface="+mj-lt"/>
              </a:rPr>
              <a:t> </a:t>
            </a:r>
            <a:br>
              <a:rPr lang="en-US" altLang="ko-KR" dirty="0">
                <a:latin typeface="+mj-lt"/>
              </a:rPr>
            </a:br>
            <a:r>
              <a:rPr lang="en-US" altLang="ko-KR" dirty="0">
                <a:latin typeface="+mj-lt"/>
              </a:rPr>
              <a:t>(False Negative)</a:t>
            </a:r>
            <a:r>
              <a:rPr lang="ko-KR" altLang="en-US" dirty="0">
                <a:latin typeface="+mj-lt"/>
              </a:rPr>
              <a:t>가 많음 </a:t>
            </a:r>
            <a:r>
              <a:rPr lang="en-US" altLang="ko-KR" dirty="0">
                <a:latin typeface="+mj-lt"/>
              </a:rPr>
              <a:t>-&gt; </a:t>
            </a:r>
            <a:r>
              <a:rPr lang="ko-KR" altLang="en-US" dirty="0">
                <a:latin typeface="+mj-lt"/>
              </a:rPr>
              <a:t>정확도 하락의 주원인</a:t>
            </a:r>
            <a:endParaRPr lang="en-US" altLang="ko-KR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b="1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b="1" dirty="0">
                <a:latin typeface="+mj-lt"/>
              </a:rPr>
              <a:t>전략 </a:t>
            </a:r>
            <a:r>
              <a:rPr lang="en-US" altLang="ko-KR" b="1" dirty="0">
                <a:latin typeface="+mj-lt"/>
              </a:rPr>
              <a:t>1 : Weighted Loss </a:t>
            </a:r>
            <a:br>
              <a:rPr lang="en-US" altLang="ko-KR" dirty="0">
                <a:latin typeface="+mj-lt"/>
              </a:rPr>
            </a:br>
            <a:r>
              <a:rPr lang="en-US" altLang="ko-KR" dirty="0">
                <a:latin typeface="+mj-lt"/>
              </a:rPr>
              <a:t>	</a:t>
            </a:r>
            <a:r>
              <a:rPr lang="ko-KR" altLang="en-US" dirty="0">
                <a:latin typeface="+mj-lt"/>
              </a:rPr>
              <a:t>틀렸을 때의 리스크 최소화를 위해 </a:t>
            </a:r>
            <a:r>
              <a:rPr lang="en-US" altLang="ko-KR" dirty="0">
                <a:latin typeface="+mj-lt"/>
              </a:rPr>
              <a:t>False Negative</a:t>
            </a:r>
            <a:r>
              <a:rPr lang="ko-KR" altLang="en-US" dirty="0">
                <a:latin typeface="+mj-lt"/>
              </a:rPr>
              <a:t>에 </a:t>
            </a:r>
            <a:r>
              <a:rPr lang="en-US" altLang="ko-KR" dirty="0">
                <a:latin typeface="+mj-lt"/>
              </a:rPr>
              <a:t>3</a:t>
            </a:r>
            <a:r>
              <a:rPr lang="ko-KR" altLang="en-US" dirty="0">
                <a:latin typeface="+mj-lt"/>
              </a:rPr>
              <a:t>배 </a:t>
            </a:r>
            <a:r>
              <a:rPr lang="ko-KR" altLang="en-US" dirty="0" err="1">
                <a:latin typeface="+mj-lt"/>
              </a:rPr>
              <a:t>패널티</a:t>
            </a:r>
            <a:r>
              <a:rPr lang="ko-KR" altLang="en-US" dirty="0">
                <a:latin typeface="+mj-lt"/>
              </a:rPr>
              <a:t> 부여</a:t>
            </a:r>
            <a:endParaRPr lang="en-US" altLang="ko-KR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b="1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b="1" dirty="0">
                <a:latin typeface="+mj-lt"/>
              </a:rPr>
              <a:t>전락 </a:t>
            </a:r>
            <a:r>
              <a:rPr lang="en-US" altLang="ko-KR" b="1" dirty="0">
                <a:latin typeface="+mj-lt"/>
              </a:rPr>
              <a:t>2 : Threshold Tuning</a:t>
            </a:r>
          </a:p>
          <a:p>
            <a:pPr lvl="2">
              <a:lnSpc>
                <a:spcPct val="150000"/>
              </a:lnSpc>
              <a:defRPr/>
            </a:pPr>
            <a:r>
              <a:rPr lang="en-US" altLang="ko-KR" dirty="0">
                <a:latin typeface="+mj-lt"/>
              </a:rPr>
              <a:t>                   </a:t>
            </a:r>
            <a:r>
              <a:rPr lang="ko-KR" altLang="en-US" dirty="0">
                <a:latin typeface="+mj-lt"/>
              </a:rPr>
              <a:t>기본 </a:t>
            </a:r>
            <a:r>
              <a:rPr lang="en-US" altLang="ko-KR" dirty="0">
                <a:latin typeface="+mj-lt"/>
              </a:rPr>
              <a:t>0.5</a:t>
            </a:r>
            <a:r>
              <a:rPr lang="ko-KR" altLang="en-US" dirty="0">
                <a:latin typeface="+mj-lt"/>
              </a:rPr>
              <a:t>에서 </a:t>
            </a:r>
            <a:r>
              <a:rPr lang="en-US" altLang="ko-KR" dirty="0">
                <a:latin typeface="+mj-lt"/>
              </a:rPr>
              <a:t>0.1 ~ 0.5 </a:t>
            </a:r>
            <a:r>
              <a:rPr lang="ko-KR" altLang="en-US" dirty="0">
                <a:latin typeface="+mj-lt"/>
              </a:rPr>
              <a:t>범위로 낮춰가면 더 보수적</a:t>
            </a:r>
            <a:r>
              <a:rPr lang="en-US" altLang="ko-KR" dirty="0">
                <a:latin typeface="+mj-lt"/>
              </a:rPr>
              <a:t>( Big Model </a:t>
            </a:r>
            <a:r>
              <a:rPr lang="ko-KR" altLang="en-US" dirty="0">
                <a:latin typeface="+mj-lt"/>
              </a:rPr>
              <a:t>선호</a:t>
            </a:r>
            <a:r>
              <a:rPr lang="en-US" altLang="ko-KR" dirty="0">
                <a:latin typeface="+mj-lt"/>
              </a:rPr>
              <a:t>) </a:t>
            </a:r>
            <a:r>
              <a:rPr lang="ko-KR" altLang="en-US" dirty="0">
                <a:latin typeface="+mj-lt"/>
              </a:rPr>
              <a:t>으로 </a:t>
            </a:r>
            <a:r>
              <a:rPr lang="en-US" altLang="ko-KR" dirty="0">
                <a:latin typeface="+mj-lt"/>
              </a:rPr>
              <a:t>	</a:t>
            </a:r>
            <a:r>
              <a:rPr lang="ko-KR" altLang="en-US" dirty="0">
                <a:latin typeface="+mj-lt"/>
              </a:rPr>
              <a:t>판단하도록 조정</a:t>
            </a:r>
            <a:endParaRPr lang="en-US" altLang="ko-KR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b="1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b="1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b="1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b="1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b="1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b="1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b="1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b="1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43041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41889-4D56-235F-0009-1D41FEB86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5AE3D005-4C6F-1148-DB52-51CB9EA1766B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D8816CBA-6903-2DBE-3F2E-CE6117AFBCBF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474D0A76-B7FB-C942-EBA6-EF07D70209CE}"/>
              </a:ext>
            </a:extLst>
          </p:cNvPr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056ECC50-0023-CAF5-CDAC-2438E1C6572A}"/>
              </a:ext>
            </a:extLst>
          </p:cNvPr>
          <p:cNvSpPr txBox="1"/>
          <p:nvPr/>
        </p:nvSpPr>
        <p:spPr>
          <a:xfrm>
            <a:off x="1408974" y="323204"/>
            <a:ext cx="7064465" cy="506004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Optimization Results </a:t>
            </a:r>
            <a:endParaRPr lang="ko-KR" altLang="en-US" sz="2000" b="1" dirty="0">
              <a:solidFill>
                <a:srgbClr val="19264B"/>
              </a:solidFill>
              <a:latin typeface="나눔스퀘어 ExtraBold"/>
              <a:ea typeface="나눔스퀘어 ExtraBold"/>
              <a:cs typeface="NanumGothic ExtraBold"/>
              <a:sym typeface="NanumGothic ExtraBold"/>
            </a:endParaRPr>
          </a:p>
        </p:txBody>
      </p:sp>
      <p:sp>
        <p:nvSpPr>
          <p:cNvPr id="11" name="Google Shape;67;p14">
            <a:extLst>
              <a:ext uri="{FF2B5EF4-FFF2-40B4-BE49-F238E27FC236}">
                <a16:creationId xmlns:a16="http://schemas.microsoft.com/office/drawing/2014/main" id="{C10EDA68-092C-03D4-46B7-FFDC769701FD}"/>
              </a:ext>
            </a:extLst>
          </p:cNvPr>
          <p:cNvSpPr txBox="1"/>
          <p:nvPr/>
        </p:nvSpPr>
        <p:spPr>
          <a:xfrm>
            <a:off x="2197605" y="1404329"/>
            <a:ext cx="5923138" cy="487321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000" b="1">
              <a:latin typeface="나눔스퀘어"/>
              <a:ea typeface="나눔스퀘어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091246-6C7C-EF37-8A99-9C42AB70BEAE}"/>
              </a:ext>
            </a:extLst>
          </p:cNvPr>
          <p:cNvSpPr txBox="1"/>
          <p:nvPr/>
        </p:nvSpPr>
        <p:spPr>
          <a:xfrm>
            <a:off x="1539627" y="853424"/>
            <a:ext cx="7431498" cy="4899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dirty="0">
                <a:latin typeface="+mj-lt"/>
              </a:rPr>
              <a:t>Weighted Loss  -&gt; </a:t>
            </a:r>
            <a:r>
              <a:rPr lang="ko-KR" altLang="en-US" dirty="0">
                <a:latin typeface="+mj-lt"/>
              </a:rPr>
              <a:t>같은 </a:t>
            </a:r>
            <a:r>
              <a:rPr lang="en-US" altLang="ko-KR" dirty="0">
                <a:latin typeface="+mj-lt"/>
              </a:rPr>
              <a:t>Threshold = 0.5 </a:t>
            </a:r>
            <a:r>
              <a:rPr lang="ko-KR" altLang="en-US" dirty="0">
                <a:latin typeface="+mj-lt"/>
              </a:rPr>
              <a:t>기준 </a:t>
            </a:r>
            <a:r>
              <a:rPr lang="en-US" altLang="ko-KR" dirty="0">
                <a:latin typeface="+mj-lt"/>
              </a:rPr>
              <a:t>FN</a:t>
            </a:r>
            <a:r>
              <a:rPr lang="ko-KR" altLang="en-US" dirty="0">
                <a:latin typeface="+mj-lt"/>
              </a:rPr>
              <a:t>에 </a:t>
            </a:r>
            <a:r>
              <a:rPr lang="en-US" altLang="ko-KR" dirty="0">
                <a:latin typeface="+mj-lt"/>
              </a:rPr>
              <a:t>3</a:t>
            </a:r>
            <a:r>
              <a:rPr lang="ko-KR" altLang="en-US" dirty="0">
                <a:latin typeface="+mj-lt"/>
              </a:rPr>
              <a:t>배 </a:t>
            </a:r>
            <a:r>
              <a:rPr lang="ko-KR" altLang="en-US" dirty="0" err="1">
                <a:latin typeface="+mj-lt"/>
              </a:rPr>
              <a:t>패널티</a:t>
            </a:r>
            <a:r>
              <a:rPr lang="ko-KR" altLang="en-US" dirty="0">
                <a:latin typeface="+mj-lt"/>
              </a:rPr>
              <a:t> 부여시 정확도 크게 증가</a:t>
            </a:r>
            <a:endParaRPr lang="en-US" altLang="ko-KR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dirty="0">
                <a:latin typeface="+mj-lt"/>
              </a:rPr>
              <a:t>결과 </a:t>
            </a:r>
            <a:r>
              <a:rPr lang="en-US" altLang="ko-KR" dirty="0">
                <a:latin typeface="+mj-lt"/>
              </a:rPr>
              <a:t>FN</a:t>
            </a:r>
            <a:r>
              <a:rPr lang="ko-KR" altLang="en-US" dirty="0">
                <a:latin typeface="+mj-lt"/>
              </a:rPr>
              <a:t>이 </a:t>
            </a:r>
            <a:r>
              <a:rPr lang="en-US" altLang="ko-KR" b="1" dirty="0">
                <a:latin typeface="+mj-lt"/>
              </a:rPr>
              <a:t>189</a:t>
            </a:r>
            <a:r>
              <a:rPr lang="ko-KR" altLang="en-US" b="1" dirty="0">
                <a:latin typeface="+mj-lt"/>
              </a:rPr>
              <a:t>개 </a:t>
            </a:r>
            <a:r>
              <a:rPr lang="en-US" altLang="ko-KR" b="1" dirty="0">
                <a:latin typeface="+mj-lt"/>
              </a:rPr>
              <a:t>-&gt; 88</a:t>
            </a:r>
            <a:r>
              <a:rPr lang="ko-KR" altLang="en-US" b="1" dirty="0">
                <a:latin typeface="+mj-lt"/>
              </a:rPr>
              <a:t>개 </a:t>
            </a:r>
            <a:r>
              <a:rPr lang="en-US" altLang="ko-KR" b="1" dirty="0">
                <a:latin typeface="+mj-lt"/>
              </a:rPr>
              <a:t>(53 %</a:t>
            </a:r>
            <a:r>
              <a:rPr lang="ko-KR" altLang="en-US" b="1" dirty="0">
                <a:latin typeface="+mj-lt"/>
              </a:rPr>
              <a:t>감소</a:t>
            </a:r>
            <a:r>
              <a:rPr lang="en-US" altLang="ko-KR" b="1" dirty="0">
                <a:latin typeface="+mj-lt"/>
              </a:rPr>
              <a:t>), </a:t>
            </a:r>
            <a:r>
              <a:rPr lang="ko-KR" altLang="en-US" dirty="0">
                <a:latin typeface="+mj-lt"/>
              </a:rPr>
              <a:t>정확도 </a:t>
            </a:r>
            <a:r>
              <a:rPr lang="en-US" altLang="ko-KR" dirty="0">
                <a:latin typeface="+mj-lt"/>
              </a:rPr>
              <a:t>: </a:t>
            </a:r>
            <a:r>
              <a:rPr lang="en-US" altLang="ko-KR" b="1" dirty="0">
                <a:latin typeface="+mj-lt"/>
              </a:rPr>
              <a:t>83.06 % -&gt; 91.44 %(+8.38%p)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dirty="0">
                <a:latin typeface="+mj-lt"/>
              </a:rPr>
              <a:t>Threshold Tradeoff -&gt; </a:t>
            </a:r>
            <a:r>
              <a:rPr lang="ko-KR" altLang="en-US" dirty="0">
                <a:latin typeface="+mj-lt"/>
              </a:rPr>
              <a:t>기준</a:t>
            </a:r>
            <a:r>
              <a:rPr lang="en-US" altLang="ko-KR" dirty="0">
                <a:latin typeface="+mj-lt"/>
              </a:rPr>
              <a:t> </a:t>
            </a:r>
            <a:r>
              <a:rPr lang="ko-KR" altLang="en-US" dirty="0">
                <a:latin typeface="+mj-lt"/>
              </a:rPr>
              <a:t>낮출수록 </a:t>
            </a:r>
            <a:r>
              <a:rPr lang="en-US" altLang="ko-KR" dirty="0">
                <a:latin typeface="+mj-lt"/>
              </a:rPr>
              <a:t>Big </a:t>
            </a:r>
            <a:r>
              <a:rPr lang="ko-KR" altLang="en-US" dirty="0">
                <a:latin typeface="+mj-lt"/>
              </a:rPr>
              <a:t>호출은 늘지만</a:t>
            </a:r>
            <a:r>
              <a:rPr lang="en-US" altLang="ko-KR" dirty="0">
                <a:latin typeface="+mj-lt"/>
              </a:rPr>
              <a:t>, Accuracy </a:t>
            </a:r>
            <a:r>
              <a:rPr lang="ko-KR" altLang="en-US" dirty="0">
                <a:latin typeface="+mj-lt"/>
              </a:rPr>
              <a:t>와 </a:t>
            </a:r>
            <a:r>
              <a:rPr lang="en-US" altLang="ko-KR" dirty="0">
                <a:latin typeface="+mj-lt"/>
              </a:rPr>
              <a:t>Recall</a:t>
            </a:r>
            <a:r>
              <a:rPr lang="ko-KR" altLang="en-US" dirty="0">
                <a:latin typeface="+mj-lt"/>
              </a:rPr>
              <a:t>이 대폭 상승</a:t>
            </a:r>
            <a:br>
              <a:rPr lang="en-US" altLang="ko-KR" dirty="0">
                <a:latin typeface="+mj-lt"/>
              </a:rPr>
            </a:br>
            <a:r>
              <a:rPr lang="en-US" altLang="ko-KR" b="1" dirty="0">
                <a:latin typeface="+mj-lt"/>
              </a:rPr>
              <a:t>Best Spot : Threshold 0.3  =&gt; </a:t>
            </a:r>
            <a:r>
              <a:rPr lang="ko-KR" altLang="en-US" b="1" dirty="0">
                <a:latin typeface="+mj-lt"/>
              </a:rPr>
              <a:t>정확도 </a:t>
            </a:r>
            <a:r>
              <a:rPr lang="en-US" altLang="ko-KR" b="1" dirty="0">
                <a:latin typeface="+mj-lt"/>
              </a:rPr>
              <a:t>95.25 %</a:t>
            </a:r>
            <a:br>
              <a:rPr lang="en-US" altLang="ko-KR" b="1" dirty="0">
                <a:latin typeface="+mj-lt"/>
              </a:rPr>
            </a:br>
            <a:r>
              <a:rPr lang="ko-KR" altLang="en-US" b="1" dirty="0">
                <a:latin typeface="+mj-lt"/>
              </a:rPr>
              <a:t>비용절감 </a:t>
            </a:r>
            <a:r>
              <a:rPr lang="en-US" altLang="ko-KR" b="1" dirty="0">
                <a:latin typeface="+mj-lt"/>
              </a:rPr>
              <a:t>: Always</a:t>
            </a:r>
            <a:r>
              <a:rPr lang="ko-KR" altLang="en-US" b="1" dirty="0">
                <a:latin typeface="+mj-lt"/>
              </a:rPr>
              <a:t> </a:t>
            </a:r>
            <a:r>
              <a:rPr lang="en-US" altLang="ko-KR" b="1" dirty="0">
                <a:latin typeface="+mj-lt"/>
              </a:rPr>
              <a:t>Big</a:t>
            </a:r>
            <a:r>
              <a:rPr lang="ko-KR" altLang="en-US" b="1" dirty="0">
                <a:latin typeface="+mj-lt"/>
              </a:rPr>
              <a:t> 대비 약 </a:t>
            </a:r>
            <a:r>
              <a:rPr lang="en-US" altLang="ko-KR" b="1" dirty="0">
                <a:latin typeface="+mj-lt"/>
              </a:rPr>
              <a:t>20% </a:t>
            </a:r>
            <a:r>
              <a:rPr lang="ko-KR" altLang="en-US" b="1" dirty="0">
                <a:latin typeface="+mj-lt"/>
              </a:rPr>
              <a:t>절감</a:t>
            </a:r>
            <a:endParaRPr lang="en-US" altLang="ko-KR" b="1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b="1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b="1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b="1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b="1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b="1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b="1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b="1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b="1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b="1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dirty="0">
              <a:latin typeface="+mj-lt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2E5265F-5BFD-5A74-B553-415BE5C70D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6647" y="2802325"/>
            <a:ext cx="6473917" cy="234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3735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30532-B8C5-CD19-9893-12C9B37A7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9D3E94BF-5E12-E569-0A2E-98A5DACD7AF2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C0062D21-A0B1-0BDA-6391-9DAEFCEEAAFC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BC536058-4919-96B3-7F55-62348E1E1ED6}"/>
              </a:ext>
            </a:extLst>
          </p:cNvPr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5A4A5BBA-DACC-99B2-F7F0-B90C1C6EA4AE}"/>
              </a:ext>
            </a:extLst>
          </p:cNvPr>
          <p:cNvSpPr txBox="1"/>
          <p:nvPr/>
        </p:nvSpPr>
        <p:spPr>
          <a:xfrm>
            <a:off x="1408974" y="323204"/>
            <a:ext cx="7064465" cy="506004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Optimization Results </a:t>
            </a:r>
            <a:endParaRPr lang="ko-KR" altLang="en-US" sz="2000" b="1" dirty="0">
              <a:solidFill>
                <a:srgbClr val="19264B"/>
              </a:solidFill>
              <a:latin typeface="나눔스퀘어 ExtraBold"/>
              <a:ea typeface="나눔스퀘어 ExtraBold"/>
              <a:cs typeface="NanumGothic ExtraBold"/>
              <a:sym typeface="NanumGothic ExtraBold"/>
            </a:endParaRPr>
          </a:p>
        </p:txBody>
      </p:sp>
      <p:sp>
        <p:nvSpPr>
          <p:cNvPr id="11" name="Google Shape;67;p14">
            <a:extLst>
              <a:ext uri="{FF2B5EF4-FFF2-40B4-BE49-F238E27FC236}">
                <a16:creationId xmlns:a16="http://schemas.microsoft.com/office/drawing/2014/main" id="{B4E25224-AE7A-733F-613C-E8B975455FD6}"/>
              </a:ext>
            </a:extLst>
          </p:cNvPr>
          <p:cNvSpPr txBox="1"/>
          <p:nvPr/>
        </p:nvSpPr>
        <p:spPr>
          <a:xfrm>
            <a:off x="2197605" y="1404329"/>
            <a:ext cx="5923138" cy="487321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000" b="1">
              <a:latin typeface="나눔스퀘어"/>
              <a:ea typeface="나눔스퀘어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8127BA-2EE9-CD7F-6DCA-B2E888F445EA}"/>
              </a:ext>
            </a:extLst>
          </p:cNvPr>
          <p:cNvSpPr txBox="1"/>
          <p:nvPr/>
        </p:nvSpPr>
        <p:spPr>
          <a:xfrm>
            <a:off x="1539627" y="853424"/>
            <a:ext cx="7431498" cy="52230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b="1" dirty="0">
                <a:latin typeface="+mj-lt"/>
              </a:rPr>
              <a:t>Cascading is better</a:t>
            </a:r>
            <a:br>
              <a:rPr lang="en-US" altLang="ko-KR" b="1" dirty="0">
                <a:latin typeface="+mj-lt"/>
              </a:rPr>
            </a:br>
            <a:r>
              <a:rPr lang="en-US" altLang="ko-KR" b="1" dirty="0">
                <a:latin typeface="+mj-lt"/>
              </a:rPr>
              <a:t>Question- only : </a:t>
            </a:r>
            <a:r>
              <a:rPr lang="en-US" altLang="ko-KR" dirty="0">
                <a:latin typeface="+mj-lt"/>
              </a:rPr>
              <a:t>77.96%</a:t>
            </a:r>
            <a:br>
              <a:rPr lang="en-US" altLang="ko-KR" b="1" dirty="0">
                <a:latin typeface="+mj-lt"/>
              </a:rPr>
            </a:br>
            <a:r>
              <a:rPr lang="en-US" altLang="ko-KR" b="1" dirty="0" err="1">
                <a:latin typeface="+mj-lt"/>
              </a:rPr>
              <a:t>Casacade</a:t>
            </a:r>
            <a:r>
              <a:rPr lang="en-US" altLang="ko-KR" b="1" dirty="0">
                <a:latin typeface="+mj-lt"/>
              </a:rPr>
              <a:t> (Question + Small Answer ) : </a:t>
            </a:r>
            <a:r>
              <a:rPr lang="en-US" altLang="ko-KR" dirty="0">
                <a:latin typeface="+mj-lt"/>
              </a:rPr>
              <a:t>83.06% </a:t>
            </a:r>
            <a:br>
              <a:rPr lang="en-US" altLang="ko-KR" b="1" dirty="0">
                <a:latin typeface="+mj-lt"/>
              </a:rPr>
            </a:br>
            <a:r>
              <a:rPr lang="ko-KR" altLang="en-US" b="1" dirty="0">
                <a:latin typeface="+mj-lt"/>
              </a:rPr>
              <a:t>차이 </a:t>
            </a:r>
            <a:r>
              <a:rPr lang="en-US" altLang="ko-KR" b="1" dirty="0">
                <a:latin typeface="+mj-lt"/>
              </a:rPr>
              <a:t>: </a:t>
            </a:r>
            <a:r>
              <a:rPr lang="en-US" altLang="ko-KR" dirty="0">
                <a:latin typeface="+mj-lt"/>
              </a:rPr>
              <a:t>+5.1 %p -&gt; Small</a:t>
            </a:r>
            <a:r>
              <a:rPr lang="ko-KR" altLang="en-US" dirty="0">
                <a:latin typeface="+mj-lt"/>
              </a:rPr>
              <a:t> 모델의 답변을 보는 것이 핵심</a:t>
            </a:r>
            <a:endParaRPr lang="en-US" altLang="ko-KR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b="1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b="1" dirty="0" err="1">
                <a:latin typeface="+mj-lt"/>
              </a:rPr>
              <a:t>RoBERTa</a:t>
            </a:r>
            <a:r>
              <a:rPr lang="en-US" altLang="ko-KR" b="1" dirty="0">
                <a:latin typeface="+mj-lt"/>
              </a:rPr>
              <a:t> and ELECTRA</a:t>
            </a:r>
            <a:br>
              <a:rPr lang="en-US" altLang="ko-KR" b="1" dirty="0">
                <a:latin typeface="+mj-lt"/>
              </a:rPr>
            </a:br>
            <a:r>
              <a:rPr lang="en-US" altLang="ko-KR" b="1" dirty="0">
                <a:latin typeface="+mj-lt"/>
              </a:rPr>
              <a:t>ELECTRA(14M)</a:t>
            </a:r>
            <a:r>
              <a:rPr lang="ko-KR" altLang="en-US" dirty="0">
                <a:latin typeface="+mj-lt"/>
              </a:rPr>
              <a:t>가 더 작지만 일부 케이스에서 </a:t>
            </a:r>
            <a:r>
              <a:rPr lang="en-US" altLang="ko-KR" b="1" dirty="0" err="1">
                <a:latin typeface="+mj-lt"/>
              </a:rPr>
              <a:t>RoBERTa</a:t>
            </a:r>
            <a:r>
              <a:rPr lang="en-US" altLang="ko-KR" b="1" dirty="0">
                <a:latin typeface="+mj-lt"/>
              </a:rPr>
              <a:t> (125M)</a:t>
            </a:r>
            <a:r>
              <a:rPr lang="ko-KR" altLang="en-US" dirty="0">
                <a:latin typeface="+mj-lt"/>
              </a:rPr>
              <a:t>보다 우수하였음</a:t>
            </a:r>
            <a:endParaRPr lang="en-US" altLang="ko-KR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b="1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b="1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b="1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b="1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b="1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b="1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b="1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b="1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568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4C19E-750E-8EFF-BCB4-9AB10125D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47D1EE05-5A91-C976-D8CB-9F71A9BD7127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EEBDA4A5-3EF0-3B4C-0EC0-B99E3C8EFB20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171BBCCE-AE8D-9160-7CD1-17ECD7EAAFB9}"/>
              </a:ext>
            </a:extLst>
          </p:cNvPr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9E68B916-6F9B-1D44-FF38-E39339593A12}"/>
              </a:ext>
            </a:extLst>
          </p:cNvPr>
          <p:cNvSpPr txBox="1"/>
          <p:nvPr/>
        </p:nvSpPr>
        <p:spPr>
          <a:xfrm>
            <a:off x="1408974" y="323204"/>
            <a:ext cx="7064465" cy="506004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Final</a:t>
            </a:r>
            <a:r>
              <a:rPr lang="ko-KR" altLang="en-US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 </a:t>
            </a:r>
            <a:r>
              <a:rPr lang="en-US" altLang="ko-KR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Comparison</a:t>
            </a:r>
            <a:endParaRPr lang="ko-KR" altLang="en-US" sz="2000" b="1" dirty="0">
              <a:solidFill>
                <a:srgbClr val="19264B"/>
              </a:solidFill>
              <a:latin typeface="나눔스퀘어 ExtraBold"/>
              <a:ea typeface="나눔스퀘어 ExtraBold"/>
              <a:cs typeface="NanumGothic ExtraBold"/>
              <a:sym typeface="NanumGothic ExtraBold"/>
            </a:endParaRPr>
          </a:p>
        </p:txBody>
      </p:sp>
      <p:sp>
        <p:nvSpPr>
          <p:cNvPr id="11" name="Google Shape;67;p14">
            <a:extLst>
              <a:ext uri="{FF2B5EF4-FFF2-40B4-BE49-F238E27FC236}">
                <a16:creationId xmlns:a16="http://schemas.microsoft.com/office/drawing/2014/main" id="{5D472D57-89E1-0152-B90A-B8E94714D38D}"/>
              </a:ext>
            </a:extLst>
          </p:cNvPr>
          <p:cNvSpPr txBox="1"/>
          <p:nvPr/>
        </p:nvSpPr>
        <p:spPr>
          <a:xfrm>
            <a:off x="2197605" y="1404329"/>
            <a:ext cx="5923138" cy="487321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000" b="1">
              <a:latin typeface="나눔스퀘어"/>
              <a:ea typeface="나눔스퀘어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A8BD13-D884-29AB-9325-21EEFE6457F4}"/>
              </a:ext>
            </a:extLst>
          </p:cNvPr>
          <p:cNvSpPr txBox="1"/>
          <p:nvPr/>
        </p:nvSpPr>
        <p:spPr>
          <a:xfrm>
            <a:off x="1539627" y="853424"/>
            <a:ext cx="7431498" cy="3607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b="1" dirty="0">
                <a:latin typeface="+mj-lt"/>
              </a:rPr>
              <a:t>최종 성능 비교</a:t>
            </a:r>
            <a:endParaRPr lang="en-US" altLang="ko-KR" b="1" dirty="0">
              <a:latin typeface="+mj-lt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b="1" dirty="0">
              <a:latin typeface="+mj-lt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b="1" dirty="0">
              <a:latin typeface="+mj-lt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b="1" dirty="0">
              <a:latin typeface="+mj-lt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b="1" dirty="0">
              <a:latin typeface="+mj-lt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b="1" dirty="0">
              <a:latin typeface="+mj-lt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b="1" dirty="0">
              <a:latin typeface="+mj-lt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b="1" dirty="0">
              <a:latin typeface="+mj-lt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b="1" dirty="0">
              <a:latin typeface="+mj-lt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b="1" dirty="0">
              <a:latin typeface="+mj-lt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dirty="0">
              <a:latin typeface="+mj-lt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8BF4EB3-ACC2-0038-07E9-18A259F61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2306" y="278972"/>
            <a:ext cx="4671786" cy="3225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BAAAFA1-4FAF-BA8D-7CAF-ECD4C22252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8974" y="3528543"/>
            <a:ext cx="4987559" cy="1557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824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44405-C33C-3218-07A5-0149B5350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EEE53FE2-F602-A1A0-BAAB-5CABA037E7D5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1B491D59-003B-4B4C-4A38-FE6CF1E59CDC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DBA7E090-1D55-4571-1EA5-40FF34DF0A96}"/>
              </a:ext>
            </a:extLst>
          </p:cNvPr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22812F26-E67E-0CFE-0215-E4E44E88DD16}"/>
              </a:ext>
            </a:extLst>
          </p:cNvPr>
          <p:cNvSpPr txBox="1"/>
          <p:nvPr/>
        </p:nvSpPr>
        <p:spPr>
          <a:xfrm>
            <a:off x="1408974" y="323204"/>
            <a:ext cx="7064465" cy="506004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Conclusion &amp; Future Work</a:t>
            </a:r>
            <a:endParaRPr lang="ko-KR" altLang="en-US" sz="2000" b="1" dirty="0">
              <a:solidFill>
                <a:srgbClr val="19264B"/>
              </a:solidFill>
              <a:latin typeface="나눔스퀘어 ExtraBold"/>
              <a:ea typeface="나눔스퀘어 ExtraBold"/>
              <a:cs typeface="NanumGothic ExtraBold"/>
              <a:sym typeface="NanumGothic ExtraBold"/>
            </a:endParaRPr>
          </a:p>
        </p:txBody>
      </p:sp>
      <p:sp>
        <p:nvSpPr>
          <p:cNvPr id="11" name="Google Shape;67;p14">
            <a:extLst>
              <a:ext uri="{FF2B5EF4-FFF2-40B4-BE49-F238E27FC236}">
                <a16:creationId xmlns:a16="http://schemas.microsoft.com/office/drawing/2014/main" id="{61A8C5EF-0F5E-05EE-E1D8-3FA80296ECED}"/>
              </a:ext>
            </a:extLst>
          </p:cNvPr>
          <p:cNvSpPr txBox="1"/>
          <p:nvPr/>
        </p:nvSpPr>
        <p:spPr>
          <a:xfrm>
            <a:off x="2197605" y="1404329"/>
            <a:ext cx="5923138" cy="487321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000" b="1">
              <a:latin typeface="나눔스퀘어"/>
              <a:ea typeface="나눔스퀘어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1CCC4F-6654-0297-B23A-057021B2B01F}"/>
              </a:ext>
            </a:extLst>
          </p:cNvPr>
          <p:cNvSpPr txBox="1"/>
          <p:nvPr/>
        </p:nvSpPr>
        <p:spPr>
          <a:xfrm>
            <a:off x="1539627" y="853424"/>
            <a:ext cx="7431498" cy="55461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b="1" dirty="0">
                <a:latin typeface="+mj-lt"/>
              </a:rPr>
              <a:t>결론 </a:t>
            </a:r>
            <a:r>
              <a:rPr lang="en-US" altLang="ko-KR" b="1" dirty="0">
                <a:latin typeface="+mj-lt"/>
              </a:rPr>
              <a:t>:</a:t>
            </a:r>
            <a:br>
              <a:rPr lang="en-US" altLang="ko-KR" b="1" dirty="0">
                <a:latin typeface="+mj-lt"/>
              </a:rPr>
            </a:br>
            <a:r>
              <a:rPr lang="en-US" altLang="ko-KR" dirty="0">
                <a:latin typeface="+mj-lt"/>
              </a:rPr>
              <a:t>1) </a:t>
            </a:r>
            <a:r>
              <a:rPr lang="ko-KR" altLang="en-US" dirty="0">
                <a:latin typeface="+mj-lt"/>
              </a:rPr>
              <a:t>수학 문제와 같이 검증 가능한 영역에서 </a:t>
            </a:r>
            <a:r>
              <a:rPr lang="en-US" altLang="ko-KR" dirty="0">
                <a:latin typeface="+mj-lt"/>
              </a:rPr>
              <a:t>Cascade </a:t>
            </a:r>
            <a:r>
              <a:rPr lang="ko-KR" altLang="en-US" dirty="0">
                <a:latin typeface="+mj-lt"/>
              </a:rPr>
              <a:t>방식과 </a:t>
            </a:r>
            <a:r>
              <a:rPr lang="en-US" altLang="ko-KR" dirty="0">
                <a:latin typeface="+mj-lt"/>
              </a:rPr>
              <a:t>Weighted Loss</a:t>
            </a:r>
            <a:r>
              <a:rPr lang="ko-KR" altLang="en-US" dirty="0">
                <a:latin typeface="+mj-lt"/>
              </a:rPr>
              <a:t>를 통해 실용적인 </a:t>
            </a:r>
            <a:r>
              <a:rPr lang="en-US" altLang="ko-KR" dirty="0">
                <a:latin typeface="+mj-lt"/>
              </a:rPr>
              <a:t>Router </a:t>
            </a:r>
            <a:r>
              <a:rPr lang="ko-KR" altLang="en-US" dirty="0">
                <a:latin typeface="+mj-lt"/>
              </a:rPr>
              <a:t>구축 가능성을 확인</a:t>
            </a:r>
            <a:endParaRPr lang="en-US" altLang="ko-KR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b="1" dirty="0">
              <a:latin typeface="+mj-lt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b="1" dirty="0">
              <a:latin typeface="+mj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b="1" dirty="0">
                <a:latin typeface="+mj-lt"/>
              </a:rPr>
              <a:t>한계 및 향후 계획</a:t>
            </a:r>
            <a:br>
              <a:rPr lang="en-US" altLang="ko-KR" b="1" dirty="0">
                <a:latin typeface="+mj-lt"/>
              </a:rPr>
            </a:br>
            <a:r>
              <a:rPr lang="en-US" altLang="ko-KR" dirty="0">
                <a:latin typeface="+mj-lt"/>
              </a:rPr>
              <a:t>1) </a:t>
            </a:r>
            <a:r>
              <a:rPr lang="ko-KR" altLang="en-US" dirty="0" err="1">
                <a:latin typeface="+mj-lt"/>
              </a:rPr>
              <a:t>둘다</a:t>
            </a:r>
            <a:r>
              <a:rPr lang="ko-KR" altLang="en-US" dirty="0">
                <a:latin typeface="+mj-lt"/>
              </a:rPr>
              <a:t> 틀리는 문제에 대한 처리 방안 연구 필요</a:t>
            </a:r>
            <a:br>
              <a:rPr lang="en-US" altLang="ko-KR" dirty="0">
                <a:latin typeface="+mj-lt"/>
              </a:rPr>
            </a:br>
            <a:r>
              <a:rPr lang="en-US" altLang="ko-KR" dirty="0">
                <a:latin typeface="+mj-lt"/>
              </a:rPr>
              <a:t>2) </a:t>
            </a:r>
            <a:r>
              <a:rPr lang="ko-KR" altLang="en-US" dirty="0">
                <a:latin typeface="+mj-lt"/>
              </a:rPr>
              <a:t>더 다양한 데이터셋과 모델로 일반화 성능 테스트 필요</a:t>
            </a:r>
            <a:endParaRPr lang="en-US" altLang="ko-KR" dirty="0">
              <a:latin typeface="+mj-lt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b="1" dirty="0">
              <a:latin typeface="+mj-lt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b="1" dirty="0">
              <a:latin typeface="+mj-lt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b="1" dirty="0">
              <a:latin typeface="+mj-lt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b="1" dirty="0">
              <a:latin typeface="+mj-lt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b="1" dirty="0">
              <a:latin typeface="+mj-lt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b="1" dirty="0">
              <a:latin typeface="+mj-lt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b="1" dirty="0">
              <a:latin typeface="+mj-lt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b="1" dirty="0">
              <a:latin typeface="+mj-lt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00002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CBDFB792-6E1E-FCAF-F7EA-B3E19376C7A8}"/>
              </a:ext>
            </a:extLst>
          </p:cNvPr>
          <p:cNvSpPr txBox="1"/>
          <p:nvPr/>
        </p:nvSpPr>
        <p:spPr>
          <a:xfrm>
            <a:off x="3466376" y="2125489"/>
            <a:ext cx="2792910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000" b="1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anumGothic ExtraBold"/>
                <a:sym typeface="NanumGothic ExtraBold"/>
              </a:rPr>
              <a:t>감사합니다</a:t>
            </a:r>
            <a:endParaRPr sz="4000" b="1" dirty="0">
              <a:solidFill>
                <a:srgbClr val="19264B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NanumGothic ExtraBold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61689366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735</Words>
  <Application>Microsoft Office PowerPoint</Application>
  <PresentationFormat>화면 슬라이드 쇼(16:9)</PresentationFormat>
  <Paragraphs>139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A</vt:lpstr>
      <vt:lpstr>Malgun Gothic</vt:lpstr>
      <vt:lpstr>나눔고딕</vt:lpstr>
      <vt:lpstr>나눔스퀘어</vt:lpstr>
      <vt:lpstr>나눔스퀘어 ExtraBold</vt:lpstr>
      <vt:lpstr>Arial</vt:lpstr>
      <vt:lpstr>Wingdings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조효원</dc:creator>
  <cp:lastModifiedBy>양희원</cp:lastModifiedBy>
  <cp:revision>105</cp:revision>
  <dcterms:modified xsi:type="dcterms:W3CDTF">2025-11-25T05:44:46Z</dcterms:modified>
  <cp:version>1000.0000.01</cp:version>
</cp:coreProperties>
</file>