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71" r:id="rId6"/>
    <p:sldId id="266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86424" autoAdjust="0"/>
  </p:normalViewPr>
  <p:slideViewPr>
    <p:cSldViewPr snapToGrid="0">
      <p:cViewPr varScale="1">
        <p:scale>
          <a:sx n="130" d="100"/>
          <a:sy n="130" d="100"/>
        </p:scale>
        <p:origin x="472" y="44"/>
      </p:cViewPr>
      <p:guideLst>
        <p:guide orient="horz" pos="161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/>
        <a:ea typeface="나눔고딕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011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latin typeface="맑은 고딕"/>
                <a:ea typeface="맑은 고딕"/>
              </a:rPr>
              <a:t>T</a:t>
            </a:r>
            <a:endParaRPr>
              <a:latin typeface="맑은 고딕"/>
              <a:ea typeface="맑은 고딕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CUAI </a:t>
            </a:r>
            <a:r>
              <a:rPr lang="en-US" altLang="ko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NLP</a:t>
            </a:r>
            <a:r>
              <a:rPr lang="ko-KR" altLang="en-US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 프로젝트</a:t>
            </a:r>
            <a:r>
              <a:rPr lang="ko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 </a:t>
            </a:r>
            <a:r>
              <a:rPr lang="en-US" altLang="ko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2</a:t>
            </a:r>
            <a:r>
              <a:rPr lang="ko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팀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202</a:t>
            </a:r>
            <a:r>
              <a:rPr lang="en-US" alt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5</a:t>
            </a:r>
            <a:r>
              <a:rPr 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-KR">
                <a:solidFill>
                  <a:srgbClr val="19264B"/>
                </a:solidFill>
                <a:latin typeface="나눔스퀘어 ExtraBold"/>
                <a:ea typeface="나눔스퀘어 ExtraBold"/>
              </a:rPr>
              <a:t>11</a:t>
            </a:r>
            <a:r>
              <a:rPr 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-KR">
                <a:solidFill>
                  <a:srgbClr val="19264B"/>
                </a:solidFill>
                <a:latin typeface="나눔스퀘어 ExtraBold"/>
                <a:ea typeface="나눔스퀘어 ExtraBold"/>
              </a:rPr>
              <a:t>04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>
                <a:solidFill>
                  <a:srgbClr val="19264B"/>
                </a:solidFill>
                <a:latin typeface="나눔스퀘어 ExtraBold"/>
                <a:ea typeface="나눔스퀘어 ExtraBold"/>
              </a:rPr>
              <a:t>발표자</a:t>
            </a:r>
            <a:r>
              <a:rPr lang="en-US" altLang="ko" sz="1100">
                <a:solidFill>
                  <a:srgbClr val="19264B"/>
                </a:solidFill>
                <a:latin typeface="나눔스퀘어 ExtraBold"/>
                <a:ea typeface="나눔스퀘어 ExtraBold"/>
              </a:rPr>
              <a:t> : </a:t>
            </a:r>
            <a:r>
              <a:rPr lang="ko-KR" altLang="en-US" sz="1100">
                <a:solidFill>
                  <a:srgbClr val="19264B"/>
                </a:solidFill>
                <a:latin typeface="나눔스퀘어 ExtraBold"/>
                <a:ea typeface="나눔스퀘어 ExtraBold"/>
              </a:rPr>
              <a:t>안솔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10973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스터디원 소개 및 만남 인증</a:t>
            </a:r>
            <a:endParaRPr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995164" y="1350452"/>
            <a:ext cx="2886200" cy="1985127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</a:t>
            </a:r>
            <a:r>
              <a:rPr lang="ko" sz="1300" dirty="0">
                <a:latin typeface="나눔스퀘어"/>
                <a:ea typeface="나눔스퀘어"/>
              </a:rPr>
              <a:t>원 1:</a:t>
            </a:r>
            <a:r>
              <a:rPr lang="en-US" altLang="ko" sz="1300" dirty="0">
                <a:latin typeface="나눔스퀘어"/>
                <a:ea typeface="나눔스퀘어"/>
              </a:rPr>
              <a:t> </a:t>
            </a:r>
            <a:r>
              <a:rPr lang="ko-KR" altLang="en-US" sz="1300" dirty="0">
                <a:latin typeface="나눔스퀘어"/>
                <a:ea typeface="나눔스퀘어"/>
              </a:rPr>
              <a:t>박준우</a:t>
            </a:r>
            <a:endParaRPr lang="en-US" altLang="ko-KR" sz="11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</a:t>
            </a:r>
            <a:r>
              <a:rPr lang="ko" sz="1300" dirty="0">
                <a:latin typeface="나눔스퀘어"/>
                <a:ea typeface="나눔스퀘어"/>
              </a:rPr>
              <a:t>원 2:</a:t>
            </a:r>
            <a:r>
              <a:rPr lang="en-US" altLang="ko" sz="1300" dirty="0">
                <a:latin typeface="나눔스퀘어"/>
                <a:ea typeface="나눔스퀘어"/>
              </a:rPr>
              <a:t> </a:t>
            </a:r>
            <a:r>
              <a:rPr lang="ko-KR" altLang="en-US" sz="1300" dirty="0" err="1">
                <a:latin typeface="나눔스퀘어"/>
                <a:ea typeface="나눔스퀘어"/>
              </a:rPr>
              <a:t>안솔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3: </a:t>
            </a:r>
            <a:r>
              <a:rPr lang="ko-KR" altLang="en-US" sz="1300" dirty="0" err="1">
                <a:latin typeface="나눔스퀘어"/>
                <a:ea typeface="나눔스퀘어"/>
              </a:rPr>
              <a:t>양희원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4: </a:t>
            </a:r>
            <a:r>
              <a:rPr lang="ko-KR" altLang="en-US" sz="1300" dirty="0" err="1">
                <a:latin typeface="나눔스퀘어"/>
                <a:ea typeface="나눔스퀘어"/>
              </a:rPr>
              <a:t>조한서</a:t>
            </a: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13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 dirty="0">
                <a:latin typeface="나눔스퀘어"/>
                <a:ea typeface="나눔스퀘어"/>
              </a:rPr>
              <a:t>팀원 </a:t>
            </a:r>
            <a:r>
              <a:rPr lang="en-US" altLang="ko-KR" sz="1300" dirty="0">
                <a:latin typeface="나눔스퀘어"/>
                <a:ea typeface="나눔스퀘어"/>
              </a:rPr>
              <a:t>5: </a:t>
            </a:r>
            <a:r>
              <a:rPr lang="ko-KR" altLang="en-US" sz="1300" dirty="0">
                <a:latin typeface="나눔스퀘어"/>
                <a:ea typeface="나눔스퀘어"/>
              </a:rPr>
              <a:t>한승원</a:t>
            </a:r>
            <a:endParaRPr lang="en-US" altLang="ko-KR" sz="1300" dirty="0">
              <a:latin typeface="나눔스퀘어"/>
              <a:ea typeface="나눔스퀘어"/>
            </a:endParaRPr>
          </a:p>
        </p:txBody>
      </p:sp>
      <p:sp>
        <p:nvSpPr>
          <p:cNvPr id="4" name="Google Shape;67;p14"/>
          <p:cNvSpPr txBox="1"/>
          <p:nvPr/>
        </p:nvSpPr>
        <p:spPr>
          <a:xfrm>
            <a:off x="2620186" y="4371834"/>
            <a:ext cx="2858050" cy="3693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dirty="0">
                <a:latin typeface="나눔스퀘어"/>
                <a:ea typeface="나눔스퀘어"/>
              </a:rPr>
              <a:t>매주 화요일 세션 직후 회의 진행</a:t>
            </a:r>
            <a:endParaRPr sz="1200" dirty="0">
              <a:latin typeface="나눔스퀘어"/>
              <a:ea typeface="나눔스퀘어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387203" y="328647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프로젝트 개요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75280" y="876822"/>
            <a:ext cx="7431498" cy="1754326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 dirty="0">
                <a:latin typeface="나눔스퀘어"/>
              </a:rPr>
              <a:t>LLM Router for Verifiable Domains</a:t>
            </a:r>
          </a:p>
          <a:p>
            <a:pPr lvl="0">
              <a:defRPr/>
            </a:pPr>
            <a:r>
              <a:rPr lang="ko-KR" altLang="en-US" dirty="0">
                <a:latin typeface="나눔스퀘어"/>
              </a:rPr>
              <a:t>수학</a:t>
            </a:r>
            <a:r>
              <a:rPr lang="en-US" altLang="ko-KR" dirty="0">
                <a:latin typeface="나눔스퀘어"/>
              </a:rPr>
              <a:t>, </a:t>
            </a:r>
            <a:r>
              <a:rPr lang="ko-KR" altLang="en-US" dirty="0">
                <a:latin typeface="나눔스퀘어"/>
              </a:rPr>
              <a:t>프로그래밍 등 정답 검증이 가능한 영역을 대상으로</a:t>
            </a:r>
            <a:r>
              <a:rPr lang="en-US" altLang="ko-KR" dirty="0">
                <a:latin typeface="나눔스퀘어"/>
              </a:rPr>
              <a:t> </a:t>
            </a:r>
            <a:r>
              <a:rPr lang="ko-KR" altLang="en-US" dirty="0">
                <a:latin typeface="나눔스퀘어"/>
              </a:rPr>
              <a:t>질의 난이도와 유형을 분석하여 </a:t>
            </a:r>
            <a:r>
              <a:rPr lang="en-US" altLang="ko-KR" dirty="0">
                <a:latin typeface="나눔스퀘어"/>
              </a:rPr>
              <a:t>Small </a:t>
            </a:r>
            <a:r>
              <a:rPr lang="ko-KR" altLang="en-US" dirty="0">
                <a:latin typeface="나눔스퀘어"/>
              </a:rPr>
              <a:t>모델과 </a:t>
            </a:r>
            <a:r>
              <a:rPr lang="en-US" altLang="ko-KR" dirty="0">
                <a:latin typeface="나눔스퀘어"/>
              </a:rPr>
              <a:t>Big </a:t>
            </a:r>
            <a:r>
              <a:rPr lang="ko-KR" altLang="en-US" dirty="0">
                <a:latin typeface="나눔스퀘어"/>
              </a:rPr>
              <a:t>모델 간 효율적인 동적 라우팅 방법을 탐구</a:t>
            </a:r>
          </a:p>
          <a:p>
            <a:pPr lvl="0">
              <a:defRPr/>
            </a:pPr>
            <a:endParaRPr lang="en-US" altLang="ko-KR" sz="1600" b="1" dirty="0">
              <a:latin typeface="나눔스퀘어"/>
            </a:endParaRPr>
          </a:p>
          <a:p>
            <a:pPr lvl="0">
              <a:defRPr/>
            </a:pPr>
            <a:r>
              <a:rPr lang="en-US" altLang="ko-KR" sz="1600" b="1" dirty="0">
                <a:latin typeface="나눔스퀘어"/>
              </a:rPr>
              <a:t>Goal</a:t>
            </a:r>
          </a:p>
          <a:p>
            <a:pPr lvl="0">
              <a:defRPr/>
            </a:pPr>
            <a:r>
              <a:rPr lang="en-US" altLang="ko-KR" dirty="0">
                <a:latin typeface="나눔스퀘어"/>
              </a:rPr>
              <a:t>- </a:t>
            </a:r>
            <a:r>
              <a:rPr lang="ko-KR" altLang="en-US" dirty="0">
                <a:latin typeface="나눔스퀘어"/>
              </a:rPr>
              <a:t>정확도 손실 최소화</a:t>
            </a:r>
            <a:r>
              <a:rPr lang="en-US" altLang="ko-KR" dirty="0">
                <a:latin typeface="나눔스퀘어"/>
              </a:rPr>
              <a:t>, </a:t>
            </a:r>
            <a:r>
              <a:rPr lang="ko-KR" altLang="en-US" dirty="0">
                <a:latin typeface="나눔스퀘어"/>
              </a:rPr>
              <a:t>비용 효율 극대화</a:t>
            </a:r>
          </a:p>
          <a:p>
            <a:pPr lvl="0">
              <a:defRPr/>
            </a:pPr>
            <a:r>
              <a:rPr lang="en-US" altLang="ko-KR" dirty="0">
                <a:latin typeface="나눔스퀘어"/>
              </a:rPr>
              <a:t>- </a:t>
            </a:r>
            <a:r>
              <a:rPr lang="ko-KR" altLang="en-US" dirty="0">
                <a:latin typeface="나눔스퀘어"/>
              </a:rPr>
              <a:t>모델 선택 자동화와 비용</a:t>
            </a:r>
            <a:r>
              <a:rPr lang="en-US" altLang="ko-KR" dirty="0">
                <a:latin typeface="나눔스퀘어"/>
              </a:rPr>
              <a:t>–</a:t>
            </a:r>
            <a:r>
              <a:rPr lang="ko-KR" altLang="en-US" dirty="0">
                <a:latin typeface="나눔스퀘어"/>
              </a:rPr>
              <a:t>정확도 균형에 대한 체계적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022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프로젝트 방향</a:t>
            </a:r>
          </a:p>
        </p:txBody>
      </p:sp>
      <p:sp>
        <p:nvSpPr>
          <p:cNvPr id="11" name="Google Shape;67;p14"/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47790" y="1676829"/>
            <a:ext cx="6336124" cy="166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>
                <a:latin typeface="나눔스퀘어"/>
              </a:rPr>
              <a:t>기존 연구 한계</a:t>
            </a:r>
            <a:r>
              <a:rPr lang="en-US" altLang="ko-KR" dirty="0">
                <a:latin typeface="나눔스퀘어"/>
              </a:rPr>
              <a:t> : </a:t>
            </a:r>
            <a:r>
              <a:rPr lang="en-US" altLang="ko-KR" dirty="0" err="1">
                <a:latin typeface="나눔스퀘어"/>
              </a:rPr>
              <a:t>RouteLLM</a:t>
            </a:r>
            <a:r>
              <a:rPr lang="ko-KR" altLang="en-US" dirty="0">
                <a:latin typeface="나눔스퀘어"/>
              </a:rPr>
              <a:t> 과 같은 연구는 인간의 선호도를 기반으로 분류하는 모델이었음</a:t>
            </a:r>
            <a:endParaRPr lang="en-US" altLang="ko-KR" dirty="0">
              <a:latin typeface="나눔스퀘어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나눔스퀘어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b="1" dirty="0">
                <a:latin typeface="나눔스퀘어"/>
              </a:rPr>
              <a:t>➡️ 더 객관적으로 검증이 가능한 수학 도메인에서 모델을 분류하는 라우팅 시스템 구축</a:t>
            </a:r>
            <a:endParaRPr lang="en-US" altLang="ko-KR" b="1" dirty="0">
              <a:latin typeface="나눔스퀘어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022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프로젝트 방향</a:t>
            </a:r>
          </a:p>
        </p:txBody>
      </p:sp>
      <p:sp>
        <p:nvSpPr>
          <p:cNvPr id="11" name="Google Shape;67;p14"/>
          <p:cNvSpPr txBox="1"/>
          <p:nvPr/>
        </p:nvSpPr>
        <p:spPr>
          <a:xfrm>
            <a:off x="2197605" y="1404329"/>
            <a:ext cx="5923138" cy="48732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9627" y="853424"/>
            <a:ext cx="7431498" cy="3282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나눔스퀘어"/>
              </a:rPr>
              <a:t>1. </a:t>
            </a:r>
            <a:r>
              <a:rPr lang="ko-KR" altLang="en-US" b="1" dirty="0">
                <a:latin typeface="나눔스퀘어"/>
              </a:rPr>
              <a:t>모델 성능 측정에 사용되는</a:t>
            </a:r>
            <a:r>
              <a:rPr lang="en-US" altLang="ko-KR" b="1" dirty="0">
                <a:latin typeface="나눔스퀘어"/>
              </a:rPr>
              <a:t> </a:t>
            </a:r>
            <a:r>
              <a:rPr lang="ko-KR" altLang="en-US" b="1" dirty="0">
                <a:latin typeface="나눔스퀘어"/>
              </a:rPr>
              <a:t>수학 문제 벤치마크 기반</a:t>
            </a:r>
            <a:endParaRPr lang="en-US" altLang="ko-KR" b="1" dirty="0">
              <a:latin typeface="나눔스퀘어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dirty="0">
                <a:latin typeface="나눔스퀘어"/>
              </a:rPr>
              <a:t>     - e.g. GSM8K, MATH Dataset etc.</a:t>
            </a: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나눔스퀘어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나눔스퀘어"/>
              </a:rPr>
              <a:t>2. Llama3</a:t>
            </a:r>
            <a:r>
              <a:rPr lang="ko-KR" altLang="en-US" b="1" dirty="0">
                <a:latin typeface="나눔스퀘어"/>
              </a:rPr>
              <a:t> </a:t>
            </a:r>
            <a:r>
              <a:rPr lang="en-US" altLang="ko-KR" b="1" dirty="0">
                <a:latin typeface="나눔스퀘어"/>
              </a:rPr>
              <a:t>8B</a:t>
            </a:r>
            <a:r>
              <a:rPr lang="ko-KR" altLang="en-US" b="1" dirty="0">
                <a:latin typeface="나눔스퀘어"/>
              </a:rPr>
              <a:t>를 통해 벤치마크의 문제들 각각에 대해 </a:t>
            </a:r>
            <a:r>
              <a:rPr lang="en-US" altLang="ko-KR" b="1" dirty="0">
                <a:latin typeface="나눔스퀘어"/>
              </a:rPr>
              <a:t>labeling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ko-KR" dirty="0">
                <a:latin typeface="나눔스퀘어"/>
              </a:rPr>
              <a:t> - Ex.</a:t>
            </a:r>
            <a:r>
              <a:rPr lang="ko-KR" altLang="en-US" dirty="0">
                <a:latin typeface="나눔스퀘어"/>
              </a:rPr>
              <a:t> 문제를 맞춘 경우 </a:t>
            </a:r>
            <a:r>
              <a:rPr lang="en-US" altLang="ko-KR" dirty="0">
                <a:latin typeface="나눔스퀘어"/>
              </a:rPr>
              <a:t>1, </a:t>
            </a:r>
            <a:r>
              <a:rPr lang="ko-KR" altLang="en-US" dirty="0">
                <a:latin typeface="나눔스퀘어"/>
              </a:rPr>
              <a:t>틀린 경우 </a:t>
            </a:r>
            <a:r>
              <a:rPr lang="en-US" altLang="ko-KR" dirty="0">
                <a:latin typeface="나눔스퀘어"/>
              </a:rPr>
              <a:t>0</a:t>
            </a:r>
            <a:r>
              <a:rPr lang="ko-KR" altLang="en-US" dirty="0">
                <a:latin typeface="나눔스퀘어"/>
              </a:rPr>
              <a:t>으로 </a:t>
            </a:r>
            <a:r>
              <a:rPr lang="en-US" altLang="ko-KR" dirty="0">
                <a:latin typeface="나눔스퀘어"/>
              </a:rPr>
              <a:t>labeling</a:t>
            </a:r>
          </a:p>
          <a:p>
            <a:pPr lvl="0">
              <a:lnSpc>
                <a:spcPct val="150000"/>
              </a:lnSpc>
              <a:defRPr/>
            </a:pPr>
            <a:endParaRPr lang="en-US" altLang="ko-KR" b="1" dirty="0">
              <a:latin typeface="나눔스퀘어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b="1" dirty="0">
                <a:latin typeface="나눔스퀘어"/>
              </a:rPr>
              <a:t>3. </a:t>
            </a:r>
            <a:r>
              <a:rPr lang="ko-KR" altLang="en-US" b="1" dirty="0">
                <a:latin typeface="나눔스퀘어"/>
              </a:rPr>
              <a:t>이를 바탕으로</a:t>
            </a:r>
            <a:r>
              <a:rPr lang="en-US" altLang="ko-KR" b="1" dirty="0">
                <a:latin typeface="나눔스퀘어"/>
              </a:rPr>
              <a:t> </a:t>
            </a:r>
            <a:r>
              <a:rPr lang="en-US" altLang="ko-KR" b="1" dirty="0" err="1">
                <a:latin typeface="나눔스퀘어"/>
              </a:rPr>
              <a:t>고속·효율적</a:t>
            </a:r>
            <a:r>
              <a:rPr lang="en-US" altLang="ko-KR" b="1" dirty="0">
                <a:latin typeface="나눔스퀘어"/>
              </a:rPr>
              <a:t> Routing </a:t>
            </a:r>
            <a:r>
              <a:rPr lang="ko-KR" altLang="en-US" b="1" dirty="0">
                <a:latin typeface="나눔스퀘어"/>
              </a:rPr>
              <a:t>훈련</a:t>
            </a:r>
            <a:endParaRPr lang="en-US" altLang="ko-KR" b="1" dirty="0">
              <a:latin typeface="나눔스퀘어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dirty="0">
                <a:latin typeface="나눔스퀘어"/>
              </a:rPr>
              <a:t>    - Router</a:t>
            </a:r>
            <a:r>
              <a:rPr lang="ko-KR" altLang="en-US" dirty="0">
                <a:latin typeface="나눔스퀘어"/>
              </a:rPr>
              <a:t>를 기준으로 </a:t>
            </a:r>
            <a:r>
              <a:rPr lang="en-US" altLang="ko-KR" dirty="0">
                <a:latin typeface="나눔스퀘어"/>
              </a:rPr>
              <a:t>Llama3 8B </a:t>
            </a:r>
            <a:r>
              <a:rPr lang="ko-KR" altLang="en-US" dirty="0">
                <a:latin typeface="나눔스퀘어"/>
              </a:rPr>
              <a:t>와 같이 상대적으로 작은 모델이 풀 수 있는 문제는 작은 모델로</a:t>
            </a:r>
            <a:r>
              <a:rPr lang="en-US" altLang="ko-KR" dirty="0">
                <a:latin typeface="나눔스퀘어"/>
              </a:rPr>
              <a:t>, </a:t>
            </a:r>
            <a:r>
              <a:rPr lang="ko-KR" altLang="en-US" dirty="0">
                <a:latin typeface="나눔스퀘어"/>
              </a:rPr>
              <a:t>어려운 문제는 큰 모델로 자동 분배 </a:t>
            </a:r>
            <a:r>
              <a:rPr lang="en-US" altLang="ko-KR" dirty="0">
                <a:latin typeface="나눔스퀘어"/>
              </a:rPr>
              <a:t>-&gt; </a:t>
            </a:r>
            <a:r>
              <a:rPr lang="en-US" altLang="ko-KR" dirty="0" err="1">
                <a:latin typeface="나눔스퀘어"/>
              </a:rPr>
              <a:t>실제</a:t>
            </a:r>
            <a:r>
              <a:rPr lang="en-US" altLang="ko-KR" dirty="0">
                <a:latin typeface="나눔스퀘어"/>
              </a:rPr>
              <a:t> inference latency, </a:t>
            </a:r>
            <a:r>
              <a:rPr lang="en-US" altLang="ko-KR" dirty="0" err="1">
                <a:latin typeface="나눔스퀘어"/>
              </a:rPr>
              <a:t>비용</a:t>
            </a:r>
            <a:r>
              <a:rPr lang="en-US" altLang="ko-KR" dirty="0">
                <a:latin typeface="나눔스퀘어"/>
              </a:rPr>
              <a:t> </a:t>
            </a:r>
            <a:r>
              <a:rPr lang="en-US" altLang="ko-KR" dirty="0" err="1">
                <a:latin typeface="나눔스퀘어"/>
              </a:rPr>
              <a:t>절감</a:t>
            </a:r>
            <a:r>
              <a:rPr lang="en-US" altLang="ko-KR" dirty="0">
                <a:latin typeface="나눔스퀘어"/>
              </a:rPr>
              <a:t> </a:t>
            </a:r>
            <a:r>
              <a:rPr lang="en-US" altLang="ko-KR" dirty="0" err="1">
                <a:latin typeface="나눔스퀘어"/>
              </a:rPr>
              <a:t>효과를</a:t>
            </a:r>
            <a:r>
              <a:rPr lang="en-US" altLang="ko-KR" dirty="0">
                <a:latin typeface="나눔스퀘어"/>
              </a:rPr>
              <a:t> </a:t>
            </a:r>
            <a:r>
              <a:rPr lang="en-US" altLang="ko-KR" dirty="0" err="1">
                <a:latin typeface="나눔스퀘어"/>
              </a:rPr>
              <a:t>정량</a:t>
            </a:r>
            <a:r>
              <a:rPr lang="en-US" altLang="ko-KR" dirty="0">
                <a:latin typeface="나눔스퀘어"/>
              </a:rPr>
              <a:t> </a:t>
            </a:r>
            <a:r>
              <a:rPr lang="en-US" altLang="ko-KR" dirty="0" err="1">
                <a:latin typeface="나눔스퀘어"/>
              </a:rPr>
              <a:t>평가한다</a:t>
            </a:r>
            <a:r>
              <a:rPr lang="en-US" altLang="ko-KR" dirty="0">
                <a:latin typeface="나눔스퀘어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293039-AF8C-4ADC-976E-6F90B13C339B}"/>
              </a:ext>
            </a:extLst>
          </p:cNvPr>
          <p:cNvSpPr/>
          <p:nvPr/>
        </p:nvSpPr>
        <p:spPr>
          <a:xfrm>
            <a:off x="1515099" y="4290076"/>
            <a:ext cx="7288149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b="1" dirty="0">
                <a:latin typeface="나눔스퀘어"/>
              </a:rPr>
              <a:t>최종 목표</a:t>
            </a:r>
            <a:r>
              <a:rPr lang="en-US" altLang="ko-KR" b="1" dirty="0">
                <a:latin typeface="나눔스퀘어"/>
              </a:rPr>
              <a:t>: </a:t>
            </a:r>
            <a:r>
              <a:rPr lang="ko-KR" altLang="en-US" b="1" dirty="0">
                <a:latin typeface="나눔스퀘어"/>
              </a:rPr>
              <a:t>전체 </a:t>
            </a:r>
            <a:r>
              <a:rPr lang="ko-KR" altLang="en-US" b="1" dirty="0" err="1">
                <a:latin typeface="나눔스퀘어"/>
              </a:rPr>
              <a:t>정답률에</a:t>
            </a:r>
            <a:r>
              <a:rPr lang="ko-KR" altLang="en-US" b="1" dirty="0">
                <a:latin typeface="나눔스퀘어"/>
              </a:rPr>
              <a:t> 큰 영향을 주지 않으면서도</a:t>
            </a:r>
            <a:r>
              <a:rPr lang="en-US" altLang="ko-KR" b="1" dirty="0">
                <a:latin typeface="나눔스퀘어"/>
              </a:rPr>
              <a:t>(Ex. &lt; ~5% or &lt;~1%)</a:t>
            </a:r>
            <a:r>
              <a:rPr lang="ko-KR" altLang="en-US" b="1" dirty="0">
                <a:latin typeface="나눔스퀘어"/>
              </a:rPr>
              <a:t> 최대한 </a:t>
            </a:r>
            <a:r>
              <a:rPr lang="en-US" altLang="ko-KR" b="1" dirty="0">
                <a:latin typeface="나눔스퀘어"/>
              </a:rPr>
              <a:t>Small </a:t>
            </a:r>
            <a:r>
              <a:rPr lang="ko-KR" altLang="en-US" b="1" dirty="0">
                <a:latin typeface="나눔스퀘어"/>
              </a:rPr>
              <a:t>모델을 많이 이용하여 비용을 줄이기</a:t>
            </a:r>
            <a:endParaRPr lang="en-US" altLang="ko-KR" b="1" dirty="0">
              <a:latin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109826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247</Words>
  <Application>Microsoft Office PowerPoint</Application>
  <PresentationFormat>화면 슬라이드 쇼(16:9)</PresentationFormat>
  <Paragraphs>39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NanumGothic ExtraBold</vt:lpstr>
      <vt:lpstr>나눔고딕</vt:lpstr>
      <vt:lpstr>나눔스퀘어</vt:lpstr>
      <vt:lpstr>나눔스퀘어 ExtraBold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박준우 </cp:lastModifiedBy>
  <cp:revision>103</cp:revision>
  <dcterms:modified xsi:type="dcterms:W3CDTF">2025-11-04T03:05:31Z</dcterms:modified>
  <cp:version>1000.0000.01</cp:version>
</cp:coreProperties>
</file>