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91" r:id="rId1"/>
  </p:sldMasterIdLst>
  <p:notesMasterIdLst>
    <p:notesMasterId r:id="rId2"/>
  </p:notesMasterIdLst>
  <p:sldIdLst>
    <p:sldId id="256" r:id="rId3"/>
    <p:sldId id="257" r:id="rId4"/>
    <p:sldId id="258" r:id="rId5"/>
    <p:sldId id="269" r:id="rId6"/>
    <p:sldId id="272" r:id="rId7"/>
    <p:sldId id="270" r:id="rId8"/>
    <p:sldId id="271" r:id="rId9"/>
    <p:sldId id="273" r:id="rId10"/>
    <p:sldId id="274" r:id="rId11"/>
    <p:sldId id="275" r:id="rId12"/>
    <p:sldId id="276" r:id="rId13"/>
    <p:sldId id="277" r:id="rId14"/>
    <p:sldId id="278" r:id="rId15"/>
    <p:sldId id="259" r:id="rId16"/>
    <p:sldId id="266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9331" autoAdjust="0"/>
    <p:restoredTop sz="86424" autoAdjust="0"/>
  </p:normalViewPr>
  <p:slideViewPr>
    <p:cSldViewPr snapToGrid="0">
      <p:cViewPr varScale="1">
        <p:scale>
          <a:sx n="100" d="100"/>
          <a:sy n="100" d="100"/>
        </p:scale>
        <p:origin x="594" y="48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notesMaster" Target="notesMasters/notesMaster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고딕"/>
        <a:ea typeface="나눔고딕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3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Relationship Id="rId4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Relationship Id="rId4" Type="http://schemas.openxmlformats.org/officeDocument/2006/relationships/image" Target="../media/image1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Relationship Id="rId4" Type="http://schemas.openxmlformats.org/officeDocument/2006/relationships/image" Target="../media/image1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Relationship Id="rId4" Type="http://schemas.openxmlformats.org/officeDocument/2006/relationships/image" Target="../media/image1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1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16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latin typeface="맑은 고딕"/>
                <a:ea typeface="맑은 고딕"/>
              </a:rPr>
              <a:t>T</a:t>
            </a:r>
            <a:endParaRPr>
              <a:latin typeface="맑은 고딕"/>
              <a:ea typeface="맑은 고딕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5;p13"/>
          <p:cNvSpPr txBox="1"/>
          <p:nvPr/>
        </p:nvSpPr>
        <p:spPr>
          <a:xfrm>
            <a:off x="1339750" y="2710050"/>
            <a:ext cx="5687450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" sz="2500" b="1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CUAI </a:t>
            </a:r>
            <a:r>
              <a:rPr xmlns:mc="http://schemas.openxmlformats.org/markup-compatibility/2006" xmlns:hp="http://schemas.haansoft.com/office/presentation/8.0" kumimoji="0" lang="ko-KR" altLang="en-US" sz="2500" b="1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r>
              <a:rPr xmlns:mc="http://schemas.openxmlformats.org/markup-compatibility/2006" xmlns:hp="http://schemas.haansoft.com/office/presentation/8.0" kumimoji="0" lang="en-US" altLang="ko-KR" sz="2500" b="1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 DA 2</a:t>
            </a:r>
            <a:r>
              <a:rPr xmlns:mc="http://schemas.openxmlformats.org/markup-compatibility/2006" xmlns:hp="http://schemas.haansoft.com/office/presentation/8.0" kumimoji="0" lang="ko-KR" altLang="en-US" sz="2500" b="1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팀</a:t>
            </a:r>
            <a:endParaRPr xmlns:mc="http://schemas.openxmlformats.org/markup-compatibility/2006" xmlns:hp="http://schemas.haansoft.com/office/presentation/8.0" kumimoji="0" lang="ko-KR" altLang="en-US" sz="2500" b="1" i="0" u="none" strike="noStrike" kern="0" cap="none" spc="0" normalizeH="0" baseline="0" mc:Ignorable="hp" hp:hslEmbossed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" sz="1400" b="0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xmlns:mc="http://schemas.openxmlformats.org/markup-compatibility/2006" xmlns:hp="http://schemas.haansoft.com/office/presentation/8.0" kumimoji="0" lang="en-US" altLang="ko" sz="1400" b="0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xmlns:mc="http://schemas.openxmlformats.org/markup-compatibility/2006" xmlns:hp="http://schemas.haansoft.com/office/presentation/8.0" kumimoji="0" lang="ko" sz="1400" b="0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xmlns:mc="http://schemas.openxmlformats.org/markup-compatibility/2006" xmlns:hp="http://schemas.haansoft.com/office/presentation/8.0" kumimoji="0" lang="en-US" altLang="ko" sz="1400" b="0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xmlns:mc="http://schemas.openxmlformats.org/markup-compatibility/2006" xmlns:hp="http://schemas.haansoft.com/office/presentation/8.0" kumimoji="0" lang="ko" sz="1400" b="0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400" b="0" i="0" u="none" strike="noStrike" kern="0" cap="none" spc="0" normalizeH="0" baseline="0" mc:Ignorable="hp" hp:hslEmbossed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400" b="0" i="0" u="none" strike="noStrike" kern="0" cap="none" spc="0" normalizeH="0" baseline="0" mc:Ignorable="hp" hp:hslEmbossed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" sz="1100" b="0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발표자 : </a:t>
            </a:r>
            <a:r>
              <a:rPr xmlns:mc="http://schemas.openxmlformats.org/markup-compatibility/2006" xmlns:hp="http://schemas.haansoft.com/office/presentation/8.0" kumimoji="0" lang="ko-KR" altLang="en-US" sz="1100" b="0" i="0" u="none" strike="noStrike" kern="0" cap="none" spc="0" normalizeH="0" baseline="0" mc:Ignorable="hp" hp:hslEmbossed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김태영</a:t>
            </a:r>
            <a:endParaRPr xmlns:mc="http://schemas.openxmlformats.org/markup-compatibility/2006" xmlns:hp="http://schemas.haansoft.com/office/presentation/8.0" kumimoji="0" lang="ko-KR" altLang="en-US" sz="1100" b="0" i="0" u="none" strike="noStrike" kern="0" cap="none" spc="0" normalizeH="0" baseline="0" mc:Ignorable="hp" hp:hslEmbossed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109734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스터디원 소개 및 만남 인증</a:t>
            </a:r>
            <a:endParaRPr sz="2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pic>
        <p:nvPicPr>
          <p:cNvPr id="72" name="그림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72682" y="1699859"/>
            <a:ext cx="4044174" cy="2004061"/>
          </a:xfrm>
          <a:prstGeom prst="rect">
            <a:avLst/>
          </a:prstGeom>
        </p:spPr>
      </p:pic>
      <p:sp>
        <p:nvSpPr>
          <p:cNvPr id="73" name="Google Shape;67;p14"/>
          <p:cNvSpPr txBox="1"/>
          <p:nvPr/>
        </p:nvSpPr>
        <p:spPr>
          <a:xfrm>
            <a:off x="6689025" y="1808758"/>
            <a:ext cx="2282100" cy="169274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</a:t>
            </a:r>
            <a:r>
              <a:rPr xmlns:mc="http://schemas.openxmlformats.org/markup-compatibility/2006" xmlns:hp="http://schemas.haansoft.com/office/presentation/8.0" kumimoji="0" lang="ko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 </a:t>
            </a:r>
            <a:r>
              <a:rPr xmlns:mc="http://schemas.openxmlformats.org/markup-compatibility/2006" xmlns:hp="http://schemas.haansoft.com/office/presentation/8.0" kumimoji="0" lang="en-US" altLang="ko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xmlns:mc="http://schemas.openxmlformats.org/markup-compatibility/2006" xmlns:hp="http://schemas.haansoft.com/office/presentation/8.0" kumimoji="0" lang="ko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김태영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</a:t>
            </a:r>
            <a:r>
              <a:rPr xmlns:mc="http://schemas.openxmlformats.org/markup-compatibility/2006" xmlns:hp="http://schemas.haansoft.com/office/presentation/8.0" kumimoji="0" lang="ko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 </a:t>
            </a:r>
            <a:r>
              <a:rPr xmlns:mc="http://schemas.openxmlformats.org/markup-compatibility/2006" xmlns:hp="http://schemas.haansoft.com/office/presentation/8.0" kumimoji="0" lang="en-US" altLang="ko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xmlns:mc="http://schemas.openxmlformats.org/markup-compatibility/2006" xmlns:hp="http://schemas.haansoft.com/office/presentation/8.0" kumimoji="0" lang="ko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장희원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팀원 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: 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한종성 </a:t>
            </a:r>
            <a:endParaRPr xmlns:mc="http://schemas.openxmlformats.org/markup-compatibility/2006" xmlns:hp="http://schemas.haansoft.com/office/presentation/8.0" kumimoji="0" lang="ko-KR" altLang="en-US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sz="14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75;p15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개요 </a:t>
            </a:r>
            <a:endParaRPr xmlns:mc="http://schemas.openxmlformats.org/markup-compatibility/2006" xmlns:hp="http://schemas.haansoft.com/office/presentation/8.0" kumimoji="0" sz="2000" b="1" i="0" u="none" strike="noStrike" kern="0" cap="none" spc="0" normalizeH="0" baseline="0" mc:Ignorable="hp" hp:hslEmbossed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83" name="Picture 2" descr="청소년데이터 공모전 포스터. 이미지 대체텍스트는 아래 게시글 참고바랍니다.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875967" y="993349"/>
            <a:ext cx="2685873" cy="3795128"/>
          </a:xfrm>
          <a:prstGeom prst="rect">
            <a:avLst/>
          </a:prstGeom>
          <a:noFill/>
          <a:ln>
            <a:solidFill>
              <a:srgbClr val="000000">
                <a:alpha val="100000"/>
              </a:srgbClr>
            </a:solidFill>
          </a:ln>
        </p:spPr>
      </p:pic>
      <p:sp>
        <p:nvSpPr>
          <p:cNvPr id="84" name="TextBox 2"/>
          <p:cNvSpPr txBox="1"/>
          <p:nvPr/>
        </p:nvSpPr>
        <p:spPr>
          <a:xfrm>
            <a:off x="4876955" y="1736751"/>
            <a:ext cx="4094170" cy="2308324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-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</a:rPr>
              <a:t>제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</a:rPr>
              <a:t>회 청소년 데이터 분석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</a:rPr>
              <a:t>활용 공모전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47650" marR="0" lvl="0" indent="-247650" algn="just" rtl="0" eaLnBrk="1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-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</a:rPr>
              <a:t>공모주제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</a:rPr>
              <a:t>청소년 데이터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</a:rPr>
              <a:t>를 활용하여 사회문제 예방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·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</a:rPr>
              <a:t>해결과 공공이익 증진에 기여하는 아이디어 및 정책활용 제안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75;p15"/>
          <p:cNvSpPr txBox="1"/>
          <p:nvPr/>
        </p:nvSpPr>
        <p:spPr>
          <a:xfrm>
            <a:off x="2073233" y="1992491"/>
            <a:ext cx="5913299" cy="1107965"/>
          </a:xfrm>
          <a:prstGeom prst="rect">
            <a:avLst/>
          </a:prstGeom>
          <a:solidFill>
            <a:srgbClr val="d9e6fd">
              <a:alpha val="100000"/>
            </a:srgbClr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p>
            <a:pPr marL="0" marR="0" lvl="0" indent="0" algn="ctr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000000"/>
                </a:solidFill>
                <a:effectLst/>
                <a:latin typeface="Arial"/>
                <a:ea typeface="맑은 고딕"/>
              </a:rPr>
              <a:t>청소년 정신건강 인프라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'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000000"/>
                </a:solidFill>
                <a:effectLst/>
                <a:latin typeface="Arial"/>
                <a:ea typeface="맑은 고딕"/>
              </a:rPr>
              <a:t>접근성 사각지대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000000"/>
                </a:solidFill>
                <a:effectLst/>
                <a:latin typeface="맑은 고딕"/>
                <a:ea typeface="맑은 고딕"/>
              </a:rPr>
              <a:t>'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000000"/>
                </a:solidFill>
                <a:effectLst/>
                <a:latin typeface="Arial"/>
                <a:ea typeface="맑은 고딕"/>
              </a:rPr>
              <a:t>식별 및 ‘찾아가는 상담 버스’ 입지 선정</a:t>
            </a:r>
            <a:endParaRPr xmlns:mc="http://schemas.openxmlformats.org/markup-compatibility/2006" xmlns:hp="http://schemas.haansoft.com/office/presentation/8.0" kumimoji="0" sz="1600" b="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NanumGothic ExtraBold"/>
              <a:sym typeface="NanumGothic ExtraBold"/>
            </a:endParaRPr>
          </a:p>
        </p:txBody>
      </p:sp>
      <p:sp>
        <p:nvSpPr>
          <p:cNvPr id="95" name="Google Shape;75;p15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주제 </a:t>
            </a:r>
            <a:endParaRPr xmlns:mc="http://schemas.openxmlformats.org/markup-compatibility/2006" xmlns:hp="http://schemas.haansoft.com/office/presentation/8.0" kumimoji="0" sz="2000" b="1" i="0" u="none" strike="noStrike" kern="0" cap="none" spc="0" normalizeH="0" baseline="0" mc:Ignorable="hp" hp:hslEmbossed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5400505" cy="53022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수집</a:t>
            </a:r>
            <a:endParaRPr lang="ko-KR" altLang="en-US" sz="2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629275" y="1112921"/>
            <a:ext cx="1995237" cy="29487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lang="ko-KR" altLang="en-US"/>
          </a:p>
        </p:txBody>
      </p:sp>
      <p:sp>
        <p:nvSpPr>
          <p:cNvPr id="94" name=""/>
          <p:cNvSpPr txBox="1"/>
          <p:nvPr/>
        </p:nvSpPr>
        <p:spPr>
          <a:xfrm>
            <a:off x="1508960" y="1293395"/>
            <a:ext cx="2456448" cy="295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endParaRPr lang="ko-KR" altLang="en-US"/>
          </a:p>
        </p:txBody>
      </p:sp>
      <p:graphicFrame>
        <p:nvGraphicFramePr>
          <p:cNvPr id="99" name=""/>
          <p:cNvGraphicFramePr/>
          <p:nvPr/>
        </p:nvGraphicFramePr>
        <p:xfrm>
          <a:off x="1751798" y="1208171"/>
          <a:ext cx="7015012" cy="3535680"/>
        </p:xfrm>
        <a:graphic>
          <a:graphicData uri="http://schemas.openxmlformats.org/drawingml/2006/table">
            <a:tbl>
              <a:tblPr firstRow="1" bandRow="1"/>
              <a:tblGrid>
                <a:gridCol w="1753502"/>
                <a:gridCol w="1753502"/>
                <a:gridCol w="1753502"/>
                <a:gridCol w="1754505"/>
              </a:tblGrid>
              <a:tr h="243840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굴림체"/>
                          <a:ea typeface="굴림체"/>
                        </a:rPr>
                        <a:t>분류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굴림체"/>
                        <a:ea typeface="굴림체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eb6b6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굴림체"/>
                          <a:ea typeface="굴림체"/>
                        </a:rPr>
                        <a:t>이름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굴림체"/>
                        <a:ea typeface="굴림체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eb6b6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굴림체"/>
                          <a:ea typeface="굴림체"/>
                        </a:rPr>
                        <a:t>설명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굴림체"/>
                        <a:ea typeface="굴림체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eb6b6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굴림체"/>
                          <a:ea typeface="굴림체"/>
                        </a:rPr>
                        <a:t>출처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굴림체"/>
                        <a:ea typeface="굴림체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eb6b6">
                        <a:alpha val="100000"/>
                      </a:srgbClr>
                    </a:solidFill>
                  </a:tcPr>
                </a:tc>
              </a:tr>
              <a:tr h="853440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인구(수요)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2d8dc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2023년 격자통계(라라/라마/마라/마마), 라라/라마/마라/마마(1K)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청소년 격자 인구 기반으로 읍면동별 총/사각지대 인구 계산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통계지리정보서비스(SGIS)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01040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정신건강 인프라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2d8dc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정신건강 관련기관 정보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경남 정신건강복지센터·병의원 등 공급 인프라 위치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공공데이터포털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96240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청소년복지 인프라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2d8dc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청소년상담복지센터 현황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청소년 전문 상담 시설 위치·운영 정보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공공데이터포털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48640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공간정보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2d8dc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경상남도 SHP 파일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경남 행정구역 자체 구축 및 분석 범위 설정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경남 빅데이터 허브 플랫폼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96240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행정구역 인구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2d8dc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연령별 주민등록 인구현황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읍면동 청소년 인구 구조 파악 및 검증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행정안전부 주민등록 인구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96240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부가 공간정보(후보지)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d2d8dc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주차장·학교·공원·읍면동 하부기관 데이터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주변 환경 분석 및 부가적 접근성 해석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공공데이터포털·행정안전부</a:t>
                      </a:r>
                      <a:endParaRPr xmlns:mc="http://schemas.openxmlformats.org/markup-compatibility/2006" xmlns:hp="http://schemas.haansoft.com/office/presentation/8.0" sz="100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전처리</a:t>
            </a:r>
            <a:endParaRPr lang="ko-KR" altLang="en-US" sz="2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86" name="가로 글상자 84"/>
          <p:cNvSpPr txBox="1"/>
          <p:nvPr/>
        </p:nvSpPr>
        <p:spPr>
          <a:xfrm>
            <a:off x="1540880" y="1351626"/>
            <a:ext cx="7773566" cy="3227994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수요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격자 당 청소년 인구 벡터 데이터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    인구수 격자통계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(csv)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에서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10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~24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세 데이터 추출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lvl="0" indent="0"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     </a:t>
            </a:r>
            <a:r>
              <a:rPr lang="ko-KR" altLang="en-US" sz="1600">
                <a:latin typeface="나눔스퀘어"/>
                <a:ea typeface="나눔스퀘어"/>
              </a:rPr>
              <a:t>→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격자 위치 데이터와 인구수 격자 통계 결합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lvl="0" indent="0">
              <a:buFont typeface="Arial"/>
              <a:buNone/>
              <a:defRPr/>
            </a:pPr>
            <a:r>
              <a:rPr lang="ko-KR" altLang="en-US" sz="1600">
                <a:latin typeface="나눔스퀘어"/>
                <a:ea typeface="나눔스퀘어"/>
              </a:rPr>
              <a:t>      →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격자 당 청소년 인구수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       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공급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인프라 벡터 데이터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    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경상남도 데이터 추출</a:t>
            </a:r>
            <a:endParaRPr lang="ko-KR" altLang="en-US" sz="1600"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lang="ko-KR" altLang="en-US" sz="1600">
                <a:latin typeface="나눔스퀘어"/>
                <a:ea typeface="나눔스퀘어"/>
              </a:rPr>
              <a:t>       →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주소를 위도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경도로 변환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지오 코딩 활용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lvl="0" indent="0">
              <a:buFont typeface="Arial"/>
              <a:buNone/>
              <a:defRPr/>
            </a:pPr>
            <a:r>
              <a:rPr lang="ko-KR" altLang="en-US" sz="1600">
                <a:latin typeface="나눔스퀘어"/>
                <a:ea typeface="나눔스퀘어"/>
              </a:rPr>
              <a:t>       →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csv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에서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shp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로 변환</a:t>
            </a:r>
            <a:endPara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   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분석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사각지대 식별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93" name="가로 글상자 84"/>
          <p:cNvSpPr txBox="1"/>
          <p:nvPr/>
        </p:nvSpPr>
        <p:spPr>
          <a:xfrm>
            <a:off x="1761457" y="1060859"/>
            <a:ext cx="3542462" cy="3013936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접근성 분석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    QGIS의 ORS tool 플러그인을       활용하여, 청소년 상담센터 또는 정신건강 관련 기관에 차량을 통해 15분 내에 접근가능한 지역을 식별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사각지대 식별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     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경상남도 내에서 접근가능한 영역을 제외하여 15분 내에 접근불가능한 사각지대 식별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  <p:pic>
        <p:nvPicPr>
          <p:cNvPr id="9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22612" y="792064"/>
            <a:ext cx="2436255" cy="2021269"/>
          </a:xfrm>
          <a:prstGeom prst="rect">
            <a:avLst/>
          </a:prstGeom>
        </p:spPr>
      </p:pic>
      <p:pic>
        <p:nvPicPr>
          <p:cNvPr id="9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05188" y="2803629"/>
            <a:ext cx="2452986" cy="23398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가로 글상자 84"/>
          <p:cNvSpPr txBox="1"/>
          <p:nvPr/>
        </p:nvSpPr>
        <p:spPr>
          <a:xfrm>
            <a:off x="1678710" y="1015923"/>
            <a:ext cx="7465290" cy="1058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latin typeface="나눔스퀘어"/>
                <a:ea typeface="나눔스퀘어"/>
              </a:rPr>
              <a:t>래스터 이미지 생성</a:t>
            </a:r>
            <a:endParaRPr lang="ko-KR" altLang="en-US" sz="1600" b="1">
              <a:latin typeface="나눔스퀘어"/>
              <a:ea typeface="나눔스퀘어"/>
            </a:endParaRPr>
          </a:p>
          <a:p>
            <a:pPr marL="228480" lvl="0" indent="-228480">
              <a:buFont typeface="Arial"/>
              <a:buChar char="•"/>
              <a:defRPr/>
            </a:pPr>
            <a:r>
              <a:rPr lang="ko-KR" altLang="en-US" sz="1600">
                <a:latin typeface="나눔스퀘어"/>
                <a:ea typeface="나눔스퀘어"/>
              </a:rPr>
              <a:t>구역통계 분석을 위해 위경도 기반 지리좌표계에서 평면고정 좌표계로 재투영</a:t>
            </a:r>
            <a:endParaRPr lang="ko-KR" altLang="en-US" sz="1600">
              <a:latin typeface="나눔스퀘어"/>
              <a:ea typeface="나눔스퀘어"/>
            </a:endParaRPr>
          </a:p>
          <a:p>
            <a:pPr marL="228480" lvl="0" indent="-228480">
              <a:buFont typeface="Arial"/>
              <a:buChar char="•"/>
              <a:defRPr/>
            </a:pPr>
            <a:r>
              <a:rPr lang="ko-KR" altLang="en-US" sz="1600">
                <a:latin typeface="나눔스퀘어"/>
                <a:ea typeface="나눔스퀘어"/>
              </a:rPr>
              <a:t>격자 크기가 1km*1km와 비슷해지도록 해상도를 조절하여 벡터파일을 래스터 이미지로 변환 → 각 셀에 청소년 </a:t>
            </a:r>
            <a:r>
              <a:rPr lang="ko-KR" altLang="en-US" sz="1600">
                <a:solidFill>
                  <a:srgbClr val="000000"/>
                </a:solidFill>
                <a:effectLst/>
                <a:latin typeface="나눔스퀘어"/>
                <a:ea typeface="나눔스퀘어"/>
              </a:rPr>
              <a:t>인구수</a:t>
            </a:r>
            <a:r>
              <a:rPr lang="ko-KR" altLang="en-US" sz="1600">
                <a:latin typeface="나눔스퀘어"/>
                <a:ea typeface="나눔스퀘어"/>
              </a:rPr>
              <a:t> 포함</a:t>
            </a:r>
            <a:endParaRPr lang="ko-KR" altLang="en-US" sz="1600">
              <a:latin typeface="나눔스퀘어"/>
              <a:ea typeface="나눔스퀘어"/>
            </a:endParaRPr>
          </a:p>
        </p:txBody>
      </p:sp>
      <p:sp>
        <p:nvSpPr>
          <p:cNvPr id="87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분석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소외인구 계산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pic>
        <p:nvPicPr>
          <p:cNvPr id="9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33975" y="2315337"/>
            <a:ext cx="2157865" cy="2276715"/>
          </a:xfrm>
          <a:prstGeom prst="rect">
            <a:avLst/>
          </a:prstGeom>
        </p:spPr>
      </p:pic>
      <p:sp>
        <p:nvSpPr>
          <p:cNvPr id="97" name="가로 글상자 84"/>
          <p:cNvSpPr txBox="1"/>
          <p:nvPr/>
        </p:nvSpPr>
        <p:spPr>
          <a:xfrm>
            <a:off x="1668682" y="4673122"/>
            <a:ext cx="3053712" cy="287498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격자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(1K)</a:t>
            </a:r>
            <a:r>
              <a:rPr xmlns:mc="http://schemas.openxmlformats.org/markup-compatibility/2006" xmlns:hp="http://schemas.haansoft.com/office/presentation/8.0" kumimoji="0" lang="ko-KR" altLang="en-US" sz="13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당 청소년 인구수 벡터 데이터</a:t>
            </a:r>
            <a:endParaRPr xmlns:mc="http://schemas.openxmlformats.org/markup-compatibility/2006" xmlns:hp="http://schemas.haansoft.com/office/presentation/8.0" kumimoji="0" lang="ko-KR" altLang="en-US" sz="13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  <p:pic>
        <p:nvPicPr>
          <p:cNvPr id="9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987262" y="2300629"/>
            <a:ext cx="2363109" cy="2263043"/>
          </a:xfrm>
          <a:prstGeom prst="rect">
            <a:avLst/>
          </a:prstGeom>
        </p:spPr>
      </p:pic>
      <p:sp>
        <p:nvSpPr>
          <p:cNvPr id="100" name="가로 글상자 84"/>
          <p:cNvSpPr txBox="1"/>
          <p:nvPr/>
        </p:nvSpPr>
        <p:spPr>
          <a:xfrm>
            <a:off x="5959944" y="4624995"/>
            <a:ext cx="3053713" cy="285492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경상남도 전체 래스터 이미지</a:t>
            </a:r>
            <a:endParaRPr xmlns:mc="http://schemas.openxmlformats.org/markup-compatibility/2006" xmlns:hp="http://schemas.haansoft.com/office/presentation/8.0" kumimoji="0" lang="ko-KR" altLang="en-US" sz="13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  <p:sp>
        <p:nvSpPr>
          <p:cNvPr id="101" name=""/>
          <p:cNvSpPr/>
          <p:nvPr/>
        </p:nvSpPr>
        <p:spPr>
          <a:xfrm>
            <a:off x="4356433" y="3088105"/>
            <a:ext cx="1333500" cy="3007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2" name="가로 글상자 84"/>
          <p:cNvSpPr txBox="1"/>
          <p:nvPr/>
        </p:nvSpPr>
        <p:spPr>
          <a:xfrm>
            <a:off x="4572000" y="2780153"/>
            <a:ext cx="958212" cy="287498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래스터화</a:t>
            </a:r>
            <a:endParaRPr xmlns:mc="http://schemas.openxmlformats.org/markup-compatibility/2006" xmlns:hp="http://schemas.haansoft.com/office/presentation/8.0" kumimoji="0" lang="ko-KR" altLang="en-US" sz="13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가로 글상자 84"/>
          <p:cNvSpPr txBox="1"/>
          <p:nvPr/>
        </p:nvSpPr>
        <p:spPr>
          <a:xfrm>
            <a:off x="1660662" y="995469"/>
            <a:ext cx="7252732" cy="574251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경상남도 읍면동 경계데이터와 인구수 레스터 파일을 겹친 후, </a:t>
            </a:r>
            <a:endPara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구역통계 기능을 활용하여 548개의 읍면동 별 사각지대 청소년 인구수 산출</a:t>
            </a:r>
            <a:endPara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  <p:sp>
        <p:nvSpPr>
          <p:cNvPr id="94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분석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소외인구 계산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pic>
        <p:nvPicPr>
          <p:cNvPr id="9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32470" y="2023155"/>
            <a:ext cx="3013112" cy="2854229"/>
          </a:xfrm>
          <a:prstGeom prst="rect">
            <a:avLst/>
          </a:prstGeom>
        </p:spPr>
      </p:pic>
      <p:sp>
        <p:nvSpPr>
          <p:cNvPr id="96" name="가로 글상자 84"/>
          <p:cNvSpPr txBox="1"/>
          <p:nvPr/>
        </p:nvSpPr>
        <p:spPr>
          <a:xfrm>
            <a:off x="2027897" y="1765489"/>
            <a:ext cx="3644413" cy="287499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사각지대 내 읍면동 별 청소년 인구수</a:t>
            </a:r>
            <a:endParaRPr xmlns:mc="http://schemas.openxmlformats.org/markup-compatibility/2006" xmlns:hp="http://schemas.haansoft.com/office/presentation/8.0" kumimoji="0" lang="ko-KR" altLang="en-US" sz="13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  <p:graphicFrame>
        <p:nvGraphicFramePr>
          <p:cNvPr id="98" name=""/>
          <p:cNvGraphicFramePr/>
          <p:nvPr/>
        </p:nvGraphicFramePr>
        <p:xfrm>
          <a:off x="5959743" y="2050381"/>
          <a:ext cx="2379043" cy="2864754"/>
        </p:xfrm>
        <a:graphic>
          <a:graphicData uri="http://schemas.openxmlformats.org/drawingml/2006/table">
            <a:tbl>
              <a:tblPr firstRow="1" bandRow="1"/>
              <a:tblGrid>
                <a:gridCol w="1189521"/>
                <a:gridCol w="1189521"/>
              </a:tblGrid>
              <a:tr h="148353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동읍면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eb6b6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청소년 인구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beb6b6">
                        <a:alpha val="100000"/>
                      </a:srgbClr>
                    </a:solidFill>
                  </a:tcPr>
                </a:tc>
              </a:tr>
              <a:tr h="262091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신안면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606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2091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하남읍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504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2091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현동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418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2091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옥종면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402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2091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단성면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381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2091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삼랑진읍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380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2091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시천면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365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2091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산내면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320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2091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단장면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311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62091"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이방면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돋움"/>
                          <a:ea typeface="돋움"/>
                        </a:rPr>
                        <a:t>292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돋움"/>
                        <a:ea typeface="돋움"/>
                      </a:endParaRPr>
                    </a:p>
                  </a:txBody>
                  <a:tcPr marL="91440" marR="91440">
                    <a:lnL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921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9" name="가로 글상자 84"/>
          <p:cNvSpPr txBox="1"/>
          <p:nvPr/>
        </p:nvSpPr>
        <p:spPr>
          <a:xfrm>
            <a:off x="5981276" y="1767493"/>
            <a:ext cx="2591649" cy="287499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사각지대 내 소외인구 </a:t>
            </a:r>
            <a:r>
              <a:rPr xmlns:mc="http://schemas.openxmlformats.org/markup-compatibility/2006" xmlns:hp="http://schemas.haansoft.com/office/presentation/8.0" kumimoji="0" lang="en-US" altLang="ko-KR" sz="13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TOP 10</a:t>
            </a:r>
            <a:endParaRPr xmlns:mc="http://schemas.openxmlformats.org/markup-compatibility/2006" xmlns:hp="http://schemas.haansoft.com/office/presentation/8.0" kumimoji="0" lang="en-US" altLang="ko-KR" sz="13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가로 글상자 84"/>
          <p:cNvSpPr txBox="1"/>
          <p:nvPr/>
        </p:nvSpPr>
        <p:spPr>
          <a:xfrm>
            <a:off x="1658657" y="1043595"/>
            <a:ext cx="3353650" cy="33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b="1">
                <a:latin typeface="나눔스퀘어"/>
                <a:ea typeface="나눔스퀘어"/>
              </a:rPr>
              <a:t>K - means Clustering</a:t>
            </a:r>
            <a:endParaRPr lang="en-US" altLang="ko-KR" sz="1600" b="1">
              <a:latin typeface="나눔스퀘어"/>
              <a:ea typeface="나눔스퀘어"/>
            </a:endParaRPr>
          </a:p>
        </p:txBody>
      </p:sp>
      <p:sp>
        <p:nvSpPr>
          <p:cNvPr id="93" name="가로 글상자 84"/>
          <p:cNvSpPr txBox="1"/>
          <p:nvPr/>
        </p:nvSpPr>
        <p:spPr>
          <a:xfrm>
            <a:off x="1700768" y="1456679"/>
            <a:ext cx="3202101" cy="817891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1. 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데이터 표준화 진행</a:t>
            </a:r>
            <a:endPara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elbow method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로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k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개수 결정</a:t>
            </a:r>
            <a:endPara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k means</a:t>
            </a:r>
            <a:r>
              <a: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클러스터링 진행</a:t>
            </a:r>
            <a:endParaRPr xmlns:mc="http://schemas.openxmlformats.org/markup-compatibility/2006" xmlns:hp="http://schemas.haansoft.com/office/presentation/8.0" kumimoji="0" lang="ko-KR" altLang="en-US" sz="160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  <p:sp>
        <p:nvSpPr>
          <p:cNvPr id="97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분석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최적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입지 선정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pic>
        <p:nvPicPr>
          <p:cNvPr id="9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263815" y="998820"/>
            <a:ext cx="2511771" cy="1572929"/>
          </a:xfrm>
          <a:prstGeom prst="rect">
            <a:avLst/>
          </a:prstGeom>
        </p:spPr>
      </p:pic>
      <p:sp>
        <p:nvSpPr>
          <p:cNvPr id="102" name="가로 글상자 84"/>
          <p:cNvSpPr txBox="1"/>
          <p:nvPr/>
        </p:nvSpPr>
        <p:spPr>
          <a:xfrm>
            <a:off x="5390453" y="2571750"/>
            <a:ext cx="2510285" cy="286496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3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elbow method</a:t>
            </a:r>
            <a:r>
              <a:rPr xmlns:mc="http://schemas.openxmlformats.org/markup-compatibility/2006" xmlns:hp="http://schemas.haansoft.com/office/presentation/8.0" kumimoji="0" lang="ko-KR" altLang="en-US" sz="13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수행 결과 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k = 4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34845" y="2913216"/>
            <a:ext cx="3037154" cy="2039783"/>
          </a:xfrm>
          <a:prstGeom prst="rect">
            <a:avLst/>
          </a:prstGeom>
        </p:spPr>
      </p:pic>
      <p:sp>
        <p:nvSpPr>
          <p:cNvPr id="107" name="가로 글상자 84"/>
          <p:cNvSpPr txBox="1"/>
          <p:nvPr/>
        </p:nvSpPr>
        <p:spPr>
          <a:xfrm>
            <a:off x="4572000" y="3584262"/>
            <a:ext cx="4313016" cy="1001373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클러스터 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2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: 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위험도 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87.3%,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사각지대 인구 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360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명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클러스터 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1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: 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위험도 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93.4%,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사각지대 인구 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92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명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가로 글상자 84"/>
          <p:cNvSpPr txBox="1"/>
          <p:nvPr/>
        </p:nvSpPr>
        <p:spPr>
          <a:xfrm>
            <a:off x="1478186" y="1093728"/>
            <a:ext cx="7344126" cy="1057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latin typeface="나눔스퀘어"/>
                <a:ea typeface="나눔스퀘어"/>
              </a:rPr>
              <a:t>최대 커버리지 위치 분석 </a:t>
            </a:r>
            <a:r>
              <a:rPr lang="en-US" altLang="ko-KR" sz="1600" b="1">
                <a:latin typeface="나눔스퀘어"/>
                <a:ea typeface="나눔스퀘어"/>
              </a:rPr>
              <a:t>(MCLP)</a:t>
            </a:r>
            <a:r>
              <a:rPr lang="ko-KR" altLang="en-US" sz="1600" b="1">
                <a:latin typeface="나눔스퀘어"/>
                <a:ea typeface="나눔스퀘어"/>
              </a:rPr>
              <a:t> </a:t>
            </a:r>
            <a:r>
              <a:rPr lang="en-US" altLang="ko-KR" sz="1600" b="1">
                <a:latin typeface="나눔스퀘어"/>
                <a:ea typeface="나눔스퀘어"/>
              </a:rPr>
              <a:t>:</a:t>
            </a:r>
            <a:endParaRPr lang="en-US" altLang="ko-KR" sz="1600" b="1">
              <a:latin typeface="나눔스퀘어"/>
              <a:ea typeface="나눔스퀘어"/>
            </a:endParaRP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시설을 </a:t>
            </a:r>
            <a:r>
              <a:rPr lang="en-US" altLang="ko-KR" sz="1600">
                <a:latin typeface="나눔스퀘어"/>
                <a:ea typeface="나눔스퀘어"/>
              </a:rPr>
              <a:t>p</a:t>
            </a:r>
            <a:r>
              <a:rPr lang="ko-KR" altLang="en-US" sz="1600">
                <a:latin typeface="나눔스퀘어"/>
                <a:ea typeface="나눔스퀘어"/>
              </a:rPr>
              <a:t>개 배치할 때</a:t>
            </a:r>
            <a:r>
              <a:rPr lang="en-US" altLang="ko-KR" sz="1600">
                <a:latin typeface="나눔스퀘어"/>
                <a:ea typeface="나눔스퀘어"/>
              </a:rPr>
              <a:t>,</a:t>
            </a:r>
            <a:r>
              <a:rPr lang="ko-KR" altLang="en-US" sz="1600">
                <a:latin typeface="나눔스퀘어"/>
                <a:ea typeface="나눔스퀘어"/>
              </a:rPr>
              <a:t> 가장 많은 수요를 커버할 수 있는 위치를 찾는 최적화 모델</a:t>
            </a:r>
            <a:endParaRPr lang="ko-KR" altLang="en-US" sz="1600">
              <a:latin typeface="나눔스퀘어"/>
              <a:ea typeface="나눔스퀘어"/>
            </a:endParaRPr>
          </a:p>
          <a:p>
            <a:pPr lvl="0">
              <a:defRPr/>
            </a:pPr>
            <a:endParaRPr lang="ko-KR" altLang="en-US" sz="1600">
              <a:latin typeface="나눔스퀘어"/>
              <a:ea typeface="나눔스퀘어"/>
            </a:endParaRPr>
          </a:p>
          <a:p>
            <a:pPr lvl="0">
              <a:defRPr/>
            </a:pPr>
            <a:r>
              <a:rPr lang="ko-KR" altLang="en-US" sz="1600">
                <a:latin typeface="나눔스퀘어"/>
                <a:ea typeface="나눔스퀘어"/>
              </a:rPr>
              <a:t>목표 </a:t>
            </a:r>
            <a:r>
              <a:rPr lang="en-US" altLang="ko-KR" sz="1600">
                <a:latin typeface="나눔스퀘어"/>
                <a:ea typeface="나눔스퀘어"/>
              </a:rPr>
              <a:t>:</a:t>
            </a:r>
            <a:r>
              <a:rPr lang="ko-KR" altLang="en-US" sz="1600">
                <a:latin typeface="나눔스퀘어"/>
                <a:ea typeface="나눔스퀘어"/>
              </a:rPr>
              <a:t> 도보 </a:t>
            </a:r>
            <a:r>
              <a:rPr lang="en-US" altLang="ko-KR" sz="1600">
                <a:latin typeface="나눔스퀘어"/>
                <a:ea typeface="나눔스퀘어"/>
              </a:rPr>
              <a:t>15</a:t>
            </a:r>
            <a:r>
              <a:rPr lang="ko-KR" altLang="en-US" sz="1600">
                <a:latin typeface="나눔스퀘어"/>
                <a:ea typeface="나눔스퀘어"/>
              </a:rPr>
              <a:t>분 이내 청소년 수요를 최대로 커버할 수 있는 </a:t>
            </a:r>
            <a:r>
              <a:rPr lang="en-US" altLang="ko-KR" sz="1600">
                <a:latin typeface="나눔스퀘어"/>
                <a:ea typeface="나눔스퀘어"/>
              </a:rPr>
              <a:t>p</a:t>
            </a:r>
            <a:r>
              <a:rPr lang="ko-KR" altLang="en-US" sz="1600">
                <a:latin typeface="나눔스퀘어"/>
                <a:ea typeface="나눔스퀘어"/>
              </a:rPr>
              <a:t>개의 지점 탐색</a:t>
            </a:r>
            <a:endParaRPr lang="ko-KR" altLang="en-US" sz="1600">
              <a:latin typeface="나눔스퀘어"/>
              <a:ea typeface="나눔스퀘어"/>
            </a:endParaRPr>
          </a:p>
        </p:txBody>
      </p:sp>
      <p:sp>
        <p:nvSpPr>
          <p:cNvPr id="88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분석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최적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입지 선정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"/>
              <p:cNvSpPr/>
              <p:nvPr/>
            </p:nvSpPr>
            <p:spPr>
              <a:xfrm>
                <a:off x="1568114" y="2441408"/>
                <a:ext cx="2552700" cy="838200"/>
              </a:xfrm>
              <a:custGeom>
                <a:avLst/>
                <a:gd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 xmlns:m="http://schemas.openxmlformats.org/officeDocument/2006/math" xmlns:mc="http://schemas.openxmlformats.org/markup-compatibility/2006" xmlns:ho="http://schemas.haansoft.com/office/8.0" mc:Ignorable="ho" ho:hncCreate="1">
                  <m:oMathPara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 xml:space="preserve">Maximize Z = 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sz="1800" i="1">
                              <a:latin typeface="Cambria Math"/>
                              <a:sym typeface="Cambria Math"/>
                            </a:rPr>
                          </m:ctrlPr>
                        </m:naryPr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∈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sz="18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sz="1800" i="1">
                                  <a:latin typeface="Cambria Math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89" name=""/>
              <p:cNvSpPr txBox="1"/>
              <p:nvPr/>
            </p:nvSpPr>
            <p:spPr>
              <a:xfrm>
                <a:off x="1568114" y="2441408"/>
                <a:ext cx="2552700" cy="8382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</p:sp>
        </mc:Fallback>
      </mc:AlternateContent>
      <p:graphicFrame>
        <p:nvGraphicFramePr>
          <p:cNvPr id="98" name=""/>
          <p:cNvGraphicFramePr>
            <a:graphicFrameLocks noGrp="1"/>
          </p:cNvGraphicFramePr>
          <p:nvPr/>
        </p:nvGraphicFramePr>
        <p:xfrm>
          <a:off x="4231105" y="2404644"/>
          <a:ext cx="3791852" cy="942073"/>
        </p:xfrm>
        <a:graphic>
          <a:graphicData uri="http://schemas.openxmlformats.org/drawingml/2006/table">
            <a:tbl>
              <a:tblPr bandRow="1">
                <a:tableStyleId>{01A66EDD-3DAB-4C5B-A090-DC80EC1FD486}</a:tableStyleId>
              </a:tblPr>
              <a:tblGrid>
                <a:gridCol w="473833"/>
                <a:gridCol w="3318019"/>
              </a:tblGrid>
              <a:tr h="31402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200"/>
                        <a:t>Z</a:t>
                      </a:r>
                      <a:endParaRPr lang="en-US" altLang="ko-KR" sz="1200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/>
                        <a:t>전체 커버된 수요의 합</a:t>
                      </a:r>
                      <a:endParaRPr lang="ko-KR" altLang="en-US" sz="1200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1402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/>
                        <a:t>aᵢ</a:t>
                      </a:r>
                      <a:endParaRPr lang="ko-KR" altLang="en-US" sz="1200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/>
                        <a:t>수요점의 가중치 (해당 격자에 사는 청소년 수)</a:t>
                      </a:r>
                      <a:endParaRPr lang="ko-KR" altLang="en-US" sz="1200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31402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/>
                        <a:t>yᵢ</a:t>
                      </a:r>
                      <a:endParaRPr lang="ko-KR" altLang="en-US" sz="1200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/>
                        <a:t>수요점이 커버되면 1, 커버되지 않으면 0</a:t>
                      </a:r>
                      <a:endParaRPr lang="ko-KR" altLang="en-US" sz="1200"/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분석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최적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입지 선정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94" name="가로 글상자 84"/>
          <p:cNvSpPr txBox="1"/>
          <p:nvPr/>
        </p:nvSpPr>
        <p:spPr>
          <a:xfrm>
            <a:off x="1639453" y="963385"/>
            <a:ext cx="7344126" cy="818892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Coverage Curve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분석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p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값 선정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시설 수를 늘려가며 총 커버되는 수요량을 분석하여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투자 효율성이 가장 높은 지점</a:t>
            </a:r>
            <a:r>
              <a:rPr xmlns:mc="http://schemas.openxmlformats.org/markup-compatibility/2006" xmlns:hp="http://schemas.haansoft.com/office/presentation/8.0" kumimoji="0" lang="en-US" altLang="ko-KR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(p)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을 선정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  <p:pic>
        <p:nvPicPr>
          <p:cNvPr id="9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104900" y="1904931"/>
            <a:ext cx="5214937" cy="1911674"/>
          </a:xfrm>
          <a:prstGeom prst="rect">
            <a:avLst/>
          </a:prstGeom>
        </p:spPr>
      </p:pic>
      <p:sp>
        <p:nvSpPr>
          <p:cNvPr id="96" name="가로 글상자 84"/>
          <p:cNvSpPr txBox="1"/>
          <p:nvPr/>
        </p:nvSpPr>
        <p:spPr>
          <a:xfrm>
            <a:off x="2073014" y="3951127"/>
            <a:ext cx="5609573" cy="51319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 p = 4(총 수요의 24.89% 커버): 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비용 효율성을 극대화하면서커버리지를 확보하는 가장 합리적인 지점 </a:t>
            </a:r>
            <a:endParaRPr xmlns:mc="http://schemas.openxmlformats.org/markup-compatibility/2006" xmlns:hp="http://schemas.haansoft.com/office/presentation/8.0" kumimoji="0" lang="ko-KR" altLang="en-US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데이터 분석 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최적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입지 선정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0" cap="none" spc="0" normalizeH="0" baseline="0" mc:Ignorable="hp" hp:hslEmbossed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pic>
        <p:nvPicPr>
          <p:cNvPr id="9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52965" y="1132971"/>
            <a:ext cx="3271331" cy="3456197"/>
          </a:xfrm>
          <a:prstGeom prst="rect">
            <a:avLst/>
          </a:prstGeom>
        </p:spPr>
      </p:pic>
      <p:sp>
        <p:nvSpPr>
          <p:cNvPr id="98" name="가로 글상자 84"/>
          <p:cNvSpPr txBox="1"/>
          <p:nvPr/>
        </p:nvSpPr>
        <p:spPr>
          <a:xfrm>
            <a:off x="5271410" y="2447180"/>
            <a:ext cx="2812230" cy="569337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총 커버된 수요량: 3,138명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  <a:solidFill>
                  <a:srgbClr val="000000"/>
                </a:solidFill>
                <a:latin typeface="나눔스퀘어"/>
                <a:ea typeface="나눔스퀘어"/>
              </a:rPr>
              <a:t>커버리지율: 25.19%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0" cap="none" spc="0" normalizeH="0" baseline="0" mc:Ignorable="hp" hp:hslEmbossed="0">
              <a:solidFill>
                <a:srgbClr val="000000"/>
              </a:solidFill>
              <a:latin typeface="나눔스퀘어"/>
              <a:ea typeface="나눔스퀘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812288" y="880625"/>
            <a:ext cx="6374333" cy="3621191"/>
          </a:xfrm>
          <a:prstGeom prst="rect">
            <a:avLst/>
          </a:prstGeom>
        </p:spPr>
      </p:pic>
      <p:sp>
        <p:nvSpPr>
          <p:cNvPr id="82" name=""/>
          <p:cNvSpPr/>
          <p:nvPr/>
        </p:nvSpPr>
        <p:spPr>
          <a:xfrm>
            <a:off x="1945105" y="2571750"/>
            <a:ext cx="6146131" cy="315829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3466376" y="2125489"/>
            <a:ext cx="279291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감사합니다</a:t>
            </a:r>
            <a:endParaRPr sz="4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1689366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488</ep:Words>
  <ep:PresentationFormat>화면 슬라이드 쇼(16:9)</ep:PresentationFormat>
  <ep:Paragraphs>66</ep:Paragraphs>
  <ep:Slides>15</ep:Slides>
  <ep:Notes>15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조효원</dc:creator>
  <cp:lastModifiedBy>js</cp:lastModifiedBy>
  <dcterms:modified xsi:type="dcterms:W3CDTF">2025-11-23T12:43:33.833</dcterms:modified>
  <cp:revision>154</cp:revision>
  <dc:title>PowerPoint 프레젠테이션</dc:title>
  <cp:version>1000.0000.01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