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1" r:id="rId1"/>
  </p:sldMasterIdLst>
  <p:notesMasterIdLst>
    <p:notesMasterId r:id="rId13"/>
  </p:notesMasterIdLst>
  <p:sldIdLst>
    <p:sldId id="256" r:id="rId2"/>
    <p:sldId id="257" r:id="rId3"/>
    <p:sldId id="267" r:id="rId4"/>
    <p:sldId id="269" r:id="rId5"/>
    <p:sldId id="268" r:id="rId6"/>
    <p:sldId id="270" r:id="rId7"/>
    <p:sldId id="271" r:id="rId8"/>
    <p:sldId id="274" r:id="rId9"/>
    <p:sldId id="272" r:id="rId10"/>
    <p:sldId id="273" r:id="rId11"/>
    <p:sldId id="275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</a:rPr>
              <a:t>프로젝트</a:t>
            </a:r>
            <a:r>
              <a:rPr lang="ko" sz="2500" b="1" dirty="0">
                <a:solidFill>
                  <a:srgbClr val="19264B"/>
                </a:solidFill>
              </a:rPr>
              <a:t> </a:t>
            </a:r>
            <a:r>
              <a:rPr lang="en-US" altLang="ko" sz="2500" b="1" dirty="0">
                <a:solidFill>
                  <a:srgbClr val="19264B"/>
                </a:solidFill>
              </a:rPr>
              <a:t>DA 2</a:t>
            </a:r>
            <a:r>
              <a:rPr lang="ko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5.11.03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한종성</a:t>
            </a:r>
            <a:endParaRPr lang="en-US" altLang="ko"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팀</a:t>
            </a:r>
            <a:r>
              <a:rPr lang="ko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원 소개 및 만남 인증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689025" y="1808758"/>
            <a:ext cx="22821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팀</a:t>
            </a:r>
            <a:r>
              <a:rPr lang="ko" dirty="0"/>
              <a:t>원 </a:t>
            </a:r>
            <a:r>
              <a:rPr lang="en-US" altLang="ko" dirty="0"/>
              <a:t>1</a:t>
            </a:r>
            <a:r>
              <a:rPr lang="ko" dirty="0"/>
              <a:t> : </a:t>
            </a:r>
            <a:r>
              <a:rPr lang="ko-KR" altLang="en-US" dirty="0"/>
              <a:t>김태영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팀</a:t>
            </a:r>
            <a:r>
              <a:rPr lang="ko" dirty="0"/>
              <a:t>원 </a:t>
            </a:r>
            <a:r>
              <a:rPr lang="en-US" altLang="ko" dirty="0"/>
              <a:t>2</a:t>
            </a:r>
            <a:r>
              <a:rPr lang="ko" dirty="0"/>
              <a:t> : </a:t>
            </a:r>
            <a:r>
              <a:rPr lang="ko-KR" altLang="en-US" dirty="0" err="1"/>
              <a:t>장희원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팀원 </a:t>
            </a:r>
            <a:r>
              <a:rPr lang="en-US" altLang="ko-KR" dirty="0"/>
              <a:t>3 : </a:t>
            </a:r>
            <a:r>
              <a:rPr lang="ko-KR" altLang="en-US" dirty="0"/>
              <a:t>한종성 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65;p14">
            <a:extLst>
              <a:ext uri="{FF2B5EF4-FFF2-40B4-BE49-F238E27FC236}">
                <a16:creationId xmlns:a16="http://schemas.microsoft.com/office/drawing/2014/main" id="{A633C2CA-279E-9B6D-4E4B-E0B25DA8B2B1}"/>
              </a:ext>
            </a:extLst>
          </p:cNvPr>
          <p:cNvSpPr/>
          <p:nvPr/>
        </p:nvSpPr>
        <p:spPr>
          <a:xfrm>
            <a:off x="1524246" y="99459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E2A7B6-35F7-50F5-3D39-2B4A2210C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682" y="1699859"/>
            <a:ext cx="4044174" cy="2004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개요 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1026" name="Picture 2" descr="청소년데이터 공모전 포스터. 이미지 대체텍스트는 아래 게시글 참고바랍니다.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875967" y="993349"/>
            <a:ext cx="2685873" cy="37951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4876955" y="1736751"/>
            <a:ext cx="40941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>
                <a:latin typeface="+mn-ea"/>
                <a:ea typeface="+mn-ea"/>
              </a:rPr>
              <a:t>- </a:t>
            </a:r>
            <a:r>
              <a:rPr lang="ko-KR" altLang="en-US" sz="1600">
                <a:latin typeface="+mn-ea"/>
                <a:ea typeface="+mn-ea"/>
              </a:rPr>
              <a:t>제 </a:t>
            </a:r>
            <a:r>
              <a:rPr lang="en-US" altLang="ko-KR" sz="1600">
                <a:latin typeface="+mn-ea"/>
                <a:ea typeface="+mn-ea"/>
              </a:rPr>
              <a:t>2</a:t>
            </a:r>
            <a:r>
              <a:rPr lang="ko-KR" altLang="en-US" sz="1600">
                <a:latin typeface="+mn-ea"/>
                <a:ea typeface="+mn-ea"/>
              </a:rPr>
              <a:t>회 청소년 데이터 분석</a:t>
            </a:r>
            <a:r>
              <a:rPr lang="en-US" altLang="ko-KR" sz="1600">
                <a:latin typeface="+mn-ea"/>
                <a:ea typeface="+mn-ea"/>
              </a:rPr>
              <a:t>/</a:t>
            </a:r>
            <a:r>
              <a:rPr lang="ko-KR" altLang="en-US" sz="1600">
                <a:latin typeface="+mn-ea"/>
                <a:ea typeface="+mn-ea"/>
              </a:rPr>
              <a:t>활용 공모전</a:t>
            </a:r>
          </a:p>
          <a:p>
            <a:pPr lvl="0">
              <a:defRPr/>
            </a:pPr>
            <a:endParaRPr lang="en-US" altLang="ko-KR" sz="1600" b="1">
              <a:latin typeface="+mn-ea"/>
              <a:ea typeface="+mn-ea"/>
            </a:endParaRPr>
          </a:p>
          <a:p>
            <a:pPr marL="247650" marR="0" indent="-247650" algn="just" latinLnBrk="1">
              <a:lnSpc>
                <a:spcPct val="150000"/>
              </a:lnSpc>
              <a:defRPr/>
            </a:pPr>
            <a:r>
              <a:rPr lang="en-US" altLang="ko-KR" sz="1600">
                <a:latin typeface="+mn-ea"/>
                <a:ea typeface="+mn-ea"/>
              </a:rPr>
              <a:t>- </a:t>
            </a:r>
            <a:r>
              <a:rPr lang="ko-KR" altLang="en-US" sz="1600">
                <a:latin typeface="+mn-ea"/>
                <a:ea typeface="+mn-ea"/>
              </a:rPr>
              <a:t>공모주제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600" b="1">
                <a:latin typeface="+mn-ea"/>
                <a:ea typeface="+mn-ea"/>
              </a:rPr>
              <a:t>청소년 데이터</a:t>
            </a:r>
            <a:r>
              <a:rPr lang="ko-KR" altLang="en-US" sz="1600">
                <a:latin typeface="+mn-ea"/>
                <a:ea typeface="+mn-ea"/>
              </a:rPr>
              <a:t>를 활용하여 사회문제 예방</a:t>
            </a:r>
            <a:r>
              <a:rPr lang="en-US" altLang="ko-KR" sz="1600">
                <a:latin typeface="+mn-ea"/>
                <a:ea typeface="+mn-ea"/>
              </a:rPr>
              <a:t>·</a:t>
            </a:r>
            <a:r>
              <a:rPr lang="ko-KR" altLang="en-US" sz="1600">
                <a:latin typeface="+mn-ea"/>
                <a:ea typeface="+mn-ea"/>
              </a:rPr>
              <a:t>해결과 공공이익 증진에 기여하는 아이디어 및 정책활용 제안</a:t>
            </a:r>
          </a:p>
          <a:p>
            <a:pPr lvl="0">
              <a:defRPr/>
            </a:pPr>
            <a:endParaRPr lang="ko-KR" altLang="en-US" sz="1600" b="1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B5635C6-8A06-DA6E-D421-391ACFD7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00BAFD5-035C-988E-E746-FFD98F94287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DB9572C-7937-4B10-5932-308B991843E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67978FEA-33E0-E7A4-8BBF-8FF8268FDC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4113E9D-0232-C26E-9B9D-25EED58C4354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선정 이유 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BBF254-B647-1DAF-8445-CD3C14CE2CD7}"/>
              </a:ext>
            </a:extLst>
          </p:cNvPr>
          <p:cNvSpPr txBox="1"/>
          <p:nvPr/>
        </p:nvSpPr>
        <p:spPr>
          <a:xfrm>
            <a:off x="4805660" y="1775669"/>
            <a:ext cx="3911620" cy="1891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algn="just" fontAlgn="base" latinLnBrk="1"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공공데이터를 활용한 데이터 분석을 통해 정책을 제안하고 사회 문제 해결에 기여</a:t>
            </a:r>
            <a:endParaRPr lang="en-US" altLang="ko-KR" sz="1600" dirty="0"/>
          </a:p>
          <a:p>
            <a:pPr marR="0" algn="just" fontAlgn="base" latinLnBrk="1">
              <a:lnSpc>
                <a:spcPct val="150000"/>
              </a:lnSpc>
            </a:pPr>
            <a:endParaRPr lang="en-US" altLang="ko-KR" sz="1600" dirty="0"/>
          </a:p>
          <a:p>
            <a:pPr marL="285750" marR="0" indent="-285750" algn="just" fontAlgn="base" latinLnBrk="1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+mn-ea"/>
                <a:ea typeface="+mn-ea"/>
              </a:rPr>
              <a:t>데이터 분석 역량 강화</a:t>
            </a:r>
            <a:endParaRPr lang="en-US" altLang="ko-KR" sz="1600" dirty="0">
              <a:latin typeface="+mn-ea"/>
              <a:ea typeface="+mn-ea"/>
            </a:endParaRPr>
          </a:p>
        </p:txBody>
      </p:sp>
      <p:pic>
        <p:nvPicPr>
          <p:cNvPr id="1026" name="Picture 2" descr="청소년데이터 공모전 포스터. 이미지 대체텍스트는 아래 게시글 참고바랍니다.">
            <a:extLst>
              <a:ext uri="{FF2B5EF4-FFF2-40B4-BE49-F238E27FC236}">
                <a16:creationId xmlns:a16="http://schemas.microsoft.com/office/drawing/2014/main" id="{3CF87D27-E832-960C-7AD1-46E979F49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967" y="993349"/>
            <a:ext cx="2685873" cy="379512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74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818E1021-BE90-EAB5-C7EC-EB57B6928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3981750-C87C-CECC-3174-AA5DECB5B60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A2400690-50FE-8A5B-8EEC-6D545AB42D6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C9AC26F9-7433-1293-D95A-9B6F386933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F96B109-C64A-733C-3917-B4E0E420DCF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일정 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8E2C349-D4A7-9BEC-571F-6B7A2D3E8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570731"/>
              </p:ext>
            </p:extLst>
          </p:nvPr>
        </p:nvGraphicFramePr>
        <p:xfrm>
          <a:off x="2042160" y="171831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320">
                  <a:extLst>
                    <a:ext uri="{9D8B030D-6E8A-4147-A177-3AD203B41FA5}">
                      <a16:colId xmlns:a16="http://schemas.microsoft.com/office/drawing/2014/main" val="1850416689"/>
                    </a:ext>
                  </a:extLst>
                </a:gridCol>
                <a:gridCol w="4805680">
                  <a:extLst>
                    <a:ext uri="{9D8B030D-6E8A-4147-A177-3AD203B41FA5}">
                      <a16:colId xmlns:a16="http://schemas.microsoft.com/office/drawing/2014/main" val="19806743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685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 / 2 (</a:t>
                      </a:r>
                      <a:r>
                        <a:rPr lang="ko-KR" altLang="en-US" dirty="0"/>
                        <a:t>일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주제 선정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2549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 / 8 (</a:t>
                      </a:r>
                      <a:r>
                        <a:rPr lang="ko-KR" altLang="en-US" dirty="0"/>
                        <a:t>토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회의 진행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데이터 분석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676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 / 15 (</a:t>
                      </a:r>
                      <a:r>
                        <a:rPr lang="ko-KR" altLang="en-US" dirty="0"/>
                        <a:t>토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보고서 작성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051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 / 18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최종 제출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688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046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77AFFA6-44C7-4835-A8FB-09C0B4668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5761D1C-C537-E46E-403D-6AAD0CEB2A8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72D45646-9FC7-5452-2478-89FBC054C2F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5CF51220-BB3A-0206-F307-0A135AC2EB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D63D0CD8-BDB2-E32D-C4C7-CAC01E3801F4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프로젝트 주제 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5" name="Google Shape;75;p15">
            <a:extLst>
              <a:ext uri="{FF2B5EF4-FFF2-40B4-BE49-F238E27FC236}">
                <a16:creationId xmlns:a16="http://schemas.microsoft.com/office/drawing/2014/main" id="{66247841-D956-403B-C247-E45ECC111722}"/>
              </a:ext>
            </a:extLst>
          </p:cNvPr>
          <p:cNvSpPr txBox="1"/>
          <p:nvPr/>
        </p:nvSpPr>
        <p:spPr>
          <a:xfrm>
            <a:off x="2073233" y="1992491"/>
            <a:ext cx="5913299" cy="11079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effectLst/>
                <a:latin typeface="+mn-ea"/>
                <a:ea typeface="+mn-ea"/>
              </a:rPr>
              <a:t>청소년 정신건강 인프라 </a:t>
            </a:r>
            <a:r>
              <a:rPr lang="en-US" altLang="ko-KR" sz="2000" b="1" dirty="0">
                <a:effectLst/>
                <a:latin typeface="+mn-ea"/>
                <a:ea typeface="+mn-ea"/>
              </a:rPr>
              <a:t>'</a:t>
            </a:r>
            <a:r>
              <a:rPr lang="ko-KR" altLang="en-US" sz="2000" b="1" dirty="0">
                <a:effectLst/>
                <a:latin typeface="+mn-ea"/>
                <a:ea typeface="+mn-ea"/>
              </a:rPr>
              <a:t>접근성 사각지대</a:t>
            </a:r>
            <a:r>
              <a:rPr lang="en-US" altLang="ko-KR" sz="2000" b="1" dirty="0">
                <a:effectLst/>
                <a:latin typeface="+mn-ea"/>
                <a:ea typeface="+mn-ea"/>
              </a:rPr>
              <a:t>' </a:t>
            </a:r>
            <a:r>
              <a:rPr lang="ko-KR" altLang="en-US" sz="2000" b="1" dirty="0">
                <a:effectLst/>
                <a:latin typeface="+mn-ea"/>
                <a:ea typeface="+mn-ea"/>
              </a:rPr>
              <a:t>식별 및 ‘찾아가는 상담 버스’ 입지 선정</a:t>
            </a:r>
            <a:endParaRPr sz="1600" dirty="0">
              <a:solidFill>
                <a:schemeClr val="tx1"/>
              </a:solidFill>
              <a:latin typeface="+mn-ea"/>
              <a:ea typeface="+mn-ea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90661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주제 선정 배경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2" name="Picture 2" descr="건강보험심사평가원 ' 시군구별 주요 정신질환 진료 통계' (2018~2022년) 시군구별 아동청소년 주요 정신질환 진료 통계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516523" y="1411199"/>
            <a:ext cx="3525320" cy="175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050" name="Picture 2" descr="정신건강관련 기관 설치 현황' (2020~2023년) 정신건강관련 기관 설치 현황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676564" y="951250"/>
            <a:ext cx="3047110" cy="2219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Google Shape;75;p15"/>
          <p:cNvSpPr txBox="1"/>
          <p:nvPr/>
        </p:nvSpPr>
        <p:spPr>
          <a:xfrm>
            <a:off x="1516523" y="3379351"/>
            <a:ext cx="7257506" cy="12926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청소년의 정신 질환은 매년 증가하나</a:t>
            </a:r>
            <a:r>
              <a:rPr lang="en-US" altLang="ko-KR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,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관련 치료 인프라는 부족</a:t>
            </a:r>
            <a:r>
              <a:rPr lang="en-US" altLang="ko-KR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 + </a:t>
            </a: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수도권에 집중되어 있음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=&gt; </a:t>
            </a: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접근성 사각지대 존재</a:t>
            </a:r>
            <a:endParaRPr sz="1600">
              <a:solidFill>
                <a:schemeClr val="tx1"/>
              </a:solidFill>
              <a:latin typeface="+mn-ea"/>
              <a:ea typeface="+mn-ea"/>
              <a:cs typeface="NanumGothic ExtraBold"/>
              <a:sym typeface="NanumGothic Extra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주제 선정 배경</a:t>
            </a:r>
          </a:p>
        </p:txBody>
      </p:sp>
      <p:sp>
        <p:nvSpPr>
          <p:cNvPr id="3" name="Google Shape;75;p15"/>
          <p:cNvSpPr txBox="1"/>
          <p:nvPr/>
        </p:nvSpPr>
        <p:spPr>
          <a:xfrm>
            <a:off x="5288564" y="1032400"/>
            <a:ext cx="3554494" cy="3469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경상남도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고수요</a:t>
            </a:r>
            <a:r>
              <a:rPr lang="en-US" altLang="ko-KR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-</a:t>
            </a: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저밀도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청소년 인구수에 비해</a:t>
            </a:r>
            <a:r>
              <a:rPr lang="en-US" altLang="ko-KR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인프라 밀도 낮음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600">
              <a:solidFill>
                <a:schemeClr val="tx1"/>
              </a:solidFill>
              <a:latin typeface="+mn-ea"/>
              <a:ea typeface="+mn-ea"/>
              <a:cs typeface="NanumGothic ExtraBold"/>
              <a:sym typeface="NanumGothic ExtraBold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강원도</a:t>
            </a:r>
            <a:r>
              <a:rPr lang="en-US" altLang="ko-KR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/</a:t>
            </a: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전라북도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저수요</a:t>
            </a:r>
            <a:r>
              <a:rPr lang="en-US" altLang="ko-KR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-</a:t>
            </a: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초저밀도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청소년 인구수는 적지만</a:t>
            </a:r>
            <a:r>
              <a:rPr lang="en-US" altLang="ko-KR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, </a:t>
            </a:r>
            <a:r>
              <a:rPr lang="ko-KR" altLang="en-US" sz="160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인프라 밀도가 매우 낮음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628894" y="1055550"/>
            <a:ext cx="3419475" cy="3619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A10F3B5-E369-71EE-7790-3C73084B3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76E44753-DAB1-44D7-610B-298ADE80263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85E4816F-0879-3C43-F506-A13C550C66C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25E40327-D313-5CE7-7CA8-91905F07D39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2BFD4AC-917B-4F24-FF32-E7A87573848D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분석 계획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982E5077-B357-D4BF-ACDF-591222D80AC8}"/>
              </a:ext>
            </a:extLst>
          </p:cNvPr>
          <p:cNvSpPr txBox="1"/>
          <p:nvPr/>
        </p:nvSpPr>
        <p:spPr>
          <a:xfrm>
            <a:off x="1430772" y="3239342"/>
            <a:ext cx="7257506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분석 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입지분석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/</a:t>
            </a: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클러스터링</a:t>
            </a:r>
            <a:r>
              <a:rPr lang="en-US" altLang="ko-KR" sz="1600" b="1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)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- GIS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접근성 분석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상담센터가 대중교통으로 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30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분 내의 거리에 있는지 </a:t>
            </a: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접근성 점수화</a:t>
            </a:r>
            <a:endParaRPr lang="en-US" altLang="ko-KR" b="1" dirty="0">
              <a:solidFill>
                <a:schemeClr val="tx1"/>
              </a:solidFill>
              <a:latin typeface="+mn-ea"/>
              <a:ea typeface="+mn-ea"/>
              <a:cs typeface="NanumGothic ExtraBold"/>
              <a:sym typeface="NanumGothic ExtraBold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- K-Means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군집 분석</a:t>
            </a:r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청소년 인구수 대비 </a:t>
            </a:r>
            <a:r>
              <a:rPr lang="ko-KR" altLang="en-US" b="1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접근성 점수 낮은 지역 클러스터링</a:t>
            </a:r>
            <a:endParaRPr lang="en-US" altLang="ko-KR" b="1" dirty="0">
              <a:solidFill>
                <a:schemeClr val="tx1"/>
              </a:solidFill>
              <a:latin typeface="+mn-ea"/>
              <a:ea typeface="+mn-ea"/>
              <a:cs typeface="NanumGothic ExtraBold"/>
              <a:sym typeface="NanumGothic ExtraBold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097184D-BE55-39DD-AC97-CA5D03417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665913"/>
              </p:ext>
            </p:extLst>
          </p:nvPr>
        </p:nvGraphicFramePr>
        <p:xfrm>
          <a:off x="1481572" y="1609518"/>
          <a:ext cx="6096000" cy="140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1708">
                  <a:extLst>
                    <a:ext uri="{9D8B030D-6E8A-4147-A177-3AD203B41FA5}">
                      <a16:colId xmlns:a16="http://schemas.microsoft.com/office/drawing/2014/main" val="1363766316"/>
                    </a:ext>
                  </a:extLst>
                </a:gridCol>
                <a:gridCol w="4194292">
                  <a:extLst>
                    <a:ext uri="{9D8B030D-6E8A-4147-A177-3AD203B41FA5}">
                      <a16:colId xmlns:a16="http://schemas.microsoft.com/office/drawing/2014/main" val="4117608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청소년 인구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수요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- KOSIS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 청소년 인구 데이터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1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인프라 위치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공급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정신건강 관련기관 정보 데이터 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Gothic ExtraBold"/>
                        <a:sym typeface="NanumGothic ExtraBold"/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청소년상담복지센터 위치 데이터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위도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경도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088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교통망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경로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)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- </a:t>
                      </a:r>
                      <a:r>
                        <a:rPr lang="ko-KR" altLang="en-US" dirty="0"/>
                        <a:t>국토교통부 </a:t>
                      </a:r>
                      <a:r>
                        <a:rPr lang="en-US" altLang="ko-KR" dirty="0"/>
                        <a:t>GTFS </a:t>
                      </a:r>
                      <a:r>
                        <a:rPr lang="ko-KR" altLang="en-US" dirty="0"/>
                        <a:t>데이터</a:t>
                      </a:r>
                      <a:endParaRPr lang="en-US" altLang="ko-KR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Gothic ExtraBold"/>
                          <a:sym typeface="NanumGothic ExtraBold"/>
                        </a:rPr>
                        <a:t>전국 버스정류장 위치정보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63423"/>
                  </a:ext>
                </a:extLst>
              </a:tr>
            </a:tbl>
          </a:graphicData>
        </a:graphic>
      </p:graphicFrame>
      <p:sp>
        <p:nvSpPr>
          <p:cNvPr id="9" name="Google Shape;75;p15">
            <a:extLst>
              <a:ext uri="{FF2B5EF4-FFF2-40B4-BE49-F238E27FC236}">
                <a16:creationId xmlns:a16="http://schemas.microsoft.com/office/drawing/2014/main" id="{EE878DB8-7645-87C0-2440-9E87F012564F}"/>
              </a:ext>
            </a:extLst>
          </p:cNvPr>
          <p:cNvSpPr txBox="1"/>
          <p:nvPr/>
        </p:nvSpPr>
        <p:spPr>
          <a:xfrm>
            <a:off x="1398659" y="1055550"/>
            <a:ext cx="725750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데이터 활용 방안</a:t>
            </a:r>
            <a:endParaRPr lang="en-US" altLang="ko-KR" sz="1600" b="1" dirty="0">
              <a:solidFill>
                <a:schemeClr val="tx1"/>
              </a:solidFill>
              <a:latin typeface="+mn-ea"/>
              <a:ea typeface="+mn-ea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80098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7590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정책 제안</a:t>
            </a:r>
            <a:endParaRPr sz="200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Google Shape;75;p15"/>
          <p:cNvSpPr txBox="1"/>
          <p:nvPr/>
        </p:nvSpPr>
        <p:spPr>
          <a:xfrm>
            <a:off x="1542532" y="1289140"/>
            <a:ext cx="7257506" cy="923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청소년 정신건강의 심각성에 비해</a:t>
            </a:r>
            <a:r>
              <a:rPr lang="en-US" altLang="ko-KR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 </a:t>
            </a:r>
          </a:p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실제 치료</a:t>
            </a:r>
            <a:r>
              <a:rPr lang="en-US" altLang="ko-KR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/</a:t>
            </a:r>
            <a:r>
              <a:rPr lang="ko-KR" altLang="en-US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상담 인프라의 지역적 불균형 심각</a:t>
            </a:r>
            <a:endParaRPr lang="en-US" altLang="ko-KR" b="1">
              <a:solidFill>
                <a:schemeClr val="tx1"/>
              </a:solidFill>
              <a:latin typeface="+mn-ea"/>
              <a:ea typeface="+mn-ea"/>
              <a:cs typeface="NanumGothic ExtraBold"/>
              <a:sym typeface="NanumGothic ExtraBold"/>
            </a:endParaRPr>
          </a:p>
        </p:txBody>
      </p:sp>
      <p:sp>
        <p:nvSpPr>
          <p:cNvPr id="2" name="Google Shape;75;p15"/>
          <p:cNvSpPr txBox="1"/>
          <p:nvPr/>
        </p:nvSpPr>
        <p:spPr>
          <a:xfrm>
            <a:off x="847311" y="3182000"/>
            <a:ext cx="8647948" cy="12926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spAutoFit/>
          </a:bodyPr>
          <a:lstStyle/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군집 분석으로 도출된 </a:t>
            </a:r>
            <a:r>
              <a:rPr lang="en-US" altLang="ko-KR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'</a:t>
            </a:r>
            <a:r>
              <a:rPr lang="ko-KR" altLang="en-US" sz="1600" b="1">
                <a:solidFill>
                  <a:srgbClr val="002060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정신건강 사각지대</a:t>
            </a:r>
            <a:r>
              <a:rPr lang="en-US" altLang="ko-KR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' Top n</a:t>
            </a:r>
            <a:r>
              <a:rPr lang="ko-KR" altLang="en-US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개 지역을 선정</a:t>
            </a:r>
          </a:p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600" b="1">
              <a:solidFill>
                <a:schemeClr val="tx1"/>
              </a:solidFill>
              <a:latin typeface="+mn-ea"/>
              <a:ea typeface="+mn-ea"/>
              <a:cs typeface="NanumGothic ExtraBold"/>
              <a:sym typeface="NanumGothic ExtraBold"/>
            </a:endParaRPr>
          </a:p>
          <a:p>
            <a:pPr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이 지역들에 </a:t>
            </a:r>
            <a:r>
              <a:rPr lang="en-US" altLang="ko-KR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'</a:t>
            </a:r>
            <a:r>
              <a:rPr lang="ko-KR" altLang="en-US" sz="1600" b="1">
                <a:solidFill>
                  <a:srgbClr val="0070C0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찾아가는 상담 버스</a:t>
            </a:r>
            <a:r>
              <a:rPr lang="en-US" altLang="ko-KR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' </a:t>
            </a:r>
            <a:r>
              <a:rPr lang="ko-KR" altLang="en-US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또는 </a:t>
            </a:r>
            <a:r>
              <a:rPr lang="en-US" altLang="ko-KR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'</a:t>
            </a:r>
            <a:r>
              <a:rPr lang="ko-KR" altLang="en-US" sz="1600" b="1">
                <a:solidFill>
                  <a:srgbClr val="0070C0"/>
                </a:solidFill>
                <a:latin typeface="+mn-ea"/>
                <a:ea typeface="+mn-ea"/>
                <a:cs typeface="NanumGothic ExtraBold"/>
                <a:sym typeface="NanumGothic ExtraBold"/>
              </a:rPr>
              <a:t>원격 상담 부스</a:t>
            </a:r>
            <a:r>
              <a:rPr lang="en-US" altLang="ko-KR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'</a:t>
            </a:r>
            <a:r>
              <a:rPr lang="ko-KR" altLang="en-US" sz="1600" b="1">
                <a:solidFill>
                  <a:schemeClr val="tx1"/>
                </a:solidFill>
                <a:latin typeface="+mn-ea"/>
                <a:ea typeface="+mn-ea"/>
                <a:cs typeface="NanumGothic ExtraBold"/>
                <a:sym typeface="NanumGothic ExtraBold"/>
              </a:rPr>
              <a:t>를 설치할 것을 제안</a:t>
            </a:r>
            <a:endParaRPr lang="en-US" altLang="ko-KR" b="1">
              <a:solidFill>
                <a:schemeClr val="tx1"/>
              </a:solidFill>
              <a:latin typeface="+mn-ea"/>
              <a:ea typeface="+mn-ea"/>
              <a:cs typeface="NanumGothic ExtraBold"/>
              <a:sym typeface="NanumGothic ExtraBold"/>
            </a:endParaRPr>
          </a:p>
        </p:txBody>
      </p:sp>
      <p:sp>
        <p:nvSpPr>
          <p:cNvPr id="3" name="화살표: 아래쪽 2"/>
          <p:cNvSpPr/>
          <p:nvPr/>
        </p:nvSpPr>
        <p:spPr>
          <a:xfrm>
            <a:off x="4937760" y="2570480"/>
            <a:ext cx="406400" cy="431702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>
              <a:alpha val="100000"/>
            </a:srgbClr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marR="0" lvl="0" indent="0" algn="l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0" sz="1400" b="0" i="0" u="none" strike="noStrike" kern="0" cap="none" spc="0" normalizeH="0" baseline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cxnSp>
        <p:nvCxnSpPr>
          <p:cNvPr id="5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6" name="Google Shape;74;p15"/>
          <p:cNvPicPr/>
          <p:nvPr/>
        </p:nvPicPr>
        <p:blipFill rotWithShape="1">
          <a:blip r:embed="rId2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66;p14"/>
          <p:cNvSpPr txBox="1"/>
          <p:nvPr/>
        </p:nvSpPr>
        <p:spPr>
          <a:xfrm>
            <a:off x="3466376" y="2125489"/>
            <a:ext cx="2792910" cy="89252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marR="0" lvl="0" indent="0" algn="l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0" lang="ko-KR" altLang="en-US" sz="4000" b="1" i="0" u="none" strike="noStrike" kern="0" cap="none" spc="0" normalizeH="0" baseline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감사합니다</a:t>
            </a:r>
            <a:endParaRPr kumimoji="0" sz="4000" b="1" i="0" u="none" strike="noStrike" kern="0" cap="none" spc="0" normalizeH="0" baseline="0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화면 슬라이드 쇼(16:9)</PresentationFormat>
  <Paragraphs>67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NanumGothic ExtraBold</vt:lpstr>
      <vt:lpstr>나눔스퀘어 ExtraBold</vt:lpstr>
      <vt:lpstr>맑은 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전해인</dc:creator>
  <cp:lastModifiedBy>장희원</cp:lastModifiedBy>
  <cp:revision>12</cp:revision>
  <dcterms:modified xsi:type="dcterms:W3CDTF">2025-11-03T14:02:03Z</dcterms:modified>
  <cp:version/>
</cp:coreProperties>
</file>