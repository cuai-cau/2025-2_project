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62" r:id="rId3"/>
    <p:sldId id="264" r:id="rId4"/>
    <p:sldId id="266" r:id="rId5"/>
    <p:sldId id="267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60B8AC-4C5C-4DF0-8B1A-9E0F34C2E0C1}" v="736" dt="2025-10-27T13:26:03.5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226" y="-10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50FD2D37-D21E-4A76-15EB-E169D49A9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EF4F37A9-BB8F-8B14-3567-DA2CFBBCE7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0859FB35-A578-B6EC-DF44-37146F97D7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90000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4748AE06-110C-64E0-BA1E-00688F82E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3A6764F8-54BC-BB61-FEB7-981C9CFD18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EA4583E8-F48C-F270-2D84-DCBDB07769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12368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51EA7710-50A6-950A-187D-1A3B7C2EF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30BE3883-DCFC-BFCF-C55A-B5D4E008C2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2952AEF4-FB95-9855-ED0A-696C7D9274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29277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5E79C6A7-A3D6-B227-3341-A1F2C5B3B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06587F6F-106F-1023-0ED8-BDD0AB6CE0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A2B9AB08-99AE-FF1D-68D4-E4F8BBB7E8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6246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1339750" y="2710050"/>
            <a:ext cx="4979400" cy="156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ko" sz="2500" b="1" dirty="0">
                <a:solidFill>
                  <a:srgbClr val="19264B"/>
                </a:solidFill>
              </a:rPr>
              <a:t>CUAI </a:t>
            </a:r>
            <a:r>
              <a:rPr lang="ko-KR" altLang="en-US" sz="2500" b="1" dirty="0">
                <a:solidFill>
                  <a:srgbClr val="19264B"/>
                </a:solidFill>
              </a:rPr>
              <a:t> </a:t>
            </a:r>
            <a:r>
              <a:rPr lang="en-US" altLang="ko-KR" sz="2500" b="1" dirty="0">
                <a:solidFill>
                  <a:srgbClr val="19264B"/>
                </a:solidFill>
              </a:rPr>
              <a:t>CV </a:t>
            </a:r>
            <a:r>
              <a:rPr lang="ko-KR" altLang="en-US" sz="2500" b="1" dirty="0">
                <a:solidFill>
                  <a:srgbClr val="19264B"/>
                </a:solidFill>
              </a:rPr>
              <a:t>프로젝트 </a:t>
            </a:r>
            <a:r>
              <a:rPr lang="en-US" altLang="ko-KR" sz="2500" b="1" dirty="0">
                <a:solidFill>
                  <a:srgbClr val="19264B"/>
                </a:solidFill>
              </a:rPr>
              <a:t>2</a:t>
            </a:r>
            <a:r>
              <a:rPr lang="ko-KR" altLang="en-US" sz="2500" b="1" dirty="0">
                <a:solidFill>
                  <a:srgbClr val="19264B"/>
                </a:solidFill>
              </a:rPr>
              <a:t>팀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>
                <a:solidFill>
                  <a:srgbClr val="19264B"/>
                </a:solidFill>
              </a:rPr>
              <a:t>2025.11.11</a:t>
            </a:r>
            <a:endParaRPr lang="ko-KR" altLang="en-US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19264B"/>
                </a:solidFill>
              </a:rPr>
              <a:t>발표자 : </a:t>
            </a:r>
            <a:r>
              <a:rPr lang="ko-KR" altLang="en-US" sz="1100" dirty="0">
                <a:solidFill>
                  <a:srgbClr val="19264B"/>
                </a:solidFill>
              </a:rPr>
              <a:t>오석준 </a:t>
            </a:r>
            <a:endParaRPr sz="1100" dirty="0">
              <a:solidFill>
                <a:srgbClr val="19264B"/>
              </a:solidFill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6FC79AAC-B45F-66D0-32FD-AC3C21C50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DA0BD332-7D30-40AF-2BAD-03D6B213EF82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29349FED-015C-C88B-F8CF-03BF453559BD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8E1625ED-EEA1-2BD7-F671-E9546250BCE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C931318-54A3-8569-4BEB-DC0CDAF4F0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9991" y="384620"/>
            <a:ext cx="6988146" cy="218713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D5C54214-0F5B-5C26-C94C-C20862229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6654" y="2678392"/>
            <a:ext cx="5298489" cy="1967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3985573-D6A3-75A5-1610-EE53B7C930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0722" y="2624253"/>
            <a:ext cx="1155588" cy="1220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D3DBEDB-9872-65C2-7123-F26A1F235B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1317" y="3195656"/>
            <a:ext cx="1328928" cy="1404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993C4D1F-3EBD-DC0A-122A-F2DF71626B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1273" y="3804069"/>
            <a:ext cx="1221162" cy="129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2098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B21B7809-EC62-0396-50AA-F568645AA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2E1573D9-375B-4119-9C04-CDB7723CA37E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8FA2660A-FF7B-4472-5576-CA773D9E64ED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0A3354A2-7CF6-551E-DF38-1D6671266BE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D1248AA0-39E4-43F0-2E5C-D15384AE0796}"/>
              </a:ext>
            </a:extLst>
          </p:cNvPr>
          <p:cNvSpPr txBox="1"/>
          <p:nvPr/>
        </p:nvSpPr>
        <p:spPr>
          <a:xfrm>
            <a:off x="1210377" y="505516"/>
            <a:ext cx="2670048" cy="149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</a:rPr>
              <a:t> </a:t>
            </a:r>
            <a:r>
              <a:rPr lang="en-US" altLang="ko-KR" dirty="0"/>
              <a:t># Hugging Face </a:t>
            </a:r>
            <a:r>
              <a:rPr lang="en-US" altLang="ko-KR" dirty="0" err="1"/>
              <a:t>ViT</a:t>
            </a:r>
            <a:r>
              <a:rPr lang="en-US" altLang="ko-KR" dirty="0"/>
              <a:t> feature extractor + Stratified K-Fold LR</a:t>
            </a:r>
          </a:p>
          <a:p>
            <a:pPr>
              <a:lnSpc>
                <a:spcPct val="115000"/>
              </a:lnSpc>
            </a:pPr>
            <a:endParaRPr lang="en-US" altLang="ko-KR" sz="20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</a:endParaRPr>
          </a:p>
          <a:p>
            <a:pPr>
              <a:lnSpc>
                <a:spcPct val="115000"/>
              </a:lnSpc>
            </a:pPr>
            <a:endParaRPr lang="ko" altLang="en-US" sz="20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687793-6C0B-B3C8-5EB5-E0EC4A27F2F7}"/>
              </a:ext>
            </a:extLst>
          </p:cNvPr>
          <p:cNvSpPr txBox="1"/>
          <p:nvPr/>
        </p:nvSpPr>
        <p:spPr>
          <a:xfrm>
            <a:off x="5171226" y="713437"/>
            <a:ext cx="26700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#EfficientNet-b0 feature extractor + Stratified K-Fold LR</a:t>
            </a:r>
          </a:p>
          <a:p>
            <a:endParaRPr lang="ko-KR" altLang="en-US" dirty="0"/>
          </a:p>
        </p:txBody>
      </p:sp>
      <p:pic>
        <p:nvPicPr>
          <p:cNvPr id="2050" name="Picture 2" descr="ViT">
            <a:extLst>
              <a:ext uri="{FF2B5EF4-FFF2-40B4-BE49-F238E27FC236}">
                <a16:creationId xmlns:a16="http://schemas.microsoft.com/office/drawing/2014/main" id="{9ACAA83A-95FD-7AF1-7CC6-47D7310CD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490" y="1452101"/>
            <a:ext cx="3310510" cy="1771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A1F365-88A0-36A1-713F-F375F8E9037F}"/>
              </a:ext>
            </a:extLst>
          </p:cNvPr>
          <p:cNvSpPr txBox="1"/>
          <p:nvPr/>
        </p:nvSpPr>
        <p:spPr>
          <a:xfrm>
            <a:off x="5171226" y="1452101"/>
            <a:ext cx="301142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파일 경로</a:t>
            </a:r>
            <a:r>
              <a:rPr lang="en-US" altLang="ko-KR" dirty="0"/>
              <a:t>(</a:t>
            </a:r>
            <a:r>
              <a:rPr lang="ko-KR" altLang="en-US" dirty="0"/>
              <a:t>상대</a:t>
            </a:r>
            <a:r>
              <a:rPr lang="en-US" altLang="ko-KR" dirty="0"/>
              <a:t>&gt;</a:t>
            </a:r>
            <a:r>
              <a:rPr lang="ko-KR" altLang="en-US" dirty="0"/>
              <a:t>절대</a:t>
            </a:r>
            <a:r>
              <a:rPr lang="en-US" altLang="ko-KR" dirty="0"/>
              <a:t>) </a:t>
            </a:r>
            <a:r>
              <a:rPr lang="ko-KR" altLang="en-US" dirty="0"/>
              <a:t>수정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데이터 증강 및 </a:t>
            </a:r>
            <a:r>
              <a:rPr lang="ko-KR" altLang="en-US" dirty="0" err="1"/>
              <a:t>전처리</a:t>
            </a:r>
            <a:r>
              <a:rPr lang="ko-KR" altLang="en-US" dirty="0"/>
              <a:t> 사용</a:t>
            </a:r>
            <a:r>
              <a:rPr lang="en-US" altLang="ko-KR" dirty="0"/>
              <a:t>(Resize, </a:t>
            </a:r>
            <a:r>
              <a:rPr lang="en-US" altLang="ko-KR" dirty="0" err="1"/>
              <a:t>RandomResizedCrop</a:t>
            </a:r>
            <a:r>
              <a:rPr lang="en-US" altLang="ko-KR" dirty="0"/>
              <a:t>, </a:t>
            </a:r>
            <a:r>
              <a:rPr lang="en-US" altLang="ko-KR" dirty="0" err="1"/>
              <a:t>CenterCrop</a:t>
            </a:r>
            <a:r>
              <a:rPr lang="en-US" altLang="ko-KR" dirty="0"/>
              <a:t>, </a:t>
            </a:r>
            <a:r>
              <a:rPr lang="en-US" altLang="ko-KR" dirty="0" err="1"/>
              <a:t>ColorJitter</a:t>
            </a:r>
            <a:r>
              <a:rPr lang="en-US" altLang="ko-KR" dirty="0"/>
              <a:t>, Normalize)</a:t>
            </a:r>
          </a:p>
          <a:p>
            <a:r>
              <a:rPr lang="en-US" altLang="ko-KR" dirty="0"/>
              <a:t>3. </a:t>
            </a:r>
            <a:r>
              <a:rPr lang="ko-KR" altLang="en-US" dirty="0"/>
              <a:t>클래스 가중치 사용</a:t>
            </a:r>
            <a:r>
              <a:rPr lang="en-US" altLang="ko-KR" dirty="0"/>
              <a:t>(</a:t>
            </a:r>
            <a:r>
              <a:rPr lang="ko-KR" altLang="en-US" dirty="0"/>
              <a:t>클래스 불균형 보정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4. </a:t>
            </a:r>
            <a:r>
              <a:rPr lang="en-US" altLang="ko-KR" dirty="0" err="1"/>
              <a:t>img_size</a:t>
            </a:r>
            <a:r>
              <a:rPr lang="ko-KR" altLang="en-US" dirty="0"/>
              <a:t>를 </a:t>
            </a:r>
            <a:r>
              <a:rPr lang="en-US" altLang="ko-KR" dirty="0"/>
              <a:t>320</a:t>
            </a:r>
            <a:r>
              <a:rPr lang="ko-KR" altLang="en-US" dirty="0"/>
              <a:t>으로 상향</a:t>
            </a:r>
          </a:p>
          <a:p>
            <a:r>
              <a:rPr lang="en-US" altLang="ko-KR" dirty="0"/>
              <a:t>5. K-Fold(5-fold </a:t>
            </a:r>
            <a:r>
              <a:rPr lang="ko-KR" altLang="en-US" dirty="0"/>
              <a:t>사용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6. TTA(Test-Time Augmentation) </a:t>
            </a:r>
            <a:r>
              <a:rPr lang="ko-KR" altLang="en-US" dirty="0"/>
              <a:t>사용</a:t>
            </a:r>
          </a:p>
        </p:txBody>
      </p:sp>
    </p:spTree>
    <p:extLst>
      <p:ext uri="{BB962C8B-B14F-4D97-AF65-F5344CB8AC3E}">
        <p14:creationId xmlns:p14="http://schemas.microsoft.com/office/powerpoint/2010/main" val="1258412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3A294DAF-8D22-8945-8D0E-16C3A0A98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5EBD92D5-575C-C309-3567-CF2AB85FFC78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2950811B-0DA1-5CB0-FB32-7C42BB29D5B2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3CD9C9F0-008B-0F6F-F45B-8A1E40BEC77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68136339-8418-6359-8A2B-7308395D4FC0}"/>
              </a:ext>
            </a:extLst>
          </p:cNvPr>
          <p:cNvSpPr txBox="1"/>
          <p:nvPr/>
        </p:nvSpPr>
        <p:spPr>
          <a:xfrm>
            <a:off x="1210377" y="505516"/>
            <a:ext cx="2670048" cy="149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</a:rPr>
              <a:t> </a:t>
            </a:r>
            <a:r>
              <a:rPr lang="en-US" altLang="ko-KR" dirty="0"/>
              <a:t># Hugging Face </a:t>
            </a:r>
            <a:r>
              <a:rPr lang="en-US" altLang="ko-KR" dirty="0" err="1"/>
              <a:t>ViT</a:t>
            </a:r>
            <a:r>
              <a:rPr lang="en-US" altLang="ko-KR" dirty="0"/>
              <a:t> feature extractor + Stratified K-Fold LR</a:t>
            </a:r>
          </a:p>
          <a:p>
            <a:pPr>
              <a:lnSpc>
                <a:spcPct val="115000"/>
              </a:lnSpc>
            </a:pPr>
            <a:endParaRPr lang="en-US" altLang="ko-KR" sz="20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</a:endParaRPr>
          </a:p>
          <a:p>
            <a:pPr>
              <a:lnSpc>
                <a:spcPct val="115000"/>
              </a:lnSpc>
            </a:pPr>
            <a:endParaRPr lang="ko" altLang="en-US" sz="20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51B54C-A4B8-05C9-4E70-D39C6211D2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240"/>
          <a:stretch>
            <a:fillRect/>
          </a:stretch>
        </p:blipFill>
        <p:spPr>
          <a:xfrm>
            <a:off x="1210365" y="1252628"/>
            <a:ext cx="3486249" cy="16465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F5BF1B-D959-F55F-86D4-1FCE71095C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0503" y="1386666"/>
            <a:ext cx="3375953" cy="8154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FB4B02-9D27-CA57-1801-69E3F9BF0BC8}"/>
              </a:ext>
            </a:extLst>
          </p:cNvPr>
          <p:cNvSpPr txBox="1"/>
          <p:nvPr/>
        </p:nvSpPr>
        <p:spPr>
          <a:xfrm>
            <a:off x="5171226" y="713437"/>
            <a:ext cx="26700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#EfficientNet-b0 feature extractor + Stratified K-Fold LR</a:t>
            </a:r>
          </a:p>
          <a:p>
            <a:endParaRPr lang="ko-KR" altLang="en-US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CF15849C-2428-AB24-769D-3E3EFD5219C8}"/>
              </a:ext>
            </a:extLst>
          </p:cNvPr>
          <p:cNvSpPr/>
          <p:nvPr/>
        </p:nvSpPr>
        <p:spPr>
          <a:xfrm>
            <a:off x="1415728" y="3949243"/>
            <a:ext cx="639337" cy="3419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A4764E-D3BD-883E-6293-0FF67F195DB5}"/>
              </a:ext>
            </a:extLst>
          </p:cNvPr>
          <p:cNvSpPr txBox="1"/>
          <p:nvPr/>
        </p:nvSpPr>
        <p:spPr>
          <a:xfrm>
            <a:off x="2289717" y="3956936"/>
            <a:ext cx="4854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Pre</a:t>
            </a:r>
            <a:r>
              <a:rPr lang="ko-KR" altLang="en-US" dirty="0"/>
              <a:t> </a:t>
            </a:r>
            <a:r>
              <a:rPr lang="en-US" altLang="ko-KR" dirty="0"/>
              <a:t>trained</a:t>
            </a:r>
            <a:r>
              <a:rPr lang="ko-KR" altLang="en-US" dirty="0"/>
              <a:t> 모델 한계가 있는 것 같음</a:t>
            </a:r>
            <a:r>
              <a:rPr lang="en-US" altLang="ko-KR" dirty="0"/>
              <a:t>.. </a:t>
            </a:r>
            <a:r>
              <a:rPr lang="ko-KR" altLang="en-US" dirty="0"/>
              <a:t>학습 필요 </a:t>
            </a:r>
          </a:p>
        </p:txBody>
      </p:sp>
    </p:spTree>
    <p:extLst>
      <p:ext uri="{BB962C8B-B14F-4D97-AF65-F5344CB8AC3E}">
        <p14:creationId xmlns:p14="http://schemas.microsoft.com/office/powerpoint/2010/main" val="3126257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6B5552D2-AFE8-97FC-D398-73E7F0616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6CCA855F-F6F6-6BE5-23FB-B57CF5C0AFF2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15558A30-040C-4707-E35F-4FD6B0987CAC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1A3504E0-08BE-D825-4B3A-A313C320348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FCC75C5B-68AD-B6B5-21BC-57E0ABE0AE3C}"/>
              </a:ext>
            </a:extLst>
          </p:cNvPr>
          <p:cNvSpPr txBox="1"/>
          <p:nvPr/>
        </p:nvSpPr>
        <p:spPr>
          <a:xfrm>
            <a:off x="1268631" y="0"/>
            <a:ext cx="5625945" cy="1709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</a:rPr>
              <a:t> </a:t>
            </a:r>
            <a:r>
              <a:rPr lang="en-US" altLang="ko-KR" dirty="0"/>
              <a:t># Hugging Face </a:t>
            </a:r>
            <a:r>
              <a:rPr lang="en-US" altLang="ko-KR" dirty="0" err="1"/>
              <a:t>ViT</a:t>
            </a:r>
            <a:endParaRPr lang="en-US" altLang="ko-KR" dirty="0"/>
          </a:p>
          <a:p>
            <a:pPr>
              <a:lnSpc>
                <a:spcPct val="115000"/>
              </a:lnSpc>
            </a:pPr>
            <a:r>
              <a:rPr lang="en-US" altLang="ko-KR" dirty="0"/>
              <a:t># 30 Epoch, </a:t>
            </a:r>
          </a:p>
          <a:p>
            <a:r>
              <a:rPr lang="en-US" altLang="ko-KR" dirty="0"/>
              <a:t>optimizer : </a:t>
            </a:r>
            <a:r>
              <a:rPr lang="en-US" altLang="ko-KR" dirty="0" err="1"/>
              <a:t>AdamW</a:t>
            </a:r>
            <a:r>
              <a:rPr lang="en-US" altLang="ko-KR" dirty="0"/>
              <a:t>, learning rate=2e-5, </a:t>
            </a:r>
            <a:r>
              <a:rPr lang="en-US" altLang="ko-KR" dirty="0" err="1"/>
              <a:t>weight_decay</a:t>
            </a:r>
            <a:r>
              <a:rPr lang="en-US" altLang="ko-KR" dirty="0"/>
              <a:t>=1e-4</a:t>
            </a:r>
          </a:p>
          <a:p>
            <a:pPr>
              <a:lnSpc>
                <a:spcPct val="115000"/>
              </a:lnSpc>
            </a:pPr>
            <a:endParaRPr lang="en-US" altLang="ko-KR" sz="20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</a:endParaRPr>
          </a:p>
          <a:p>
            <a:pPr>
              <a:lnSpc>
                <a:spcPct val="115000"/>
              </a:lnSpc>
            </a:pPr>
            <a:endParaRPr lang="ko" altLang="en-US" sz="20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697CD1E-634A-4E8A-B71C-446DDABDB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8619" y="1140894"/>
            <a:ext cx="3572924" cy="3168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417899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143</Words>
  <Application>Microsoft Office PowerPoint</Application>
  <PresentationFormat>On-screen Show (16:9)</PresentationFormat>
  <Paragraphs>20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NanumGothic ExtraBold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오석준</dc:creator>
  <cp:lastModifiedBy>오석준</cp:lastModifiedBy>
  <cp:revision>5</cp:revision>
  <dcterms:modified xsi:type="dcterms:W3CDTF">2025-11-10T14:10:20Z</dcterms:modified>
</cp:coreProperties>
</file>