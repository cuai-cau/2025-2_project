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0A62A210-7ABF-0A01-255F-3A517C8C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FEAF8214-B1F5-1ED0-4A30-52B92259E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DB3291D-91CB-D731-B460-C858205E6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7837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EC7CADB-A089-D833-CE46-14676436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82A96F02-2969-627C-E0B7-EFE9D6B5A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0B79A93-92C8-F3B0-ABD0-9938BA251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095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7763DBD-B4AC-1F20-52BC-912173ED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E3EECE8-6A06-67BB-256E-6CCC4C008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4A321AE-D102-1201-E19D-44A90CA14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530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D80F1D7-ABD4-7B77-69AA-CFC600C1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AC5A339-EA08-76F1-BCEF-16A1A91A5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E41FA6F7-F1E9-FDC1-A2CF-5EABA0CBB0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83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3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</a:t>
            </a:r>
            <a:r>
              <a:rPr lang="en-US" altLang="ko-KR" sz="2500" b="1" dirty="0">
                <a:solidFill>
                  <a:srgbClr val="19264B"/>
                </a:solidFill>
              </a:rPr>
              <a:t>CV</a:t>
            </a:r>
            <a:r>
              <a:rPr lang="ko-KR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-KR" sz="2500" b="1" dirty="0">
                <a:solidFill>
                  <a:srgbClr val="19264B"/>
                </a:solidFill>
              </a:rPr>
              <a:t>2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5.11.25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신수인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AFED2DD-445F-E694-7CD4-AFACAA25F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314065"/>
            <a:ext cx="7508487" cy="18584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536CF5-626B-7F0E-FD5D-6FC313E43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3465" y="2322609"/>
            <a:ext cx="3507630" cy="11649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FE9742-6DF2-E48D-B28E-A68796DF35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7424" y="2322609"/>
            <a:ext cx="3135922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대회 핵심 내용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431A2059-9E84-5476-1B65-F2911860314A}"/>
              </a:ext>
            </a:extLst>
          </p:cNvPr>
          <p:cNvSpPr txBox="1"/>
          <p:nvPr/>
        </p:nvSpPr>
        <p:spPr>
          <a:xfrm>
            <a:off x="4979360" y="1124095"/>
            <a:ext cx="3786688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15</a:t>
            </a:r>
            <a:r>
              <a:rPr lang="ko-KR" altLang="en-US" dirty="0"/>
              <a:t>종류의 사물 데이터 </a:t>
            </a:r>
            <a:r>
              <a:rPr lang="en-US" altLang="ko-KR" dirty="0"/>
              <a:t>(88</a:t>
            </a:r>
            <a:r>
              <a:rPr lang="ko-KR" altLang="en-US" dirty="0"/>
              <a:t>개의 클래스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사물의 상태에 따라 이미지가 분류되어 있음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사물의 종류</a:t>
            </a:r>
            <a:r>
              <a:rPr lang="en-US" altLang="ko-KR" dirty="0"/>
              <a:t>, </a:t>
            </a:r>
            <a:r>
              <a:rPr lang="ko-KR" altLang="en-US" dirty="0"/>
              <a:t>정상</a:t>
            </a:r>
            <a:r>
              <a:rPr lang="en-US" altLang="ko-KR" dirty="0"/>
              <a:t>/</a:t>
            </a:r>
            <a:r>
              <a:rPr lang="ko-KR" altLang="en-US" dirty="0"/>
              <a:t>비정상 샘플을 분류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Macro F1 score </a:t>
            </a:r>
            <a:r>
              <a:rPr lang="ko-KR" altLang="en-US" dirty="0"/>
              <a:t>평가지표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사물의 종류와 상태를 분류하는 이상 탐지 알고리즘을 개발하는 것이 목적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8F0C5A-E911-E2A8-E4F6-9D3F24B93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337" y="1178809"/>
            <a:ext cx="1435763" cy="1435763"/>
          </a:xfrm>
          <a:prstGeom prst="rect">
            <a:avLst/>
          </a:prstGeom>
        </p:spPr>
      </p:pic>
      <p:pic>
        <p:nvPicPr>
          <p:cNvPr id="6" name="그림 5" descr="정물 사진이(가) 표시된 사진&#10;&#10;자동 생성된 설명">
            <a:extLst>
              <a:ext uri="{FF2B5EF4-FFF2-40B4-BE49-F238E27FC236}">
                <a16:creationId xmlns:a16="http://schemas.microsoft.com/office/drawing/2014/main" id="{7D660E96-686F-2886-B328-D689113F1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793" y="1188870"/>
            <a:ext cx="1435763" cy="1435763"/>
          </a:xfrm>
          <a:prstGeom prst="rect">
            <a:avLst/>
          </a:prstGeom>
        </p:spPr>
      </p:pic>
      <p:pic>
        <p:nvPicPr>
          <p:cNvPr id="8" name="그림 7" descr="정물 사진, 정물이(가) 표시된 사진&#10;&#10;자동 생성된 설명">
            <a:extLst>
              <a:ext uri="{FF2B5EF4-FFF2-40B4-BE49-F238E27FC236}">
                <a16:creationId xmlns:a16="http://schemas.microsoft.com/office/drawing/2014/main" id="{2E0BA267-3E99-E830-E2DA-1DCEB665C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336" y="2805528"/>
            <a:ext cx="1435763" cy="1435763"/>
          </a:xfrm>
          <a:prstGeom prst="rect">
            <a:avLst/>
          </a:prstGeom>
        </p:spPr>
      </p:pic>
      <p:pic>
        <p:nvPicPr>
          <p:cNvPr id="10" name="그림 9" descr="정물 사진, 정물이(가) 표시된 사진&#10;&#10;자동 생성된 설명">
            <a:extLst>
              <a:ext uri="{FF2B5EF4-FFF2-40B4-BE49-F238E27FC236}">
                <a16:creationId xmlns:a16="http://schemas.microsoft.com/office/drawing/2014/main" id="{67568A1D-4908-7E66-9F10-2241FC7302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0793" y="2805527"/>
            <a:ext cx="1435764" cy="14357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99797E-0037-7204-FE40-B50C97EFF7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7125" y="3323165"/>
            <a:ext cx="3971158" cy="12070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A9A8B9B-D64A-D9A9-C077-67D64407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30A2A90-3EAE-FBB4-AED3-6A5B5AE4CEA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A71EA6C-B6DD-6452-B433-D337B8D226F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E7C62AE0-55BB-6568-967A-5E062EB2A9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C718D2EE-E8D7-6B71-47EC-4BD1DE9FD10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코드 핵심 내용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0C8DF753-54C5-9312-757C-B0054AE555AA}"/>
              </a:ext>
            </a:extLst>
          </p:cNvPr>
          <p:cNvSpPr txBox="1"/>
          <p:nvPr/>
        </p:nvSpPr>
        <p:spPr>
          <a:xfrm>
            <a:off x="5750835" y="1149812"/>
            <a:ext cx="3091744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클래스 불균형은 가중치를 통해 해결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 라벨의 비율이 적을수록 가중치를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높게 설정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4C420B-1CD6-E953-9AA0-301CCC5B2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874" y="2254329"/>
            <a:ext cx="3233667" cy="20048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31CDFE-1AC4-429E-326C-28C71A16E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359" y="1055550"/>
            <a:ext cx="4105420" cy="32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0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DE2F265-EDA8-3120-2497-71806A22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2534D0B-A6BC-CF33-0A61-B9AC3237074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425EA2A-6978-91AA-DA53-4482831C98E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0E9101E-433F-C902-D32D-CF2E60A6EB3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EB80DDF8-529C-E2CC-4198-0B7461370C2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코드 핵심 내용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FEF18B1B-B60F-1083-BEEF-6FFA234684FB}"/>
              </a:ext>
            </a:extLst>
          </p:cNvPr>
          <p:cNvSpPr txBox="1"/>
          <p:nvPr/>
        </p:nvSpPr>
        <p:spPr>
          <a:xfrm>
            <a:off x="6043443" y="1186388"/>
            <a:ext cx="246657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학습 안정성 확보를 위해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정규화 및 데이터 증강 진행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04B23E-DD61-E7AA-6A57-0E321E76D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966" y="958014"/>
            <a:ext cx="4273585" cy="373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8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48DB4EF2-9A94-FA3F-9111-9888187E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DB4DD30-124E-9736-9154-967AE714FE9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AEBCD945-8440-05D6-A098-6835D46D276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4CA6678-DB95-C646-2348-A9259DD537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BCE907BF-6948-B6C1-F670-8BD43272442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코드 핵심 내용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7F45C839-09AA-B7C7-01FE-741308AAB608}"/>
              </a:ext>
            </a:extLst>
          </p:cNvPr>
          <p:cNvSpPr txBox="1"/>
          <p:nvPr/>
        </p:nvSpPr>
        <p:spPr>
          <a:xfrm>
            <a:off x="1701193" y="1124878"/>
            <a:ext cx="3198964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EfficientNet-b4 </a:t>
            </a:r>
            <a:r>
              <a:rPr lang="ko-KR" altLang="en-US" dirty="0"/>
              <a:t>모델</a:t>
            </a:r>
            <a:r>
              <a:rPr lang="en-US" altLang="ko-KR" dirty="0"/>
              <a:t>(pretrained)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마지막 </a:t>
            </a:r>
            <a:r>
              <a:rPr lang="en-US" altLang="ko-KR" dirty="0"/>
              <a:t>FC </a:t>
            </a:r>
            <a:r>
              <a:rPr lang="ko-KR" altLang="en-US" dirty="0"/>
              <a:t>레이어 출력 차원만 </a:t>
            </a:r>
            <a:br>
              <a:rPr lang="en-US" altLang="ko-KR" dirty="0"/>
            </a:br>
            <a:r>
              <a:rPr lang="ko-KR" altLang="en-US" dirty="0"/>
              <a:t>클래스 개수</a:t>
            </a:r>
            <a:r>
              <a:rPr lang="en-US" altLang="ko-KR" dirty="0"/>
              <a:t>(88)</a:t>
            </a:r>
            <a:r>
              <a:rPr lang="ko-KR" altLang="en-US" dirty="0"/>
              <a:t>로 변경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3CED98-BF92-F3A3-8943-6219A575F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889" y="2570988"/>
            <a:ext cx="7320887" cy="146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1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428E524-7B88-6431-4368-B7923DA6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722CC0C-B6D4-93E6-36D1-D67732CB367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038B797-A1F2-8C75-3256-16608E7FC01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B787AF9-77B9-C2A8-337C-F6B5F62C85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FE89D0D0-C9AF-EBF7-F98C-5297C67CE4EF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코드 핵심 내용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92E9ABE9-53ED-16CC-5CB9-18A773E4ED2A}"/>
              </a:ext>
            </a:extLst>
          </p:cNvPr>
          <p:cNvSpPr txBox="1"/>
          <p:nvPr/>
        </p:nvSpPr>
        <p:spPr>
          <a:xfrm>
            <a:off x="4928587" y="1096552"/>
            <a:ext cx="3163415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StratifiedKFold</a:t>
            </a:r>
            <a:r>
              <a:rPr lang="en-US" altLang="ko-KR" dirty="0"/>
              <a:t>(5-Fold)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 </a:t>
            </a:r>
            <a:r>
              <a:rPr lang="en-US" altLang="ko-KR" dirty="0"/>
              <a:t>fold</a:t>
            </a:r>
            <a:r>
              <a:rPr lang="ko-KR" altLang="en-US" dirty="0"/>
              <a:t>는 최대 </a:t>
            </a:r>
            <a:r>
              <a:rPr lang="en-US" altLang="ko-KR" dirty="0"/>
              <a:t>200 epoch</a:t>
            </a:r>
            <a:r>
              <a:rPr lang="ko-KR" altLang="en-US" dirty="0"/>
              <a:t>로 학습하되</a:t>
            </a:r>
            <a:r>
              <a:rPr lang="en-US" altLang="ko-KR" dirty="0"/>
              <a:t>, 10 epoch </a:t>
            </a:r>
            <a:r>
              <a:rPr lang="ko-KR" altLang="en-US" dirty="0"/>
              <a:t>연속으로 좋아지지 않으면 </a:t>
            </a:r>
            <a:r>
              <a:rPr lang="en-US" altLang="ko-KR" dirty="0"/>
              <a:t>early stop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학습이 끝나면 각 </a:t>
            </a:r>
            <a:r>
              <a:rPr lang="en-US" altLang="ko-KR" dirty="0"/>
              <a:t>fold</a:t>
            </a:r>
            <a:r>
              <a:rPr lang="ko-KR" altLang="en-US" dirty="0"/>
              <a:t>에서 저장했던 </a:t>
            </a:r>
            <a:r>
              <a:rPr lang="en-US" altLang="ko-KR" dirty="0"/>
              <a:t>best </a:t>
            </a:r>
            <a:r>
              <a:rPr lang="ko-KR" altLang="en-US" dirty="0"/>
              <a:t>모델을 불러와 </a:t>
            </a:r>
            <a:r>
              <a:rPr lang="en-US" altLang="ko-KR" dirty="0"/>
              <a:t>test </a:t>
            </a:r>
            <a:r>
              <a:rPr lang="ko-KR" altLang="en-US" dirty="0"/>
              <a:t>데이터에 대해 예측 진행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성능이 가장 좋은 </a:t>
            </a:r>
            <a:r>
              <a:rPr lang="en-US" altLang="ko-KR" dirty="0"/>
              <a:t>fold 3</a:t>
            </a:r>
            <a:r>
              <a:rPr lang="ko-KR" altLang="en-US" dirty="0"/>
              <a:t>개만 골라 평균을 냄</a:t>
            </a:r>
            <a:r>
              <a:rPr lang="en-US" altLang="ko-KR" dirty="0"/>
              <a:t>(</a:t>
            </a:r>
            <a:r>
              <a:rPr lang="ko-KR" altLang="en-US" dirty="0"/>
              <a:t>앙상블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12BBEA-2D29-54E4-EE0A-A6803F7C2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314" y="980478"/>
            <a:ext cx="2878987" cy="385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505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150</Words>
  <Application>Microsoft Office PowerPoint</Application>
  <PresentationFormat>화면 슬라이드 쇼(16:9)</PresentationFormat>
  <Paragraphs>33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Suin Shin</dc:creator>
  <cp:lastModifiedBy>신수인</cp:lastModifiedBy>
  <cp:revision>6</cp:revision>
  <dcterms:modified xsi:type="dcterms:W3CDTF">2025-11-24T11:29:53Z</dcterms:modified>
</cp:coreProperties>
</file>