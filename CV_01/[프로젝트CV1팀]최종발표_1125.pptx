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5"/>
      </p:cViewPr>
      <p:guideLst>
        <p:guide orient="horz" pos="161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74382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</a:rPr>
              <a:t>프로젝트</a:t>
            </a:r>
            <a:r>
              <a:rPr lang="ko" sz="2500" b="1" dirty="0">
                <a:solidFill>
                  <a:srgbClr val="19264B"/>
                </a:solidFill>
              </a:rPr>
              <a:t> </a:t>
            </a:r>
            <a:r>
              <a:rPr lang="en-US" altLang="ko" sz="2500" b="1" dirty="0">
                <a:solidFill>
                  <a:srgbClr val="19264B"/>
                </a:solidFill>
              </a:rPr>
              <a:t>CV 1</a:t>
            </a:r>
            <a:r>
              <a:rPr lang="ko" sz="2500" b="1" dirty="0">
                <a:solidFill>
                  <a:srgbClr val="19264B"/>
                </a:solidFill>
              </a:rPr>
              <a:t>팀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5.</a:t>
            </a:r>
            <a:r>
              <a:rPr lang="en-US" altLang="ko-KR" dirty="0">
                <a:solidFill>
                  <a:srgbClr val="19264B"/>
                </a:solidFill>
              </a:rPr>
              <a:t>11</a:t>
            </a:r>
            <a:r>
              <a:rPr lang="en-US" altLang="ko" dirty="0">
                <a:solidFill>
                  <a:srgbClr val="19264B"/>
                </a:solidFill>
              </a:rPr>
              <a:t>.</a:t>
            </a:r>
            <a:r>
              <a:rPr lang="en-US" altLang="ko-KR" dirty="0">
                <a:solidFill>
                  <a:srgbClr val="19264B"/>
                </a:solidFill>
              </a:rPr>
              <a:t>25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100" dirty="0">
                <a:solidFill>
                  <a:srgbClr val="19264B"/>
                </a:solidFill>
              </a:rPr>
              <a:t>발표자 :</a:t>
            </a:r>
            <a:r>
              <a:rPr lang="ko-KR" altLang="en-US" sz="1100" dirty="0">
                <a:solidFill>
                  <a:srgbClr val="19264B"/>
                </a:solidFill>
              </a:rPr>
              <a:t> 방세현</a:t>
            </a:r>
          </a:p>
          <a:p>
            <a:pPr>
              <a:lnSpc>
                <a:spcPct val="115000"/>
              </a:lnSpc>
              <a:defRPr/>
            </a:pPr>
            <a:r>
              <a:rPr lang="ko-KR" altLang="en-US" sz="1100" dirty="0">
                <a:solidFill>
                  <a:srgbClr val="19264B"/>
                </a:solidFill>
              </a:rPr>
              <a:t>팀원 </a:t>
            </a:r>
            <a:r>
              <a:rPr lang="en-US" altLang="ko-KR" sz="1100" dirty="0">
                <a:solidFill>
                  <a:srgbClr val="19264B"/>
                </a:solidFill>
              </a:rPr>
              <a:t>: </a:t>
            </a:r>
            <a:r>
              <a:rPr lang="ko-KR" altLang="en-US" sz="1100" dirty="0" err="1"/>
              <a:t>김세린</a:t>
            </a:r>
            <a:r>
              <a:rPr lang="en-US" altLang="ko-KR" sz="1100" dirty="0"/>
              <a:t>,</a:t>
            </a:r>
            <a:r>
              <a:rPr lang="ko-KR" altLang="en-US" sz="1100" dirty="0"/>
              <a:t> 김은기</a:t>
            </a:r>
            <a:r>
              <a:rPr lang="en-US" altLang="ko-KR" sz="1100" dirty="0"/>
              <a:t>, </a:t>
            </a:r>
            <a:r>
              <a:rPr lang="ko-KR" altLang="en-US" sz="1100" dirty="0"/>
              <a:t>방세현</a:t>
            </a:r>
            <a:r>
              <a:rPr lang="en-US" altLang="ko-KR" sz="1100" dirty="0"/>
              <a:t>, </a:t>
            </a:r>
            <a:r>
              <a:rPr lang="ko-KR" altLang="en-US" sz="1100" dirty="0"/>
              <a:t>양재영</a:t>
            </a:r>
            <a:r>
              <a:rPr lang="en-US" altLang="ko-KR" sz="1100" dirty="0"/>
              <a:t>, </a:t>
            </a:r>
            <a:r>
              <a:rPr lang="ko-KR" altLang="en-US" sz="1100" dirty="0"/>
              <a:t>전해인</a:t>
            </a: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57" name="Google Shape;57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팀</a:t>
            </a:r>
            <a:r>
              <a:rPr lang="ko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원 소개 및 만남 인증</a:t>
            </a:r>
            <a:endParaRPr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137600" y="1820125"/>
            <a:ext cx="2282100" cy="233907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팀</a:t>
            </a:r>
            <a:r>
              <a:rPr lang="ko"/>
              <a:t>원 1 : 김</a:t>
            </a:r>
            <a:r>
              <a:rPr lang="ko-KR" altLang="en-US"/>
              <a:t>세린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팀</a:t>
            </a:r>
            <a:r>
              <a:rPr lang="ko"/>
              <a:t>원 2 : </a:t>
            </a:r>
            <a:r>
              <a:rPr lang="ko-KR" altLang="en-US"/>
              <a:t>김은기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팀</a:t>
            </a:r>
            <a:r>
              <a:rPr lang="ko"/>
              <a:t>원 3 : </a:t>
            </a:r>
            <a:r>
              <a:rPr lang="ko-KR" altLang="en-US"/>
              <a:t>방세현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팀원 </a:t>
            </a:r>
            <a:r>
              <a:rPr lang="en-US" altLang="ko-KR"/>
              <a:t>4 : </a:t>
            </a:r>
            <a:r>
              <a:rPr lang="ko-KR" altLang="en-US"/>
              <a:t>양재영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팀원 </a:t>
            </a:r>
            <a:r>
              <a:rPr lang="en-US" altLang="ko-KR"/>
              <a:t>5 : </a:t>
            </a:r>
            <a:r>
              <a:rPr lang="ko-KR" altLang="en-US"/>
              <a:t>전해인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96B9670-F7B3-F86C-C86A-20023ABEB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727" y="1696767"/>
            <a:ext cx="4143181" cy="2334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목차</a:t>
            </a:r>
            <a:endParaRPr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54051" y="1275008"/>
            <a:ext cx="2614411" cy="1151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b="1"/>
              <a:t>1. </a:t>
            </a:r>
            <a:r>
              <a:rPr lang="ko-KR" altLang="en-US" b="1"/>
              <a:t>프로젝트 소개</a:t>
            </a:r>
          </a:p>
          <a:p>
            <a:pPr lvl="0">
              <a:defRPr/>
            </a:pPr>
            <a:endParaRPr lang="en-US" altLang="ko-KR" b="1"/>
          </a:p>
          <a:p>
            <a:pPr lvl="0">
              <a:defRPr/>
            </a:pPr>
            <a:r>
              <a:rPr lang="en-US" altLang="ko-KR" b="1"/>
              <a:t>2. </a:t>
            </a:r>
            <a:r>
              <a:rPr lang="ko-KR" altLang="en-US" b="1"/>
              <a:t>프로젝트 진행 과정</a:t>
            </a:r>
          </a:p>
          <a:p>
            <a:pPr lvl="0">
              <a:defRPr/>
            </a:pPr>
            <a:endParaRPr lang="ko-KR" altLang="en-US" b="1"/>
          </a:p>
          <a:p>
            <a:pPr lvl="0">
              <a:defRPr/>
            </a:pPr>
            <a:r>
              <a:rPr lang="en-US" altLang="ko-KR" b="1"/>
              <a:t>3.</a:t>
            </a:r>
            <a:r>
              <a:rPr lang="ko-KR" altLang="en-US" b="1"/>
              <a:t> 프로젝트 결과 및 개선 방안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1. 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프로젝트 소개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408975" y="845454"/>
            <a:ext cx="5790127" cy="496683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ko-KR" altLang="en-US" sz="1400" b="1" dirty="0">
                <a:latin typeface="+mn-ea"/>
                <a:ea typeface="+mn-ea"/>
              </a:rPr>
              <a:t>프로젝트 주제 </a:t>
            </a:r>
            <a:r>
              <a:rPr lang="en-US" altLang="ko-KR" sz="1400" b="1" dirty="0">
                <a:latin typeface="+mn-ea"/>
                <a:ea typeface="+mn-ea"/>
              </a:rPr>
              <a:t>: </a:t>
            </a:r>
            <a:r>
              <a:rPr lang="en-US" altLang="ko-KR" sz="1400" b="1" dirty="0" err="1">
                <a:latin typeface="+mn-ea"/>
                <a:ea typeface="+mn-ea"/>
              </a:rPr>
              <a:t>Mediapipe</a:t>
            </a:r>
            <a:r>
              <a:rPr lang="ko-KR" altLang="en-US" sz="1400" b="1" dirty="0">
                <a:latin typeface="+mn-ea"/>
                <a:ea typeface="+mn-ea"/>
              </a:rPr>
              <a:t>를 이용한 가상 악기 만들기 </a:t>
            </a:r>
            <a:r>
              <a:rPr lang="en-US" altLang="ko-KR" sz="1400" b="1" dirty="0">
                <a:latin typeface="+mn-ea"/>
                <a:ea typeface="+mn-ea"/>
              </a:rPr>
              <a:t>(</a:t>
            </a:r>
            <a:r>
              <a:rPr lang="ko-KR" altLang="en-US" sz="1400" b="1" dirty="0">
                <a:latin typeface="+mn-ea"/>
                <a:ea typeface="+mn-ea"/>
              </a:rPr>
              <a:t>피아노</a:t>
            </a:r>
            <a:r>
              <a:rPr lang="en-US" altLang="ko-KR" sz="1400" b="1" dirty="0">
                <a:latin typeface="+mn-ea"/>
                <a:ea typeface="+mn-ea"/>
              </a:rPr>
              <a:t>)</a:t>
            </a:r>
            <a:r>
              <a:rPr lang="ko-KR" altLang="en-US" sz="1400" b="1" dirty="0">
                <a:latin typeface="+mn-ea"/>
                <a:ea typeface="+mn-ea"/>
              </a:rPr>
              <a:t> </a:t>
            </a:r>
          </a:p>
          <a:p>
            <a:pPr algn="l">
              <a:defRPr/>
            </a:pPr>
            <a:endParaRPr lang="en-US" altLang="ko-KR" sz="1200" dirty="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 dirty="0">
              <a:latin typeface="+mn-ea"/>
              <a:ea typeface="+mn-ea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583972" y="3485444"/>
            <a:ext cx="6773333" cy="1495777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6" name="직사각형 85"/>
          <p:cNvSpPr/>
          <p:nvPr/>
        </p:nvSpPr>
        <p:spPr>
          <a:xfrm>
            <a:off x="1591027" y="3485444"/>
            <a:ext cx="6865055" cy="1396999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pic>
        <p:nvPicPr>
          <p:cNvPr id="87" name="그림 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52878" y="1389316"/>
            <a:ext cx="3618308" cy="1341326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</a:t>
            </a:r>
            <a:r>
              <a:rPr 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. 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프로젝트 진행과정</a:t>
            </a:r>
          </a:p>
        </p:txBody>
      </p:sp>
      <p:pic>
        <p:nvPicPr>
          <p:cNvPr id="86" name="그림 8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764065" y="922739"/>
            <a:ext cx="5404201" cy="1943353"/>
          </a:xfrm>
          <a:prstGeom prst="rect">
            <a:avLst/>
          </a:prstGeom>
        </p:spPr>
      </p:pic>
      <p:sp>
        <p:nvSpPr>
          <p:cNvPr id="87" name="직사각형 86"/>
          <p:cNvSpPr/>
          <p:nvPr/>
        </p:nvSpPr>
        <p:spPr>
          <a:xfrm>
            <a:off x="1534583" y="2871612"/>
            <a:ext cx="7055555" cy="2271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dk1"/>
                </a:solidFill>
              </a:rPr>
              <a:t>1. </a:t>
            </a:r>
            <a:r>
              <a:rPr lang="en-US" altLang="ko-KR" dirty="0" err="1">
                <a:solidFill>
                  <a:schemeClr val="dk1"/>
                </a:solidFill>
              </a:rPr>
              <a:t>Mediapipe</a:t>
            </a:r>
            <a:r>
              <a:rPr lang="ko-KR" altLang="en-US" dirty="0">
                <a:solidFill>
                  <a:schemeClr val="dk1"/>
                </a:solidFill>
              </a:rPr>
              <a:t> 실습 </a:t>
            </a:r>
            <a:r>
              <a:rPr lang="en-US" altLang="ko-KR" dirty="0">
                <a:solidFill>
                  <a:schemeClr val="dk1"/>
                </a:solidFill>
              </a:rPr>
              <a:t>(</a:t>
            </a:r>
            <a:r>
              <a:rPr lang="ko-KR" altLang="en-US" dirty="0">
                <a:solidFill>
                  <a:schemeClr val="dk1"/>
                </a:solidFill>
              </a:rPr>
              <a:t>손가락을 인식하는지 확인해보는 실습</a:t>
            </a:r>
            <a:r>
              <a:rPr lang="en-US" altLang="ko-KR" dirty="0">
                <a:solidFill>
                  <a:schemeClr val="dk1"/>
                </a:solidFill>
              </a:rPr>
              <a:t>)</a:t>
            </a:r>
          </a:p>
          <a:p>
            <a:pPr>
              <a:defRPr/>
            </a:pPr>
            <a:endParaRPr lang="en-US" altLang="ko-KR" dirty="0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 dirty="0">
                <a:solidFill>
                  <a:schemeClr val="dk1"/>
                </a:solidFill>
              </a:rPr>
              <a:t>2.</a:t>
            </a:r>
            <a:r>
              <a:rPr lang="ko-KR" altLang="en-US" dirty="0">
                <a:solidFill>
                  <a:schemeClr val="dk1"/>
                </a:solidFill>
              </a:rPr>
              <a:t> 손가락 탐지 모델 생성 </a:t>
            </a:r>
          </a:p>
          <a:p>
            <a:pPr>
              <a:defRPr/>
            </a:pPr>
            <a:r>
              <a:rPr lang="en-US" altLang="ko-KR" sz="1200" dirty="0">
                <a:solidFill>
                  <a:schemeClr val="dk1"/>
                </a:solidFill>
              </a:rPr>
              <a:t>*</a:t>
            </a:r>
            <a:r>
              <a:rPr lang="ko-KR" altLang="en-US" sz="1200" dirty="0">
                <a:solidFill>
                  <a:schemeClr val="dk1"/>
                </a:solidFill>
              </a:rPr>
              <a:t> </a:t>
            </a:r>
            <a:r>
              <a:rPr lang="en-US" altLang="ko-KR" sz="1200" dirty="0">
                <a:solidFill>
                  <a:schemeClr val="dk1"/>
                </a:solidFill>
              </a:rPr>
              <a:t>(1)</a:t>
            </a:r>
            <a:r>
              <a:rPr lang="ko-KR" altLang="en-US" sz="1200" dirty="0">
                <a:solidFill>
                  <a:schemeClr val="dk1"/>
                </a:solidFill>
              </a:rPr>
              <a:t> 손가락 데이터 생성</a:t>
            </a:r>
          </a:p>
          <a:p>
            <a:pPr>
              <a:defRPr/>
            </a:pPr>
            <a:r>
              <a:rPr lang="en-US" altLang="ko-KR" sz="1200" dirty="0">
                <a:solidFill>
                  <a:schemeClr val="dk1"/>
                </a:solidFill>
              </a:rPr>
              <a:t>*</a:t>
            </a:r>
            <a:r>
              <a:rPr lang="ko-KR" altLang="en-US" sz="1200" dirty="0">
                <a:solidFill>
                  <a:schemeClr val="dk1"/>
                </a:solidFill>
              </a:rPr>
              <a:t> </a:t>
            </a:r>
            <a:r>
              <a:rPr lang="en-US" altLang="ko-KR" sz="1200" dirty="0">
                <a:solidFill>
                  <a:schemeClr val="dk1"/>
                </a:solidFill>
              </a:rPr>
              <a:t>(2)</a:t>
            </a:r>
            <a:r>
              <a:rPr lang="ko-KR" altLang="en-US" sz="1200" dirty="0">
                <a:solidFill>
                  <a:schemeClr val="dk1"/>
                </a:solidFill>
              </a:rPr>
              <a:t> 데이터 </a:t>
            </a:r>
            <a:r>
              <a:rPr lang="ko-KR" altLang="en-US" sz="1200" dirty="0" err="1">
                <a:solidFill>
                  <a:schemeClr val="dk1"/>
                </a:solidFill>
              </a:rPr>
              <a:t>전처리</a:t>
            </a:r>
            <a:endParaRPr lang="ko-KR" altLang="en-US" sz="1200" dirty="0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 sz="1200" dirty="0">
                <a:solidFill>
                  <a:schemeClr val="dk1"/>
                </a:solidFill>
              </a:rPr>
              <a:t>*</a:t>
            </a:r>
            <a:r>
              <a:rPr lang="ko-KR" altLang="en-US" sz="1200" dirty="0">
                <a:solidFill>
                  <a:schemeClr val="dk1"/>
                </a:solidFill>
              </a:rPr>
              <a:t> </a:t>
            </a:r>
            <a:r>
              <a:rPr lang="en-US" altLang="ko-KR" sz="1200" dirty="0">
                <a:solidFill>
                  <a:schemeClr val="dk1"/>
                </a:solidFill>
              </a:rPr>
              <a:t>(3)</a:t>
            </a:r>
            <a:r>
              <a:rPr lang="ko-KR" altLang="en-US" sz="1200" dirty="0">
                <a:solidFill>
                  <a:schemeClr val="dk1"/>
                </a:solidFill>
              </a:rPr>
              <a:t> </a:t>
            </a:r>
            <a:r>
              <a:rPr lang="en-US" altLang="ko-KR" sz="1200" dirty="0">
                <a:solidFill>
                  <a:schemeClr val="dk1"/>
                </a:solidFill>
              </a:rPr>
              <a:t>LSTM, GRU</a:t>
            </a:r>
            <a:r>
              <a:rPr lang="ko-KR" altLang="en-US" sz="1200" dirty="0">
                <a:solidFill>
                  <a:schemeClr val="dk1"/>
                </a:solidFill>
              </a:rPr>
              <a:t>로 학습</a:t>
            </a:r>
          </a:p>
          <a:p>
            <a:pPr>
              <a:defRPr/>
            </a:pPr>
            <a:endParaRPr lang="ko-KR" altLang="en-US" sz="1200" dirty="0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 dirty="0">
                <a:solidFill>
                  <a:schemeClr val="dk1"/>
                </a:solidFill>
              </a:rPr>
              <a:t>3.</a:t>
            </a:r>
            <a:r>
              <a:rPr lang="ko-KR" altLang="en-US" dirty="0">
                <a:solidFill>
                  <a:schemeClr val="dk1"/>
                </a:solidFill>
              </a:rPr>
              <a:t> 학습한 모델 평가</a:t>
            </a:r>
          </a:p>
          <a:p>
            <a:pPr>
              <a:defRPr/>
            </a:pPr>
            <a:endParaRPr lang="ko-KR" altLang="en-US" dirty="0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 dirty="0">
                <a:solidFill>
                  <a:schemeClr val="dk1"/>
                </a:solidFill>
              </a:rPr>
              <a:t>4.</a:t>
            </a:r>
            <a:r>
              <a:rPr lang="ko-KR" altLang="en-US" dirty="0">
                <a:solidFill>
                  <a:schemeClr val="dk1"/>
                </a:solidFill>
              </a:rPr>
              <a:t> 손가락 탐지 </a:t>
            </a:r>
            <a:r>
              <a:rPr lang="en-US" altLang="ko-KR" dirty="0">
                <a:solidFill>
                  <a:schemeClr val="dk1"/>
                </a:solidFill>
              </a:rPr>
              <a:t>+</a:t>
            </a:r>
            <a:r>
              <a:rPr lang="ko-KR" altLang="en-US" dirty="0">
                <a:solidFill>
                  <a:schemeClr val="dk1"/>
                </a:solidFill>
              </a:rPr>
              <a:t> </a:t>
            </a:r>
            <a:r>
              <a:rPr lang="en-US" altLang="ko-KR" dirty="0">
                <a:solidFill>
                  <a:schemeClr val="dk1"/>
                </a:solidFill>
              </a:rPr>
              <a:t>Aruco marker</a:t>
            </a:r>
            <a:r>
              <a:rPr lang="ko-KR" altLang="en-US" dirty="0">
                <a:solidFill>
                  <a:schemeClr val="dk1"/>
                </a:solidFill>
              </a:rPr>
              <a:t>를 이용한 </a:t>
            </a:r>
            <a:r>
              <a:rPr lang="en-US" altLang="ko-KR" dirty="0">
                <a:solidFill>
                  <a:schemeClr val="dk1"/>
                </a:solidFill>
              </a:rPr>
              <a:t>ai piano</a:t>
            </a:r>
            <a:r>
              <a:rPr lang="ko-KR" altLang="en-US" dirty="0">
                <a:solidFill>
                  <a:schemeClr val="dk1"/>
                </a:solidFill>
              </a:rPr>
              <a:t> 구현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</a:t>
            </a:r>
            <a:r>
              <a:rPr 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. 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프로젝트 진행과정 </a:t>
            </a: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Mediapipe 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실습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430141" y="732565"/>
            <a:ext cx="7307071" cy="412016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en-US" altLang="ko-KR" sz="1400" b="1">
                <a:latin typeface="+mn-ea"/>
                <a:ea typeface="+mn-ea"/>
              </a:rPr>
              <a:t>Mediapipe?</a:t>
            </a:r>
            <a:r>
              <a:rPr lang="ko-KR" altLang="en-US" sz="1400" b="1">
                <a:latin typeface="+mn-ea"/>
                <a:ea typeface="+mn-ea"/>
              </a:rPr>
              <a:t> </a:t>
            </a:r>
          </a:p>
          <a:p>
            <a:pPr algn="l">
              <a:defRPr/>
            </a:pPr>
            <a:r>
              <a:rPr lang="ko-KR" altLang="en-US" sz="1400" b="1">
                <a:latin typeface="+mn-ea"/>
                <a:ea typeface="+mn-ea"/>
              </a:rPr>
              <a:t> </a:t>
            </a:r>
          </a:p>
          <a:p>
            <a:pPr algn="l">
              <a:defRPr/>
            </a:pPr>
            <a:r>
              <a:rPr lang="ko-KR" altLang="en-US" sz="1200" b="1">
                <a:latin typeface="+mn-ea"/>
                <a:ea typeface="+mn-ea"/>
              </a:rPr>
              <a:t>   </a:t>
            </a: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583972" y="3485444"/>
            <a:ext cx="6773333" cy="1495777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6" name="직사각형 85"/>
          <p:cNvSpPr/>
          <p:nvPr/>
        </p:nvSpPr>
        <p:spPr>
          <a:xfrm>
            <a:off x="1591027" y="3485444"/>
            <a:ext cx="6865055" cy="1396999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pic>
        <p:nvPicPr>
          <p:cNvPr id="87" name="그림 8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63951" y="1961445"/>
            <a:ext cx="2829316" cy="3040944"/>
          </a:xfrm>
          <a:prstGeom prst="rect">
            <a:avLst/>
          </a:prstGeom>
        </p:spPr>
      </p:pic>
      <p:sp>
        <p:nvSpPr>
          <p:cNvPr id="88" name="직사각형 87"/>
          <p:cNvSpPr/>
          <p:nvPr/>
        </p:nvSpPr>
        <p:spPr>
          <a:xfrm>
            <a:off x="1541285" y="1051277"/>
            <a:ext cx="7006166" cy="479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/>
            </a:pPr>
            <a:r>
              <a:rPr lang="ko-KR" altLang="en-US" b="1">
                <a:solidFill>
                  <a:schemeClr val="dk1"/>
                </a:solidFill>
                <a:latin typeface="+mn-ea"/>
                <a:ea typeface="+mn-ea"/>
              </a:rPr>
              <a:t>임의의 </a:t>
            </a:r>
            <a:r>
              <a:rPr lang="en-US" altLang="ko-KR" b="1">
                <a:solidFill>
                  <a:schemeClr val="dk1"/>
                </a:solidFill>
                <a:latin typeface="+mn-ea"/>
                <a:ea typeface="+mn-ea"/>
              </a:rPr>
              <a:t>sensor data(</a:t>
            </a:r>
            <a:r>
              <a:rPr lang="ko-KR" altLang="en-US" b="1">
                <a:solidFill>
                  <a:schemeClr val="dk1"/>
                </a:solidFill>
                <a:latin typeface="+mn-ea"/>
                <a:ea typeface="+mn-ea"/>
              </a:rPr>
              <a:t>이미지</a:t>
            </a:r>
            <a:r>
              <a:rPr lang="en-US" altLang="ko-KR" b="1">
                <a:solidFill>
                  <a:schemeClr val="dk1"/>
                </a:solidFill>
                <a:latin typeface="+mn-ea"/>
                <a:ea typeface="+mn-ea"/>
              </a:rPr>
              <a:t>,</a:t>
            </a:r>
            <a:r>
              <a:rPr lang="ko-KR" altLang="en-US" b="1">
                <a:solidFill>
                  <a:schemeClr val="dk1"/>
                </a:solidFill>
                <a:latin typeface="+mn-ea"/>
                <a:ea typeface="+mn-ea"/>
              </a:rPr>
              <a:t> 영상 등</a:t>
            </a:r>
            <a:r>
              <a:rPr lang="en-US" altLang="ko-KR" b="1">
                <a:solidFill>
                  <a:schemeClr val="dk1"/>
                </a:solidFill>
                <a:latin typeface="+mn-ea"/>
                <a:ea typeface="+mn-ea"/>
              </a:rPr>
              <a:t>)</a:t>
            </a:r>
            <a:r>
              <a:rPr lang="ko-KR" altLang="en-US" b="1">
                <a:solidFill>
                  <a:schemeClr val="dk1"/>
                </a:solidFill>
                <a:latin typeface="+mn-ea"/>
                <a:ea typeface="+mn-ea"/>
              </a:rPr>
              <a:t>을 </a:t>
            </a:r>
            <a:r>
              <a:rPr lang="en-US" altLang="ko-KR" b="1">
                <a:solidFill>
                  <a:schemeClr val="dk1"/>
                </a:solidFill>
                <a:latin typeface="+mn-ea"/>
                <a:ea typeface="+mn-ea"/>
              </a:rPr>
              <a:t>input</a:t>
            </a:r>
            <a:r>
              <a:rPr lang="ko-KR" altLang="en-US" b="1">
                <a:solidFill>
                  <a:schemeClr val="dk1"/>
                </a:solidFill>
                <a:latin typeface="+mn-ea"/>
                <a:ea typeface="+mn-ea"/>
              </a:rPr>
              <a:t>으로 주어졌을 때 추론학습</a:t>
            </a:r>
            <a:r>
              <a:rPr lang="en-US" altLang="ko-KR" b="1">
                <a:solidFill>
                  <a:schemeClr val="dk1"/>
                </a:solidFill>
                <a:latin typeface="+mn-ea"/>
                <a:ea typeface="+mn-ea"/>
              </a:rPr>
              <a:t>(object detection </a:t>
            </a:r>
            <a:r>
              <a:rPr lang="ko-KR" altLang="en-US" b="1">
                <a:solidFill>
                  <a:schemeClr val="dk1"/>
                </a:solidFill>
                <a:latin typeface="+mn-ea"/>
                <a:ea typeface="+mn-ea"/>
              </a:rPr>
              <a:t>등</a:t>
            </a:r>
            <a:r>
              <a:rPr lang="en-US" altLang="ko-KR" b="1">
                <a:solidFill>
                  <a:schemeClr val="dk1"/>
                </a:solidFill>
                <a:latin typeface="+mn-ea"/>
                <a:ea typeface="+mn-ea"/>
              </a:rPr>
              <a:t>)</a:t>
            </a:r>
            <a:r>
              <a:rPr lang="ko-KR" altLang="en-US" b="1">
                <a:solidFill>
                  <a:schemeClr val="dk1"/>
                </a:solidFill>
                <a:latin typeface="+mn-ea"/>
                <a:ea typeface="+mn-ea"/>
              </a:rPr>
              <a:t>을 수행할 수있도록 설계된 </a:t>
            </a:r>
            <a:r>
              <a:rPr lang="en-US" altLang="ko-KR" b="1">
                <a:solidFill>
                  <a:schemeClr val="dk1"/>
                </a:solidFill>
                <a:latin typeface="+mn-ea"/>
                <a:ea typeface="+mn-ea"/>
              </a:rPr>
              <a:t>framework</a:t>
            </a:r>
            <a:r>
              <a:rPr lang="ko-KR" altLang="en-US" b="1">
                <a:solidFill>
                  <a:schemeClr val="dk1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89" name="그림 8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959234" y="1715709"/>
            <a:ext cx="3360091" cy="1514524"/>
          </a:xfrm>
          <a:prstGeom prst="rect">
            <a:avLst/>
          </a:prstGeom>
        </p:spPr>
      </p:pic>
      <p:sp>
        <p:nvSpPr>
          <p:cNvPr id="90" name="타원 89"/>
          <p:cNvSpPr/>
          <p:nvPr/>
        </p:nvSpPr>
        <p:spPr>
          <a:xfrm>
            <a:off x="2120194" y="1665111"/>
            <a:ext cx="1333499" cy="317500"/>
          </a:xfrm>
          <a:prstGeom prst="ellipse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구성요소</a:t>
            </a:r>
          </a:p>
        </p:txBody>
      </p:sp>
      <p:pic>
        <p:nvPicPr>
          <p:cNvPr id="92" name="그림 9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936587" y="3475038"/>
            <a:ext cx="3381397" cy="15307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프로젝트 진행 과정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349355" y="753379"/>
            <a:ext cx="5790127" cy="43318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en-US" altLang="ko-KR" sz="1400" b="1">
                <a:latin typeface="+mn-ea"/>
                <a:ea typeface="+mn-ea"/>
              </a:rPr>
              <a:t> Mediapipe</a:t>
            </a:r>
            <a:r>
              <a:rPr lang="ko-KR" altLang="en-US" sz="1400" b="1">
                <a:latin typeface="+mn-ea"/>
                <a:ea typeface="+mn-ea"/>
              </a:rPr>
              <a:t>를 활용해서 손가락 탐지 모델 만들기</a:t>
            </a:r>
          </a:p>
          <a:p>
            <a:pPr algn="l">
              <a:defRPr/>
            </a:pPr>
            <a:endParaRPr lang="en-US" altLang="ko-KR" sz="12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583972" y="3485444"/>
            <a:ext cx="6773333" cy="1495777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6" name="직사각형 85"/>
          <p:cNvSpPr/>
          <p:nvPr/>
        </p:nvSpPr>
        <p:spPr>
          <a:xfrm>
            <a:off x="1591027" y="3485444"/>
            <a:ext cx="6865055" cy="1396999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1386418" y="3266725"/>
            <a:ext cx="6925734" cy="15705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Mediapipe</a:t>
            </a:r>
            <a:r>
              <a:rPr lang="ko-KR" altLang="en-US">
                <a:solidFill>
                  <a:schemeClr val="dk1"/>
                </a:solidFill>
              </a:rPr>
              <a:t>에서는 각 손가락 관절 별로 </a:t>
            </a:r>
            <a:r>
              <a:rPr lang="en-US" altLang="ko-KR">
                <a:solidFill>
                  <a:schemeClr val="dk1"/>
                </a:solidFill>
              </a:rPr>
              <a:t>0</a:t>
            </a:r>
            <a:r>
              <a:rPr lang="ko-KR" altLang="en-US">
                <a:solidFill>
                  <a:schemeClr val="dk1"/>
                </a:solidFill>
              </a:rPr>
              <a:t>부터 </a:t>
            </a:r>
            <a:r>
              <a:rPr lang="en-US" altLang="ko-KR">
                <a:solidFill>
                  <a:schemeClr val="dk1"/>
                </a:solidFill>
              </a:rPr>
              <a:t>21</a:t>
            </a:r>
            <a:r>
              <a:rPr lang="ko-KR" altLang="en-US">
                <a:solidFill>
                  <a:schemeClr val="dk1"/>
                </a:solidFill>
              </a:rPr>
              <a:t>까지의 </a:t>
            </a:r>
            <a:r>
              <a:rPr lang="en-US" altLang="ko-KR">
                <a:solidFill>
                  <a:schemeClr val="dk1"/>
                </a:solidFill>
              </a:rPr>
              <a:t>landmark</a:t>
            </a:r>
            <a:r>
              <a:rPr lang="ko-KR" altLang="en-US">
                <a:solidFill>
                  <a:schemeClr val="dk1"/>
                </a:solidFill>
              </a:rPr>
              <a:t>가 배정되어 있는상태</a:t>
            </a: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*</a:t>
            </a:r>
            <a:r>
              <a:rPr lang="ko-KR" altLang="en-US">
                <a:solidFill>
                  <a:schemeClr val="dk1"/>
                </a:solidFill>
              </a:rPr>
              <a:t> 이것을 어떻게 활용할 수 있을까</a:t>
            </a:r>
            <a:r>
              <a:rPr lang="en-US" altLang="ko-KR">
                <a:solidFill>
                  <a:schemeClr val="dk1"/>
                </a:solidFill>
              </a:rPr>
              <a:t>?</a:t>
            </a:r>
          </a:p>
          <a:p>
            <a:pPr>
              <a:defRPr/>
            </a:pPr>
            <a:r>
              <a:rPr lang="ko-KR" altLang="en-US" sz="1200">
                <a:solidFill>
                  <a:schemeClr val="dk1"/>
                </a:solidFill>
              </a:rPr>
              <a:t>⓵ </a:t>
            </a:r>
            <a:r>
              <a:rPr lang="en-US" altLang="ko-KR" sz="1200">
                <a:solidFill>
                  <a:schemeClr val="dk1"/>
                </a:solidFill>
              </a:rPr>
              <a:t>target</a:t>
            </a:r>
            <a:r>
              <a:rPr lang="ko-KR" altLang="en-US" sz="1200">
                <a:solidFill>
                  <a:schemeClr val="dk1"/>
                </a:solidFill>
              </a:rPr>
              <a:t> 설정 </a:t>
            </a:r>
            <a:r>
              <a:rPr lang="en-US" altLang="ko-KR" sz="1200">
                <a:solidFill>
                  <a:schemeClr val="dk1"/>
                </a:solidFill>
              </a:rPr>
              <a:t>:</a:t>
            </a:r>
            <a:r>
              <a:rPr lang="ko-KR" altLang="en-US" sz="1200">
                <a:solidFill>
                  <a:schemeClr val="dk1"/>
                </a:solidFill>
              </a:rPr>
              <a:t> 왼손 새끼손가락 </a:t>
            </a:r>
            <a:r>
              <a:rPr lang="en-US" altLang="ko-KR" sz="1200">
                <a:solidFill>
                  <a:schemeClr val="dk1"/>
                </a:solidFill>
              </a:rPr>
              <a:t>=</a:t>
            </a:r>
            <a:r>
              <a:rPr lang="ko-KR" altLang="en-US" sz="1200">
                <a:solidFill>
                  <a:schemeClr val="dk1"/>
                </a:solidFill>
              </a:rPr>
              <a:t> </a:t>
            </a:r>
            <a:r>
              <a:rPr lang="en-US" altLang="ko-KR" sz="1200">
                <a:solidFill>
                  <a:schemeClr val="dk1"/>
                </a:solidFill>
              </a:rPr>
              <a:t>0</a:t>
            </a:r>
            <a:r>
              <a:rPr lang="ko-KR" altLang="en-US" sz="1200">
                <a:solidFill>
                  <a:schemeClr val="dk1"/>
                </a:solidFill>
              </a:rPr>
              <a:t> </a:t>
            </a:r>
            <a:r>
              <a:rPr lang="en-US" altLang="ko-KR" sz="1200">
                <a:solidFill>
                  <a:schemeClr val="dk1"/>
                </a:solidFill>
              </a:rPr>
              <a:t>~</a:t>
            </a:r>
            <a:r>
              <a:rPr lang="ko-KR" altLang="en-US" sz="1200">
                <a:solidFill>
                  <a:schemeClr val="dk1"/>
                </a:solidFill>
              </a:rPr>
              <a:t> 오른손 새끼손가락 </a:t>
            </a:r>
            <a:r>
              <a:rPr lang="en-US" altLang="ko-KR" sz="1200">
                <a:solidFill>
                  <a:schemeClr val="dk1"/>
                </a:solidFill>
              </a:rPr>
              <a:t>=</a:t>
            </a:r>
            <a:r>
              <a:rPr lang="ko-KR" altLang="en-US" sz="1200">
                <a:solidFill>
                  <a:schemeClr val="dk1"/>
                </a:solidFill>
              </a:rPr>
              <a:t> </a:t>
            </a:r>
            <a:r>
              <a:rPr lang="en-US" altLang="ko-KR" sz="1200">
                <a:solidFill>
                  <a:schemeClr val="dk1"/>
                </a:solidFill>
              </a:rPr>
              <a:t>9</a:t>
            </a:r>
            <a:r>
              <a:rPr lang="ko-KR" altLang="en-US" sz="1200">
                <a:solidFill>
                  <a:schemeClr val="dk1"/>
                </a:solidFill>
              </a:rPr>
              <a:t>로 설정</a:t>
            </a:r>
          </a:p>
          <a:p>
            <a:pPr>
              <a:defRPr/>
            </a:pPr>
            <a:r>
              <a:rPr lang="ko-KR" altLang="en-US" sz="1200">
                <a:solidFill>
                  <a:schemeClr val="dk1"/>
                </a:solidFill>
              </a:rPr>
              <a:t>⓶ 각 손가락별 특정 </a:t>
            </a:r>
            <a:r>
              <a:rPr lang="en-US" altLang="ko-KR" sz="1200">
                <a:solidFill>
                  <a:schemeClr val="dk1"/>
                </a:solidFill>
              </a:rPr>
              <a:t>sequence</a:t>
            </a:r>
            <a:r>
              <a:rPr lang="ko-KR" altLang="en-US" sz="1200">
                <a:solidFill>
                  <a:schemeClr val="dk1"/>
                </a:solidFill>
              </a:rPr>
              <a:t>에 해당하는 행동 데이터를 저장</a:t>
            </a:r>
          </a:p>
          <a:p>
            <a:pPr>
              <a:defRPr/>
            </a:pPr>
            <a:r>
              <a:rPr lang="ko-KR" altLang="en-US" sz="1200">
                <a:solidFill>
                  <a:schemeClr val="dk1"/>
                </a:solidFill>
              </a:rPr>
              <a:t>⓷ 행동이 이루어지는 기간에서의 </a:t>
            </a:r>
            <a:r>
              <a:rPr lang="en-US" altLang="ko-KR" sz="1200">
                <a:solidFill>
                  <a:schemeClr val="dk1"/>
                </a:solidFill>
              </a:rPr>
              <a:t>landmark</a:t>
            </a:r>
            <a:r>
              <a:rPr lang="ko-KR" altLang="en-US" sz="1200">
                <a:solidFill>
                  <a:schemeClr val="dk1"/>
                </a:solidFill>
              </a:rPr>
              <a:t>의 </a:t>
            </a:r>
            <a:r>
              <a:rPr lang="en-US" altLang="ko-KR" sz="1200">
                <a:solidFill>
                  <a:schemeClr val="dk1"/>
                </a:solidFill>
              </a:rPr>
              <a:t>x,y,z</a:t>
            </a:r>
            <a:r>
              <a:rPr lang="ko-KR" altLang="en-US" sz="1200">
                <a:solidFill>
                  <a:schemeClr val="dk1"/>
                </a:solidFill>
              </a:rPr>
              <a:t> 위치 좌표를 기록한 최종 데이터 생성</a:t>
            </a:r>
          </a:p>
        </p:txBody>
      </p:sp>
      <p:pic>
        <p:nvPicPr>
          <p:cNvPr id="89" name="그림 8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22941" y="1479020"/>
            <a:ext cx="5124450" cy="1762125"/>
          </a:xfrm>
          <a:prstGeom prst="rect">
            <a:avLst/>
          </a:prstGeom>
        </p:spPr>
      </p:pic>
      <p:sp>
        <p:nvSpPr>
          <p:cNvPr id="90" name="내용 개체 틀 2"/>
          <p:cNvSpPr txBox="1"/>
          <p:nvPr/>
        </p:nvSpPr>
        <p:spPr>
          <a:xfrm>
            <a:off x="1427319" y="1089223"/>
            <a:ext cx="5790127" cy="43318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r>
              <a:rPr kumimoji="0" lang="en-US" altLang="ko-KR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Step1 :</a:t>
            </a:r>
            <a:r>
              <a:rPr kumimoji="0" lang="ko-KR" altLang="en-US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 손가락 데이터셋 만들기 </a:t>
            </a:r>
            <a:r>
              <a:rPr kumimoji="0" lang="en-US" altLang="ko-KR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(</a:t>
            </a:r>
            <a:r>
              <a:rPr kumimoji="0" lang="ko-KR" altLang="en-US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직접 제작</a:t>
            </a:r>
            <a:r>
              <a:rPr kumimoji="0" lang="en-US" altLang="ko-KR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)</a:t>
            </a: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12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프로젝트 진행 과정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349355" y="753379"/>
            <a:ext cx="5790127" cy="43318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en-US" altLang="ko-KR" sz="1400" b="1">
                <a:latin typeface="+mn-ea"/>
                <a:ea typeface="+mn-ea"/>
              </a:rPr>
              <a:t> Mediapipe</a:t>
            </a:r>
            <a:r>
              <a:rPr lang="ko-KR" altLang="en-US" sz="1400" b="1">
                <a:latin typeface="+mn-ea"/>
                <a:ea typeface="+mn-ea"/>
              </a:rPr>
              <a:t>를 활용해서 손가락 탐지 모델 만들기</a:t>
            </a:r>
          </a:p>
          <a:p>
            <a:pPr algn="l">
              <a:defRPr/>
            </a:pPr>
            <a:endParaRPr lang="en-US" altLang="ko-KR" sz="12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583972" y="3485444"/>
            <a:ext cx="6773333" cy="1495777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6" name="직사각형 85"/>
          <p:cNvSpPr/>
          <p:nvPr/>
        </p:nvSpPr>
        <p:spPr>
          <a:xfrm>
            <a:off x="1591027" y="3485444"/>
            <a:ext cx="6865055" cy="1396999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90" name="내용 개체 틀 2"/>
          <p:cNvSpPr txBox="1"/>
          <p:nvPr/>
        </p:nvSpPr>
        <p:spPr>
          <a:xfrm>
            <a:off x="1427319" y="1089223"/>
            <a:ext cx="7264739" cy="1237516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r>
              <a:rPr kumimoji="0" lang="en-US" altLang="ko-KR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Step1-1</a:t>
            </a:r>
            <a:r>
              <a:rPr kumimoji="0" lang="ko-KR" altLang="en-US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 </a:t>
            </a:r>
            <a:r>
              <a:rPr kumimoji="0" lang="en-US" altLang="ko-KR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 :</a:t>
            </a:r>
            <a:r>
              <a:rPr kumimoji="0" lang="ko-KR" altLang="en-US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 생성한 손가락 데이터셋의 문제점</a:t>
            </a:r>
          </a:p>
          <a:p>
            <a:pPr>
              <a:defRPr/>
            </a:pPr>
            <a:r>
              <a:rPr lang="ko-KR" altLang="en-US" sz="1400" b="1">
                <a:solidFill>
                  <a:schemeClr val="dk1"/>
                </a:solidFill>
              </a:rPr>
              <a:t>⓵ 데이터 수집의 위치 </a:t>
            </a:r>
            <a:r>
              <a:rPr lang="en-US" altLang="ko-KR" sz="1400" b="1">
                <a:solidFill>
                  <a:schemeClr val="dk1"/>
                </a:solidFill>
              </a:rPr>
              <a:t>:</a:t>
            </a:r>
            <a:r>
              <a:rPr lang="ko-KR" altLang="en-US" sz="1400" b="1">
                <a:solidFill>
                  <a:schemeClr val="dk1"/>
                </a:solidFill>
              </a:rPr>
              <a:t> 데이터를 생성할 때 카메라의 하단부에서의 움직임만을 기록한 상황 </a:t>
            </a:r>
            <a:r>
              <a:rPr lang="en-US" altLang="ko-KR" sz="1400" b="1">
                <a:solidFill>
                  <a:schemeClr val="dk1"/>
                </a:solidFill>
              </a:rPr>
              <a:t>-</a:t>
            </a:r>
            <a:r>
              <a:rPr lang="ko-KR" altLang="en-US" sz="1400" b="1">
                <a:solidFill>
                  <a:schemeClr val="dk1"/>
                </a:solidFill>
              </a:rPr>
              <a:t> 다양한 상황에서의 일반화가 어려움</a:t>
            </a:r>
          </a:p>
          <a:p>
            <a:pPr>
              <a:defRPr/>
            </a:pPr>
            <a:r>
              <a:rPr lang="ko-KR" altLang="en-US" sz="1400" b="1">
                <a:solidFill>
                  <a:schemeClr val="dk1"/>
                </a:solidFill>
              </a:rPr>
              <a:t>⓶ 사람별 손의 크기 및 손가락의 길이의 다양성 존재 </a:t>
            </a: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1400" b="1" i="0" u="none" strike="noStrike" kern="0" cap="none" spc="0" normalizeH="0" baseline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1400" b="1" i="0" u="none" strike="noStrike" kern="0" cap="none" spc="0" normalizeH="0" baseline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12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91" name="화살표: 아래쪽 90"/>
          <p:cNvSpPr/>
          <p:nvPr/>
        </p:nvSpPr>
        <p:spPr>
          <a:xfrm>
            <a:off x="4713111" y="2230613"/>
            <a:ext cx="306916" cy="426861"/>
          </a:xfrm>
          <a:prstGeom prst="downArrow">
            <a:avLst>
              <a:gd name="adj1" fmla="val 50000"/>
              <a:gd name="adj2" fmla="val 50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92" name="그림 9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51163" y="2977796"/>
            <a:ext cx="3226505" cy="1777294"/>
          </a:xfrm>
          <a:prstGeom prst="rect">
            <a:avLst/>
          </a:prstGeom>
        </p:spPr>
      </p:pic>
      <p:sp>
        <p:nvSpPr>
          <p:cNvPr id="93" name="직사각형 92"/>
          <p:cNvSpPr/>
          <p:nvPr/>
        </p:nvSpPr>
        <p:spPr>
          <a:xfrm>
            <a:off x="5231695" y="2984500"/>
            <a:ext cx="3802945" cy="177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*</a:t>
            </a:r>
            <a:r>
              <a:rPr lang="ko-KR" altLang="en-US">
                <a:solidFill>
                  <a:schemeClr val="dk1"/>
                </a:solidFill>
              </a:rPr>
              <a:t> 손목 좌표</a:t>
            </a:r>
            <a:r>
              <a:rPr lang="en-US" altLang="ko-KR">
                <a:solidFill>
                  <a:schemeClr val="dk1"/>
                </a:solidFill>
              </a:rPr>
              <a:t>(landmark 0</a:t>
            </a:r>
            <a:r>
              <a:rPr lang="ko-KR" altLang="en-US">
                <a:solidFill>
                  <a:schemeClr val="dk1"/>
                </a:solidFill>
              </a:rPr>
              <a:t>번</a:t>
            </a:r>
            <a:r>
              <a:rPr lang="en-US" altLang="ko-KR">
                <a:solidFill>
                  <a:schemeClr val="dk1"/>
                </a:solidFill>
              </a:rPr>
              <a:t>)</a:t>
            </a:r>
            <a:r>
              <a:rPr lang="ko-KR" altLang="en-US">
                <a:solidFill>
                  <a:schemeClr val="dk1"/>
                </a:solidFill>
              </a:rPr>
              <a:t>를 기준으로</a:t>
            </a: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나머지 좌표들을 상대좌표로 정규화시킨다</a:t>
            </a: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효과 </a:t>
            </a:r>
            <a:r>
              <a:rPr lang="en-US" altLang="ko-KR">
                <a:solidFill>
                  <a:schemeClr val="dk1"/>
                </a:solidFill>
              </a:rPr>
              <a:t>:</a:t>
            </a:r>
            <a:r>
              <a:rPr lang="ko-KR" altLang="en-US">
                <a:solidFill>
                  <a:schemeClr val="dk1"/>
                </a:solidFill>
              </a:rPr>
              <a:t> 손의 크기 및 위치에 대한 영향력이 감소</a:t>
            </a: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프로젝트 진행 과정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349355" y="753379"/>
            <a:ext cx="5790127" cy="43318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en-US" altLang="ko-KR" sz="1400" b="1">
                <a:latin typeface="+mn-ea"/>
                <a:ea typeface="+mn-ea"/>
              </a:rPr>
              <a:t> Mediapipe</a:t>
            </a:r>
            <a:r>
              <a:rPr lang="ko-KR" altLang="en-US" sz="1400" b="1">
                <a:latin typeface="+mn-ea"/>
                <a:ea typeface="+mn-ea"/>
              </a:rPr>
              <a:t>를 활용해서 손가락 탐지 모델 만들기</a:t>
            </a:r>
          </a:p>
          <a:p>
            <a:pPr algn="l">
              <a:defRPr/>
            </a:pPr>
            <a:endParaRPr lang="en-US" altLang="ko-KR" sz="12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583972" y="3485444"/>
            <a:ext cx="6773333" cy="1495777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6" name="직사각형 85"/>
          <p:cNvSpPr/>
          <p:nvPr/>
        </p:nvSpPr>
        <p:spPr>
          <a:xfrm>
            <a:off x="1591027" y="3485444"/>
            <a:ext cx="6865055" cy="1396999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90" name="내용 개체 틀 2"/>
          <p:cNvSpPr txBox="1"/>
          <p:nvPr/>
        </p:nvSpPr>
        <p:spPr>
          <a:xfrm>
            <a:off x="1427319" y="1089223"/>
            <a:ext cx="7264739" cy="1237516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r>
              <a:rPr kumimoji="0" lang="en-US" altLang="ko-KR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Step2</a:t>
            </a:r>
            <a:r>
              <a:rPr kumimoji="0" lang="ko-KR" altLang="en-US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 </a:t>
            </a:r>
            <a:r>
              <a:rPr kumimoji="0" lang="en-US" altLang="ko-KR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:</a:t>
            </a:r>
            <a:r>
              <a:rPr kumimoji="0" lang="ko-KR" altLang="en-US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 데이터 전처리</a:t>
            </a:r>
          </a:p>
          <a:p>
            <a:pPr>
              <a:defRPr/>
            </a:pPr>
            <a:r>
              <a:rPr lang="ko-KR" altLang="en-US" sz="1400" b="1">
                <a:solidFill>
                  <a:schemeClr val="dk1"/>
                </a:solidFill>
              </a:rPr>
              <a:t>⓵ 현재 데이터에 존재하는 </a:t>
            </a:r>
            <a:r>
              <a:rPr lang="en-US" altLang="ko-KR" sz="1400" b="1">
                <a:solidFill>
                  <a:schemeClr val="dk1"/>
                </a:solidFill>
              </a:rPr>
              <a:t>feature = </a:t>
            </a:r>
            <a:r>
              <a:rPr lang="ko-KR" altLang="en-US" sz="1400" b="1">
                <a:solidFill>
                  <a:schemeClr val="dk1"/>
                </a:solidFill>
              </a:rPr>
              <a:t>손가락별 </a:t>
            </a:r>
            <a:r>
              <a:rPr lang="en-US" altLang="ko-KR" sz="1400" b="1">
                <a:solidFill>
                  <a:schemeClr val="dk1"/>
                </a:solidFill>
              </a:rPr>
              <a:t>x,y,z</a:t>
            </a:r>
            <a:r>
              <a:rPr lang="ko-KR" altLang="en-US" sz="1400" b="1">
                <a:solidFill>
                  <a:schemeClr val="dk1"/>
                </a:solidFill>
              </a:rPr>
              <a:t> 좌표 </a:t>
            </a:r>
            <a:r>
              <a:rPr lang="en-US" altLang="ko-KR" sz="1400" b="1">
                <a:solidFill>
                  <a:schemeClr val="dk1"/>
                </a:solidFill>
              </a:rPr>
              <a:t>(21 x 3) = 63</a:t>
            </a:r>
            <a:r>
              <a:rPr lang="ko-KR" altLang="en-US" sz="1400" b="1">
                <a:solidFill>
                  <a:schemeClr val="dk1"/>
                </a:solidFill>
              </a:rPr>
              <a:t>개</a:t>
            </a:r>
          </a:p>
          <a:p>
            <a:pPr>
              <a:defRPr/>
            </a:pPr>
            <a:r>
              <a:rPr lang="ko-KR" altLang="en-US" sz="1400" b="1">
                <a:solidFill>
                  <a:schemeClr val="dk1"/>
                </a:solidFill>
              </a:rPr>
              <a:t>⓶ 여기에 손가락을 구별할 때 유용하게 쓰일 수 있는 또 다른 </a:t>
            </a:r>
            <a:r>
              <a:rPr lang="en-US" altLang="ko-KR" sz="1400" b="1">
                <a:solidFill>
                  <a:schemeClr val="dk1"/>
                </a:solidFill>
              </a:rPr>
              <a:t>feature</a:t>
            </a:r>
            <a:r>
              <a:rPr lang="ko-KR" altLang="en-US" sz="1400" b="1">
                <a:solidFill>
                  <a:schemeClr val="dk1"/>
                </a:solidFill>
              </a:rPr>
              <a:t>들을 추가</a:t>
            </a: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1400" b="1" i="0" u="none" strike="noStrike" kern="0" cap="none" spc="0" normalizeH="0" baseline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12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pic>
        <p:nvPicPr>
          <p:cNvPr id="94" name="그림 9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15827" y="1925108"/>
            <a:ext cx="2619843" cy="1489779"/>
          </a:xfrm>
          <a:prstGeom prst="rect">
            <a:avLst/>
          </a:prstGeom>
        </p:spPr>
      </p:pic>
      <p:pic>
        <p:nvPicPr>
          <p:cNvPr id="95" name="그림 9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03140" y="3471371"/>
            <a:ext cx="2980004" cy="1630148"/>
          </a:xfrm>
          <a:prstGeom prst="rect">
            <a:avLst/>
          </a:prstGeom>
        </p:spPr>
      </p:pic>
      <p:pic>
        <p:nvPicPr>
          <p:cNvPr id="96" name="그림 9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523646" y="3497873"/>
            <a:ext cx="2597151" cy="1588477"/>
          </a:xfrm>
          <a:prstGeom prst="rect">
            <a:avLst/>
          </a:prstGeom>
        </p:spPr>
      </p:pic>
      <p:pic>
        <p:nvPicPr>
          <p:cNvPr id="97" name="그림 9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694484" y="1906587"/>
            <a:ext cx="2990254" cy="1520825"/>
          </a:xfrm>
          <a:prstGeom prst="rect">
            <a:avLst/>
          </a:prstGeom>
        </p:spPr>
      </p:pic>
      <p:graphicFrame>
        <p:nvGraphicFramePr>
          <p:cNvPr id="98" name="표 97"/>
          <p:cNvGraphicFramePr>
            <a:graphicFrameLocks noGrp="1"/>
          </p:cNvGraphicFramePr>
          <p:nvPr/>
        </p:nvGraphicFramePr>
        <p:xfrm>
          <a:off x="4275666" y="2444750"/>
          <a:ext cx="1287780" cy="18796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287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300"/>
                        <a:t>추가된 </a:t>
                      </a:r>
                      <a:r>
                        <a:rPr lang="en-US" altLang="ko-KR" sz="1300"/>
                        <a:t>feature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/>
                        <a:t>1. </a:t>
                      </a:r>
                      <a:r>
                        <a:rPr lang="ko-KR" altLang="en-US" sz="1000"/>
                        <a:t>손가락 사이 각도</a:t>
                      </a:r>
                      <a:endParaRPr lang="en-US" altLang="ko-KR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/>
                        <a:t>2.</a:t>
                      </a:r>
                      <a:r>
                        <a:rPr lang="ko-KR" altLang="en-US" sz="1000"/>
                        <a:t> 엄지 기준 각도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/>
                        <a:t>3.</a:t>
                      </a:r>
                      <a:r>
                        <a:rPr lang="ko-KR" altLang="en-US" sz="1000"/>
                        <a:t> 손가락 내의 관절 각도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/>
                        <a:t>4.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R" sz="1000"/>
                        <a:t>Augmentation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99" name="직선 화살표 연결선 98"/>
          <p:cNvCxnSpPr/>
          <p:nvPr/>
        </p:nvCxnSpPr>
        <p:spPr>
          <a:xfrm rot="10800000">
            <a:off x="3841750" y="2843389"/>
            <a:ext cx="522111" cy="190500"/>
          </a:xfrm>
          <a:prstGeom prst="straightConnector1">
            <a:avLst/>
          </a:prstGeom>
          <a:ln>
            <a:solidFill>
              <a:srgbClr val="FE61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/>
          <p:nvPr/>
        </p:nvCxnSpPr>
        <p:spPr>
          <a:xfrm flipV="1">
            <a:off x="5513917" y="2864556"/>
            <a:ext cx="507999" cy="444500"/>
          </a:xfrm>
          <a:prstGeom prst="straightConnector1">
            <a:avLst/>
          </a:prstGeom>
          <a:ln>
            <a:solidFill>
              <a:srgbClr val="FE61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/>
          <p:cNvCxnSpPr/>
          <p:nvPr/>
        </p:nvCxnSpPr>
        <p:spPr>
          <a:xfrm rot="10800000" flipV="1">
            <a:off x="3637139" y="3711222"/>
            <a:ext cx="705557" cy="310444"/>
          </a:xfrm>
          <a:prstGeom prst="straightConnector1">
            <a:avLst/>
          </a:prstGeom>
          <a:ln>
            <a:solidFill>
              <a:srgbClr val="FE61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/>
          <p:cNvCxnSpPr/>
          <p:nvPr/>
        </p:nvCxnSpPr>
        <p:spPr>
          <a:xfrm flipV="1">
            <a:off x="5450417" y="3852333"/>
            <a:ext cx="416277" cy="296333"/>
          </a:xfrm>
          <a:prstGeom prst="straightConnector1">
            <a:avLst/>
          </a:prstGeom>
          <a:ln>
            <a:solidFill>
              <a:srgbClr val="FE61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프로젝트 진행 과정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349355" y="753379"/>
            <a:ext cx="5790127" cy="43318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en-US" altLang="ko-KR" sz="1400" b="1">
                <a:latin typeface="+mn-ea"/>
                <a:ea typeface="+mn-ea"/>
              </a:rPr>
              <a:t> Mediapipe</a:t>
            </a:r>
            <a:r>
              <a:rPr lang="ko-KR" altLang="en-US" sz="1400" b="1">
                <a:latin typeface="+mn-ea"/>
                <a:ea typeface="+mn-ea"/>
              </a:rPr>
              <a:t>를 활용해서 손가락 탐지 모델 만들기</a:t>
            </a:r>
          </a:p>
          <a:p>
            <a:pPr algn="l">
              <a:defRPr/>
            </a:pPr>
            <a:endParaRPr lang="en-US" altLang="ko-KR" sz="12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583972" y="3485444"/>
            <a:ext cx="6773333" cy="1495777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6" name="직사각형 85"/>
          <p:cNvSpPr/>
          <p:nvPr/>
        </p:nvSpPr>
        <p:spPr>
          <a:xfrm>
            <a:off x="1591027" y="3485444"/>
            <a:ext cx="6865055" cy="1396999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90" name="내용 개체 틀 2"/>
          <p:cNvSpPr txBox="1"/>
          <p:nvPr/>
        </p:nvSpPr>
        <p:spPr>
          <a:xfrm>
            <a:off x="1427319" y="1089223"/>
            <a:ext cx="7264739" cy="1237516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r>
              <a:rPr kumimoji="0" lang="en-US" altLang="ko-KR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Step3. </a:t>
            </a:r>
            <a:r>
              <a:rPr kumimoji="0" lang="ko-KR" altLang="en-US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학습 모델 선정</a:t>
            </a:r>
          </a:p>
          <a:p>
            <a:pPr>
              <a:defRPr/>
            </a:pPr>
            <a:r>
              <a:rPr lang="en-US" altLang="ko-KR" sz="1400" b="1">
                <a:solidFill>
                  <a:schemeClr val="dk1"/>
                </a:solidFill>
              </a:rPr>
              <a:t>-</a:t>
            </a:r>
            <a:r>
              <a:rPr lang="ko-KR" altLang="en-US" sz="1400" b="1">
                <a:solidFill>
                  <a:schemeClr val="dk1"/>
                </a:solidFill>
              </a:rPr>
              <a:t> 후보 </a:t>
            </a:r>
            <a:r>
              <a:rPr lang="en-US" altLang="ko-KR" sz="1400" b="1">
                <a:solidFill>
                  <a:schemeClr val="dk1"/>
                </a:solidFill>
              </a:rPr>
              <a:t>1</a:t>
            </a:r>
            <a:r>
              <a:rPr lang="ko-KR" altLang="en-US" sz="1400" b="1">
                <a:solidFill>
                  <a:schemeClr val="dk1"/>
                </a:solidFill>
              </a:rPr>
              <a:t> </a:t>
            </a:r>
            <a:r>
              <a:rPr lang="en-US" altLang="ko-KR" sz="1400" b="1">
                <a:solidFill>
                  <a:schemeClr val="dk1"/>
                </a:solidFill>
              </a:rPr>
              <a:t>:</a:t>
            </a:r>
            <a:r>
              <a:rPr lang="ko-KR" altLang="en-US" sz="1400" b="1">
                <a:solidFill>
                  <a:schemeClr val="dk1"/>
                </a:solidFill>
              </a:rPr>
              <a:t> </a:t>
            </a:r>
            <a:r>
              <a:rPr lang="en-US" altLang="ko-KR" sz="1400" b="1">
                <a:solidFill>
                  <a:schemeClr val="dk1"/>
                </a:solidFill>
              </a:rPr>
              <a:t>LSTM (Long Short Term Memory)</a:t>
            </a: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1400" b="1" i="0" u="none" strike="noStrike" kern="0" cap="none" spc="0" normalizeH="0" baseline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1400" b="1" i="0" u="none" strike="noStrike" kern="0" cap="none" spc="0" normalizeH="0" baseline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12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pic>
        <p:nvPicPr>
          <p:cNvPr id="94" name="그림 9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08079" y="1615909"/>
            <a:ext cx="5431407" cy="1980826"/>
          </a:xfrm>
          <a:prstGeom prst="rect">
            <a:avLst/>
          </a:prstGeom>
        </p:spPr>
      </p:pic>
      <p:sp>
        <p:nvSpPr>
          <p:cNvPr id="95" name="타원 94"/>
          <p:cNvSpPr/>
          <p:nvPr/>
        </p:nvSpPr>
        <p:spPr>
          <a:xfrm>
            <a:off x="2472972" y="2571750"/>
            <a:ext cx="500944" cy="469194"/>
          </a:xfrm>
          <a:prstGeom prst="ellipse">
            <a:avLst/>
          </a:prstGeom>
          <a:noFill/>
          <a:ln>
            <a:solidFill>
              <a:srgbClr val="D176A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6" name="타원 95"/>
          <p:cNvSpPr/>
          <p:nvPr/>
        </p:nvSpPr>
        <p:spPr>
          <a:xfrm>
            <a:off x="3133372" y="2571750"/>
            <a:ext cx="500944" cy="469194"/>
          </a:xfrm>
          <a:prstGeom prst="ellipse">
            <a:avLst/>
          </a:prstGeom>
          <a:noFill/>
          <a:ln w="25400" cap="flat" cmpd="sng" algn="ctr">
            <a:solidFill>
              <a:srgbClr val="D176A3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srgbClr val="FFFFFF"/>
              </a:solidFill>
              <a:latin typeface="Arial"/>
              <a:ea typeface="맑은 고딕"/>
              <a:cs typeface="맑은 고딕"/>
            </a:endParaRPr>
          </a:p>
        </p:txBody>
      </p:sp>
      <p:sp>
        <p:nvSpPr>
          <p:cNvPr id="98" name="타원 97"/>
          <p:cNvSpPr/>
          <p:nvPr/>
        </p:nvSpPr>
        <p:spPr>
          <a:xfrm>
            <a:off x="4336345" y="2571750"/>
            <a:ext cx="500944" cy="469194"/>
          </a:xfrm>
          <a:prstGeom prst="ellipse">
            <a:avLst/>
          </a:prstGeom>
          <a:noFill/>
          <a:ln w="25400" cap="flat" cmpd="sng" algn="ctr">
            <a:solidFill>
              <a:srgbClr val="D176A3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srgbClr val="FFFFFF"/>
              </a:solidFill>
              <a:latin typeface="Arial"/>
              <a:ea typeface="맑은 고딕"/>
              <a:cs typeface="맑은 고딕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1469671" y="3668888"/>
            <a:ext cx="7394223" cy="1375833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ko-KR" sz="1000" b="1">
                <a:solidFill>
                  <a:schemeClr val="dk1"/>
                </a:solidFill>
              </a:rPr>
              <a:t>⓵</a:t>
            </a:r>
            <a:r>
              <a:rPr lang="en-US" altLang="ko-KR" sz="1000" b="1">
                <a:solidFill>
                  <a:schemeClr val="dk1"/>
                </a:solidFill>
              </a:rPr>
              <a:t> Input Gate : 장기 기억에 저장될 정보를 결</a:t>
            </a:r>
            <a:r>
              <a:rPr lang="ko-KR" altLang="en-US" sz="1000" b="1">
                <a:solidFill>
                  <a:schemeClr val="dk1"/>
                </a:solidFill>
              </a:rPr>
              <a:t>정</a:t>
            </a:r>
            <a:r>
              <a:rPr lang="en-US" altLang="ko-KR" sz="1000" b="1">
                <a:solidFill>
                  <a:schemeClr val="dk1"/>
                </a:solidFill>
              </a:rPr>
              <a:t>. 현재 입력과 이전 단계의 단기 기억의 정보로만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작동</a:t>
            </a:r>
            <a:r>
              <a:rPr lang="ko-KR" altLang="en-US" sz="1000" b="1">
                <a:solidFill>
                  <a:schemeClr val="dk1"/>
                </a:solidFill>
              </a:rPr>
              <a:t>되며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이 게이트에서 유용하지 않은 변수의 정보를 필터링</a:t>
            </a:r>
            <a:r>
              <a:rPr lang="ko-KR" altLang="en-US" sz="1000" b="1">
                <a:solidFill>
                  <a:schemeClr val="dk1"/>
                </a:solidFill>
              </a:rPr>
              <a:t>하는 역할</a:t>
            </a:r>
          </a:p>
          <a:p>
            <a:pPr>
              <a:defRPr/>
            </a:pPr>
            <a:endParaRPr lang="ko-KR" altLang="en-US" sz="1000" b="1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 sz="1000" b="1">
                <a:solidFill>
                  <a:schemeClr val="dk1"/>
                </a:solidFill>
              </a:rPr>
              <a:t>⓶ </a:t>
            </a:r>
            <a:r>
              <a:rPr lang="en-US" altLang="ko-KR" sz="1000" b="1">
                <a:solidFill>
                  <a:schemeClr val="dk1"/>
                </a:solidFill>
              </a:rPr>
              <a:t>Forget Gate : 장기 기억에서 어떤 정보를 유지하거나 폐기할지 </a:t>
            </a:r>
            <a:r>
              <a:rPr lang="ko-KR" altLang="en-US" sz="1000" b="1">
                <a:solidFill>
                  <a:schemeClr val="dk1"/>
                </a:solidFill>
              </a:rPr>
              <a:t>결정</a:t>
            </a:r>
            <a:r>
              <a:rPr lang="en-US" altLang="ko-KR" sz="1000" b="1">
                <a:solidFill>
                  <a:schemeClr val="dk1"/>
                </a:solidFill>
              </a:rPr>
              <a:t>. 장기 기억</a:t>
            </a:r>
            <a:r>
              <a:rPr lang="ko-KR" altLang="en-US" sz="1000" b="1">
                <a:solidFill>
                  <a:schemeClr val="dk1"/>
                </a:solidFill>
              </a:rPr>
              <a:t>을 </a:t>
            </a:r>
            <a:r>
              <a:rPr lang="en-US" altLang="ko-KR" sz="1000" b="1">
                <a:solidFill>
                  <a:schemeClr val="dk1"/>
                </a:solidFill>
              </a:rPr>
              <a:t>현재 입력과 들어오는 단기 기억에 의해 생성된 망각 벡터를 곱하여 수행</a:t>
            </a:r>
            <a:r>
              <a:rPr lang="ko-KR" altLang="en-US" sz="1000" b="1">
                <a:solidFill>
                  <a:schemeClr val="dk1"/>
                </a:solidFill>
              </a:rPr>
              <a:t>되는 형식</a:t>
            </a:r>
          </a:p>
          <a:p>
            <a:pPr>
              <a:defRPr/>
            </a:pPr>
            <a:endParaRPr lang="ko-KR" altLang="en-US" sz="1000" b="1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 sz="1000" b="1">
                <a:solidFill>
                  <a:schemeClr val="dk1"/>
                </a:solidFill>
              </a:rPr>
              <a:t>⓷</a:t>
            </a:r>
            <a:r>
              <a:rPr lang="en-US" altLang="ko-KR" sz="1000" b="1">
                <a:solidFill>
                  <a:schemeClr val="dk1"/>
                </a:solidFill>
              </a:rPr>
              <a:t>Output Gate :  현재 입력, 이전 단기 메모리 및 새로 계산된 장기 메모리를 사용하여 다음 시간 단계에서 셀로 전달될 새로운 단기 메모리를 생성</a:t>
            </a:r>
          </a:p>
        </p:txBody>
      </p:sp>
      <p:pic>
        <p:nvPicPr>
          <p:cNvPr id="101" name="그림 10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552916" y="1963561"/>
            <a:ext cx="2331723" cy="15268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프로젝트 진행 과정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349355" y="753379"/>
            <a:ext cx="5790127" cy="43318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en-US" altLang="ko-KR" sz="1400" b="1">
                <a:latin typeface="+mn-ea"/>
                <a:ea typeface="+mn-ea"/>
              </a:rPr>
              <a:t> Mediapipe</a:t>
            </a:r>
            <a:r>
              <a:rPr lang="ko-KR" altLang="en-US" sz="1400" b="1">
                <a:latin typeface="+mn-ea"/>
                <a:ea typeface="+mn-ea"/>
              </a:rPr>
              <a:t>를 활용해서 손가락 탐지 모델 만들기</a:t>
            </a:r>
          </a:p>
          <a:p>
            <a:pPr algn="l">
              <a:defRPr/>
            </a:pPr>
            <a:endParaRPr lang="en-US" altLang="ko-KR" sz="12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583972" y="3485444"/>
            <a:ext cx="6773333" cy="1495777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6" name="직사각형 85"/>
          <p:cNvSpPr/>
          <p:nvPr/>
        </p:nvSpPr>
        <p:spPr>
          <a:xfrm>
            <a:off x="1520471" y="3443110"/>
            <a:ext cx="6865055" cy="1396999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90" name="내용 개체 틀 2"/>
          <p:cNvSpPr txBox="1"/>
          <p:nvPr/>
        </p:nvSpPr>
        <p:spPr>
          <a:xfrm>
            <a:off x="1427319" y="1089223"/>
            <a:ext cx="7264739" cy="1237516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r>
              <a:rPr kumimoji="0" lang="en-US" altLang="ko-KR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Step3. </a:t>
            </a:r>
            <a:r>
              <a:rPr kumimoji="0" lang="ko-KR" altLang="en-US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학습 모델 선정</a:t>
            </a:r>
          </a:p>
          <a:p>
            <a:pPr>
              <a:defRPr/>
            </a:pPr>
            <a:r>
              <a:rPr lang="en-US" altLang="ko-KR" sz="1400" b="1">
                <a:solidFill>
                  <a:schemeClr val="dk1"/>
                </a:solidFill>
              </a:rPr>
              <a:t>-</a:t>
            </a:r>
            <a:r>
              <a:rPr lang="ko-KR" altLang="en-US" sz="1400" b="1">
                <a:solidFill>
                  <a:schemeClr val="dk1"/>
                </a:solidFill>
              </a:rPr>
              <a:t> 후보 </a:t>
            </a:r>
            <a:r>
              <a:rPr lang="en-US" altLang="ko-KR" sz="1400" b="1">
                <a:solidFill>
                  <a:schemeClr val="dk1"/>
                </a:solidFill>
              </a:rPr>
              <a:t>2</a:t>
            </a:r>
            <a:r>
              <a:rPr lang="ko-KR" altLang="en-US" sz="1400" b="1">
                <a:solidFill>
                  <a:schemeClr val="dk1"/>
                </a:solidFill>
              </a:rPr>
              <a:t> </a:t>
            </a:r>
            <a:r>
              <a:rPr lang="en-US" altLang="ko-KR" sz="1400" b="1">
                <a:solidFill>
                  <a:schemeClr val="dk1"/>
                </a:solidFill>
              </a:rPr>
              <a:t>:</a:t>
            </a:r>
            <a:r>
              <a:rPr lang="ko-KR" altLang="en-US" sz="1400" b="1">
                <a:solidFill>
                  <a:schemeClr val="dk1"/>
                </a:solidFill>
              </a:rPr>
              <a:t> </a:t>
            </a:r>
            <a:r>
              <a:rPr lang="en-US" altLang="ko-KR" sz="1400" b="1">
                <a:solidFill>
                  <a:schemeClr val="dk1"/>
                </a:solidFill>
              </a:rPr>
              <a:t>GRU</a:t>
            </a: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1400" b="1" i="0" u="none" strike="noStrike" kern="0" cap="none" spc="0" normalizeH="0" baseline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1400" b="1" i="0" u="none" strike="noStrike" kern="0" cap="none" spc="0" normalizeH="0" baseline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12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1469671" y="3668888"/>
            <a:ext cx="7394223" cy="1375833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ko-KR" sz="1000" b="1">
                <a:solidFill>
                  <a:schemeClr val="dk1"/>
                </a:solidFill>
              </a:rPr>
              <a:t>⓵</a:t>
            </a:r>
            <a:r>
              <a:rPr lang="en-US" altLang="ko-KR" sz="1000" b="1">
                <a:solidFill>
                  <a:schemeClr val="dk1"/>
                </a:solidFill>
              </a:rPr>
              <a:t> Reset Gate : 모델에서 무시해야 할 과거 정보의 양을 결정.  즉, 이전 셀 상태가 중요한지 여부를 결</a:t>
            </a:r>
            <a:r>
              <a:rPr lang="ko-KR" altLang="en-US" sz="1000" b="1">
                <a:solidFill>
                  <a:schemeClr val="dk1"/>
                </a:solidFill>
              </a:rPr>
              <a:t>정하는 역할</a:t>
            </a:r>
            <a:r>
              <a:rPr lang="en-US" altLang="ko-KR" sz="1000" b="1">
                <a:solidFill>
                  <a:schemeClr val="dk1"/>
                </a:solidFill>
              </a:rPr>
              <a:t>.</a:t>
            </a:r>
          </a:p>
          <a:p>
            <a:pPr>
              <a:defRPr/>
            </a:pPr>
            <a:endParaRPr lang="ko-KR" altLang="en-US" sz="1000" b="1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 sz="1000" b="1">
                <a:solidFill>
                  <a:schemeClr val="dk1"/>
                </a:solidFill>
              </a:rPr>
              <a:t>⓶</a:t>
            </a:r>
            <a:r>
              <a:rPr lang="en-US" altLang="ko-KR" sz="1000" b="1">
                <a:solidFill>
                  <a:schemeClr val="dk1"/>
                </a:solidFill>
              </a:rPr>
              <a:t> Update Gate : 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다음 상태를 따라 전달해야 하는 이전 정보의 양을 결정. 모델이 과거의 모든 정보를 복사하도록 결정하고 그라디언트가 사라질 위험을 제거</a:t>
            </a:r>
            <a:r>
              <a:rPr lang="ko-KR" altLang="en-US" sz="1000" b="1">
                <a:solidFill>
                  <a:schemeClr val="dk1"/>
                </a:solidFill>
              </a:rPr>
              <a:t>하는 효과</a:t>
            </a:r>
          </a:p>
          <a:p>
            <a:pPr>
              <a:defRPr/>
            </a:pPr>
            <a:endParaRPr lang="ko-KR" altLang="en-US" sz="1000" b="1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 sz="1000" b="1">
                <a:solidFill>
                  <a:schemeClr val="dk1"/>
                </a:solidFill>
              </a:rPr>
              <a:t>*</a:t>
            </a:r>
            <a:r>
              <a:rPr lang="ko-KR" altLang="en-US" sz="1000" b="1">
                <a:solidFill>
                  <a:schemeClr val="dk1"/>
                </a:solidFill>
              </a:rPr>
              <a:t> 진행방식 </a:t>
            </a:r>
            <a:endParaRPr lang="en-US" altLang="ko-KR" sz="1000" b="1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 sz="1000" b="1">
                <a:solidFill>
                  <a:schemeClr val="dk1"/>
                </a:solidFill>
              </a:rPr>
              <a:t>1.</a:t>
            </a:r>
            <a:r>
              <a:rPr lang="ko-KR" altLang="en-US" sz="1000" b="1">
                <a:solidFill>
                  <a:schemeClr val="dk1"/>
                </a:solidFill>
              </a:rPr>
              <a:t> 리셋 게이트가 작동 </a:t>
            </a:r>
            <a:r>
              <a:rPr lang="en-US" altLang="ko-KR" sz="1000" b="1">
                <a:solidFill>
                  <a:schemeClr val="dk1"/>
                </a:solidFill>
              </a:rPr>
              <a:t>2.</a:t>
            </a:r>
            <a:r>
              <a:rPr lang="ko-KR" altLang="en-US" sz="1000" b="1">
                <a:solidFill>
                  <a:schemeClr val="dk1"/>
                </a:solidFill>
              </a:rPr>
              <a:t> 새 메모리 콘텐츠에 저장 </a:t>
            </a:r>
            <a:r>
              <a:rPr lang="en-US" altLang="ko-KR" sz="1000" b="1">
                <a:solidFill>
                  <a:schemeClr val="dk1"/>
                </a:solidFill>
              </a:rPr>
              <a:t>3.</a:t>
            </a:r>
            <a:r>
              <a:rPr lang="ko-KR" altLang="en-US" sz="1000" b="1">
                <a:solidFill>
                  <a:schemeClr val="dk1"/>
                </a:solidFill>
              </a:rPr>
              <a:t> 입력 벡터와 은닉 상태에 가중치를 곱함 </a:t>
            </a:r>
            <a:r>
              <a:rPr lang="en-US" altLang="ko-KR" sz="1000" b="1">
                <a:solidFill>
                  <a:schemeClr val="dk1"/>
                </a:solidFill>
              </a:rPr>
              <a:t>4.</a:t>
            </a:r>
            <a:r>
              <a:rPr lang="ko-KR" altLang="en-US" sz="1000" b="1">
                <a:solidFill>
                  <a:schemeClr val="dk1"/>
                </a:solidFill>
              </a:rPr>
              <a:t>리셋 게이트와 이전에 숨겨진 상태 배수 사이의 요소별 곱셈을 계산 </a:t>
            </a:r>
            <a:r>
              <a:rPr lang="en-US" altLang="ko-KR" sz="1000" b="1">
                <a:solidFill>
                  <a:schemeClr val="dk1"/>
                </a:solidFill>
              </a:rPr>
              <a:t>5.</a:t>
            </a:r>
            <a:r>
              <a:rPr lang="ko-KR" altLang="en-US" sz="1000" b="1">
                <a:solidFill>
                  <a:schemeClr val="dk1"/>
                </a:solidFill>
              </a:rPr>
              <a:t> 위의 단계를 종합한 후 비선형 활성화 함수가 적용되고 다음 시퀀스가 생성</a:t>
            </a:r>
          </a:p>
        </p:txBody>
      </p:sp>
      <p:pic>
        <p:nvPicPr>
          <p:cNvPr id="102" name="그림 10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36888" y="1695663"/>
            <a:ext cx="4457700" cy="1866473"/>
          </a:xfrm>
          <a:prstGeom prst="rect">
            <a:avLst/>
          </a:prstGeom>
        </p:spPr>
      </p:pic>
      <p:sp>
        <p:nvSpPr>
          <p:cNvPr id="103" name="타원 102"/>
          <p:cNvSpPr/>
          <p:nvPr/>
        </p:nvSpPr>
        <p:spPr>
          <a:xfrm>
            <a:off x="2804583" y="1756833"/>
            <a:ext cx="846666" cy="310444"/>
          </a:xfrm>
          <a:prstGeom prst="ellipse">
            <a:avLst/>
          </a:prstGeom>
          <a:noFill/>
          <a:ln>
            <a:solidFill>
              <a:srgbClr val="D176A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04" name="타원 103"/>
          <p:cNvSpPr/>
          <p:nvPr/>
        </p:nvSpPr>
        <p:spPr>
          <a:xfrm>
            <a:off x="3958872" y="1761066"/>
            <a:ext cx="846666" cy="310444"/>
          </a:xfrm>
          <a:prstGeom prst="ellipse">
            <a:avLst/>
          </a:prstGeom>
          <a:noFill/>
          <a:ln w="25400" cap="flat" cmpd="sng" algn="ctr">
            <a:solidFill>
              <a:srgbClr val="D176A3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400" b="0" i="0" u="none" strike="noStrike" kern="0" cap="none" spc="0" normalizeH="0" baseline="0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105" name="그림 10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965874" y="1796344"/>
            <a:ext cx="2814363" cy="17342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프로젝트 진행 과정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349355" y="753379"/>
            <a:ext cx="5790127" cy="43318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en-US" altLang="ko-KR" sz="1400" b="1">
                <a:latin typeface="+mn-ea"/>
                <a:ea typeface="+mn-ea"/>
              </a:rPr>
              <a:t> Mediapipe</a:t>
            </a:r>
            <a:r>
              <a:rPr lang="ko-KR" altLang="en-US" sz="1400" b="1">
                <a:latin typeface="+mn-ea"/>
                <a:ea typeface="+mn-ea"/>
              </a:rPr>
              <a:t>를 활용해서 손가락 탐지 모델 만들기</a:t>
            </a:r>
          </a:p>
          <a:p>
            <a:pPr algn="l">
              <a:defRPr/>
            </a:pPr>
            <a:endParaRPr lang="en-US" altLang="ko-KR" sz="12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583972" y="3485444"/>
            <a:ext cx="6773333" cy="1495777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6" name="직사각형 85"/>
          <p:cNvSpPr/>
          <p:nvPr/>
        </p:nvSpPr>
        <p:spPr>
          <a:xfrm>
            <a:off x="1591027" y="3485444"/>
            <a:ext cx="6865055" cy="1396999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90" name="내용 개체 틀 2"/>
          <p:cNvSpPr txBox="1"/>
          <p:nvPr/>
        </p:nvSpPr>
        <p:spPr>
          <a:xfrm>
            <a:off x="1427319" y="1089223"/>
            <a:ext cx="7264739" cy="1237516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r>
              <a:rPr kumimoji="0" lang="en-US" altLang="ko-KR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Step3. </a:t>
            </a:r>
            <a:r>
              <a:rPr kumimoji="0" lang="ko-KR" altLang="en-US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학습 모델 선정</a:t>
            </a:r>
          </a:p>
          <a:p>
            <a:pPr>
              <a:defRPr/>
            </a:pPr>
            <a:r>
              <a:rPr lang="en-US" altLang="ko-KR" sz="1400" b="1">
                <a:solidFill>
                  <a:schemeClr val="dk1"/>
                </a:solidFill>
              </a:rPr>
              <a:t>- LSTM VS GRU</a:t>
            </a:r>
            <a:r>
              <a:rPr lang="ko-KR" altLang="en-US" sz="1400" b="1">
                <a:solidFill>
                  <a:schemeClr val="dk1"/>
                </a:solidFill>
              </a:rPr>
              <a:t> 비교</a:t>
            </a:r>
            <a:r>
              <a:rPr lang="en-US" altLang="ko-KR" sz="1400" b="1">
                <a:solidFill>
                  <a:schemeClr val="dk1"/>
                </a:solidFill>
              </a:rPr>
              <a:t> </a:t>
            </a: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1400" b="1" i="0" u="none" strike="noStrike" kern="0" cap="none" spc="0" normalizeH="0" baseline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1400" b="1" i="0" u="none" strike="noStrike" kern="0" cap="none" spc="0" normalizeH="0" baseline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12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pic>
        <p:nvPicPr>
          <p:cNvPr id="94" name="그림 9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18356" y="1796344"/>
            <a:ext cx="6262510" cy="2012950"/>
          </a:xfrm>
          <a:prstGeom prst="rect">
            <a:avLst/>
          </a:prstGeom>
        </p:spPr>
      </p:pic>
      <p:sp>
        <p:nvSpPr>
          <p:cNvPr id="95" name="내용 개체 틀 2"/>
          <p:cNvSpPr txBox="1"/>
          <p:nvPr/>
        </p:nvSpPr>
        <p:spPr>
          <a:xfrm>
            <a:off x="1417089" y="4116056"/>
            <a:ext cx="5790127" cy="43318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r>
              <a:rPr kumimoji="0" lang="ko-KR" altLang="en-US" sz="1400" b="1" i="0" u="none" strike="noStrike" kern="0" cap="none" spc="0" normalizeH="0" baseline="0">
                <a:solidFill>
                  <a:srgbClr val="595959"/>
                </a:solidFill>
                <a:latin typeface="맑은 고딕"/>
                <a:ea typeface="맑은 고딕"/>
              </a:rPr>
              <a:t>최종 결정 모델 </a:t>
            </a:r>
            <a:r>
              <a:rPr kumimoji="0" lang="en-US" altLang="ko-KR" sz="1400" b="1" i="0" u="none" strike="noStrike" kern="0" cap="none" spc="0" normalizeH="0" baseline="0">
                <a:solidFill>
                  <a:srgbClr val="595959"/>
                </a:solidFill>
                <a:latin typeface="맑은 고딕"/>
                <a:ea typeface="맑은 고딕"/>
              </a:rPr>
              <a:t>: GRU</a:t>
            </a: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12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2000" b="0" i="0" u="none" strike="noStrike" kern="0" cap="none" spc="0" normalizeH="0" baseline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2000" b="0" i="0" u="none" strike="noStrike" kern="0" cap="none" spc="0" normalizeH="0" baseline="0">
              <a:solidFill>
                <a:srgbClr val="595959"/>
              </a:solidFill>
              <a:latin typeface="Arial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프로젝트 진행 과정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349355" y="753379"/>
            <a:ext cx="5790127" cy="43318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en-US" altLang="ko-KR" sz="1400" b="1">
                <a:latin typeface="+mn-ea"/>
                <a:ea typeface="+mn-ea"/>
              </a:rPr>
              <a:t> Mediapipe</a:t>
            </a:r>
            <a:r>
              <a:rPr lang="ko-KR" altLang="en-US" sz="1400" b="1">
                <a:latin typeface="+mn-ea"/>
                <a:ea typeface="+mn-ea"/>
              </a:rPr>
              <a:t>를 활용해서 손가락 탐지 모델 만들기</a:t>
            </a:r>
          </a:p>
          <a:p>
            <a:pPr algn="l">
              <a:defRPr/>
            </a:pPr>
            <a:endParaRPr lang="en-US" altLang="ko-KR" sz="12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583972" y="3485444"/>
            <a:ext cx="6773333" cy="1495777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6" name="직사각형 85"/>
          <p:cNvSpPr/>
          <p:nvPr/>
        </p:nvSpPr>
        <p:spPr>
          <a:xfrm>
            <a:off x="1591027" y="3485444"/>
            <a:ext cx="6865055" cy="1396999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90" name="내용 개체 틀 2"/>
          <p:cNvSpPr txBox="1"/>
          <p:nvPr/>
        </p:nvSpPr>
        <p:spPr>
          <a:xfrm>
            <a:off x="1427319" y="1089223"/>
            <a:ext cx="7264739" cy="1237516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r>
              <a:rPr kumimoji="0" lang="en-US" altLang="ko-KR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Step4. GRU</a:t>
            </a:r>
            <a:r>
              <a:rPr kumimoji="0" lang="ko-KR" altLang="en-US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 모델로 학습</a:t>
            </a:r>
            <a:r>
              <a:rPr lang="en-US" altLang="ko-KR" sz="1400" b="1">
                <a:solidFill>
                  <a:schemeClr val="dk1"/>
                </a:solidFill>
              </a:rPr>
              <a:t> </a:t>
            </a: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1400" b="1" i="0" u="none" strike="noStrike" kern="0" cap="none" spc="0" normalizeH="0" baseline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1400" b="1" i="0" u="none" strike="noStrike" kern="0" cap="none" spc="0" normalizeH="0" baseline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12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pic>
        <p:nvPicPr>
          <p:cNvPr id="96" name="그림 9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45242" y="1795944"/>
            <a:ext cx="3395137" cy="3026222"/>
          </a:xfrm>
          <a:prstGeom prst="rect">
            <a:avLst/>
          </a:prstGeom>
        </p:spPr>
      </p:pic>
      <p:pic>
        <p:nvPicPr>
          <p:cNvPr id="97" name="그림 9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256466" y="1790782"/>
            <a:ext cx="3396394" cy="3029492"/>
          </a:xfrm>
          <a:prstGeom prst="rect">
            <a:avLst/>
          </a:prstGeom>
        </p:spPr>
      </p:pic>
      <p:sp>
        <p:nvSpPr>
          <p:cNvPr id="98" name="직사각형 97"/>
          <p:cNvSpPr/>
          <p:nvPr/>
        </p:nvSpPr>
        <p:spPr>
          <a:xfrm>
            <a:off x="2155472" y="1397000"/>
            <a:ext cx="2262010" cy="34995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>
                <a:solidFill>
                  <a:schemeClr val="dk1"/>
                </a:solidFill>
              </a:rPr>
              <a:t>GRU </a:t>
            </a:r>
            <a:r>
              <a:rPr lang="ko-KR" altLang="en-US" sz="1200" b="1">
                <a:solidFill>
                  <a:schemeClr val="dk1"/>
                </a:solidFill>
              </a:rPr>
              <a:t>모델 정의 함수</a:t>
            </a:r>
          </a:p>
        </p:txBody>
      </p:sp>
      <p:sp>
        <p:nvSpPr>
          <p:cNvPr id="100" name="직사각형 99"/>
          <p:cNvSpPr/>
          <p:nvPr/>
        </p:nvSpPr>
        <p:spPr>
          <a:xfrm>
            <a:off x="5342116" y="1392060"/>
            <a:ext cx="3200399" cy="349955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 algn="ctr">
            <a:solidFill>
              <a:srgbClr val="1F4075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200" b="1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loss, Optimize </a:t>
            </a:r>
            <a:r>
              <a:rPr kumimoji="0" lang="ko-KR" altLang="en-US" sz="1200" b="1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구현 함수 </a:t>
            </a:r>
            <a:r>
              <a:rPr kumimoji="0" lang="en-US" altLang="ko-KR" sz="1200" b="1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(training </a:t>
            </a:r>
            <a:r>
              <a:rPr kumimoji="0" lang="ko-KR" altLang="en-US" sz="1200" b="1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단계</a:t>
            </a:r>
            <a:r>
              <a:rPr kumimoji="0" lang="en-US" altLang="ko-KR" sz="1200" b="1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프로젝트 진행 과정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349355" y="753379"/>
            <a:ext cx="5790127" cy="43318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en-US" altLang="ko-KR" sz="1400" b="1">
                <a:latin typeface="+mn-ea"/>
                <a:ea typeface="+mn-ea"/>
              </a:rPr>
              <a:t> Mediapipe</a:t>
            </a:r>
            <a:r>
              <a:rPr lang="ko-KR" altLang="en-US" sz="1400" b="1">
                <a:latin typeface="+mn-ea"/>
                <a:ea typeface="+mn-ea"/>
              </a:rPr>
              <a:t>를 활용해서 손가락 탐지 모델 만들기</a:t>
            </a:r>
          </a:p>
          <a:p>
            <a:pPr algn="l">
              <a:defRPr/>
            </a:pPr>
            <a:endParaRPr lang="en-US" altLang="ko-KR" sz="12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1591027" y="3485444"/>
            <a:ext cx="6865055" cy="1396999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90" name="내용 개체 틀 2"/>
          <p:cNvSpPr txBox="1"/>
          <p:nvPr/>
        </p:nvSpPr>
        <p:spPr>
          <a:xfrm>
            <a:off x="1427319" y="1089223"/>
            <a:ext cx="7264739" cy="40496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r>
              <a:rPr kumimoji="0" lang="en-US" altLang="ko-KR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Step4-2.</a:t>
            </a:r>
            <a:r>
              <a:rPr kumimoji="0" lang="ko-KR" altLang="en-US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 학습 결과 및 한계점</a:t>
            </a:r>
            <a:r>
              <a:rPr lang="en-US" altLang="ko-KR" sz="1400" b="1">
                <a:solidFill>
                  <a:schemeClr val="dk1"/>
                </a:solidFill>
              </a:rPr>
              <a:t> </a:t>
            </a: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1400" b="1" i="0" u="none" strike="noStrike" kern="0" cap="none" spc="0" normalizeH="0" baseline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1400" b="1" i="0" u="none" strike="noStrike" kern="0" cap="none" spc="0" normalizeH="0" baseline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12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1569861" y="1587499"/>
            <a:ext cx="7083778" cy="110772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1.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Feature</a:t>
            </a:r>
            <a:r>
              <a:rPr lang="ko-KR" altLang="en-US">
                <a:solidFill>
                  <a:schemeClr val="dk1"/>
                </a:solidFill>
              </a:rPr>
              <a:t>을 여러개로 늘린 효과 </a:t>
            </a:r>
            <a:r>
              <a:rPr lang="en-US" altLang="ko-KR">
                <a:solidFill>
                  <a:schemeClr val="dk1"/>
                </a:solidFill>
              </a:rPr>
              <a:t>: </a:t>
            </a:r>
            <a:r>
              <a:rPr lang="ko-KR" altLang="en-US">
                <a:solidFill>
                  <a:schemeClr val="dk1"/>
                </a:solidFill>
              </a:rPr>
              <a:t>손가락 인식 성능이 높아짐</a:t>
            </a: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2.</a:t>
            </a:r>
            <a:r>
              <a:rPr lang="ko-KR" altLang="en-US">
                <a:solidFill>
                  <a:schemeClr val="dk1"/>
                </a:solidFill>
              </a:rPr>
              <a:t> 엄지</a:t>
            </a:r>
            <a:r>
              <a:rPr lang="en-US" altLang="ko-KR">
                <a:solidFill>
                  <a:schemeClr val="dk1"/>
                </a:solidFill>
              </a:rPr>
              <a:t>,</a:t>
            </a:r>
            <a:r>
              <a:rPr lang="ko-KR" altLang="en-US">
                <a:solidFill>
                  <a:schemeClr val="dk1"/>
                </a:solidFill>
              </a:rPr>
              <a:t> 검지</a:t>
            </a:r>
            <a:r>
              <a:rPr lang="en-US" altLang="ko-KR">
                <a:solidFill>
                  <a:schemeClr val="dk1"/>
                </a:solidFill>
              </a:rPr>
              <a:t>,</a:t>
            </a:r>
            <a:r>
              <a:rPr lang="ko-KR" altLang="en-US">
                <a:solidFill>
                  <a:schemeClr val="dk1"/>
                </a:solidFill>
              </a:rPr>
              <a:t> 중지는 구분 잘 하는 상황 </a:t>
            </a:r>
            <a:r>
              <a:rPr lang="en-US" altLang="ko-KR">
                <a:solidFill>
                  <a:schemeClr val="dk1"/>
                </a:solidFill>
              </a:rPr>
              <a:t>+ </a:t>
            </a:r>
            <a:r>
              <a:rPr lang="ko-KR" altLang="en-US">
                <a:solidFill>
                  <a:schemeClr val="dk1"/>
                </a:solidFill>
              </a:rPr>
              <a:t>그러나 약지와 새끼 손가락은 구분 어려워함</a:t>
            </a: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3.</a:t>
            </a:r>
            <a:r>
              <a:rPr lang="ko-KR" altLang="en-US">
                <a:solidFill>
                  <a:schemeClr val="dk1"/>
                </a:solidFill>
              </a:rPr>
              <a:t> 양손을 동시에 카메라에 비췄을 때 성능이 급격하게 저하됨</a:t>
            </a:r>
            <a:r>
              <a:rPr lang="en-US" altLang="ko-KR">
                <a:solidFill>
                  <a:schemeClr val="dk1"/>
                </a:solidFill>
              </a:rPr>
              <a:t>.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4.</a:t>
            </a:r>
            <a:r>
              <a:rPr lang="ko-KR" altLang="en-US">
                <a:solidFill>
                  <a:schemeClr val="dk1"/>
                </a:solidFill>
              </a:rPr>
              <a:t> 이동 간격이 큰 경우에는 성능이 저하됨</a:t>
            </a:r>
            <a:r>
              <a:rPr lang="en-US" altLang="ko-KR">
                <a:solidFill>
                  <a:schemeClr val="dk1"/>
                </a:solidFill>
              </a:rPr>
              <a:t>.</a:t>
            </a:r>
          </a:p>
        </p:txBody>
      </p:sp>
      <p:sp>
        <p:nvSpPr>
          <p:cNvPr id="102" name="화살표: 아래쪽 101"/>
          <p:cNvSpPr/>
          <p:nvPr/>
        </p:nvSpPr>
        <p:spPr>
          <a:xfrm>
            <a:off x="4945944" y="2942167"/>
            <a:ext cx="349250" cy="44449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D9D9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3" name="직사각형 102"/>
          <p:cNvSpPr/>
          <p:nvPr/>
        </p:nvSpPr>
        <p:spPr>
          <a:xfrm>
            <a:off x="1732139" y="3690055"/>
            <a:ext cx="2938639" cy="107949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sz="1100" b="1">
                <a:solidFill>
                  <a:schemeClr val="dk1"/>
                </a:solidFill>
              </a:rPr>
              <a:t>1.</a:t>
            </a:r>
            <a:r>
              <a:rPr lang="ko-KR" altLang="en-US" sz="1100" b="1">
                <a:solidFill>
                  <a:schemeClr val="dk1"/>
                </a:solidFill>
              </a:rPr>
              <a:t> 증강 조합을 다양화시키기</a:t>
            </a:r>
          </a:p>
          <a:p>
            <a:pPr>
              <a:defRPr/>
            </a:pPr>
            <a:r>
              <a:rPr lang="en-US" altLang="en-US" sz="1100" b="1">
                <a:solidFill>
                  <a:schemeClr val="dk1"/>
                </a:solidFill>
              </a:rPr>
              <a:t>→</a:t>
            </a:r>
            <a:r>
              <a:rPr lang="ko-KR" altLang="en-US" sz="1100" b="1">
                <a:solidFill>
                  <a:schemeClr val="dk1"/>
                </a:solidFill>
              </a:rPr>
              <a:t> 왼손 오른손의 가능한 모든 조합으로 이어붙여서 증강에 추가해보는 것은 어떤가</a:t>
            </a:r>
            <a:r>
              <a:rPr lang="en-US" altLang="ko-KR" sz="1100" b="1">
                <a:solidFill>
                  <a:schemeClr val="dk1"/>
                </a:solidFill>
              </a:rPr>
              <a:t>?</a:t>
            </a:r>
          </a:p>
        </p:txBody>
      </p:sp>
      <p:sp>
        <p:nvSpPr>
          <p:cNvPr id="104" name="직사각형 103"/>
          <p:cNvSpPr/>
          <p:nvPr/>
        </p:nvSpPr>
        <p:spPr>
          <a:xfrm>
            <a:off x="5701594" y="3691821"/>
            <a:ext cx="2903361" cy="1079499"/>
          </a:xfrm>
          <a:prstGeom prst="rect">
            <a:avLst/>
          </a:prstGeom>
          <a:noFill/>
          <a:ln w="25400" cap="flat" cmpd="sng" algn="ctr">
            <a:solidFill>
              <a:schemeClr val="dk1">
                <a:alpha val="100000"/>
              </a:schemeClr>
            </a:solidFill>
            <a:prstDash val="solid"/>
          </a:ln>
        </p:spPr>
        <p:txBody>
          <a:bodyPr anchor="ctr"/>
          <a:lstStyle/>
          <a:p>
            <a:pPr marL="0" marR="0" lvl="0" indent="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100" b="1" i="0" u="none" strike="noStrike" kern="0" cap="none" spc="0" normalizeH="0" baseline="0">
                <a:solidFill>
                  <a:schemeClr val="dk1"/>
                </a:solidFill>
                <a:latin typeface="Arial"/>
                <a:ea typeface="맑은 고딕"/>
                <a:cs typeface="맑은 고딕"/>
              </a:rPr>
              <a:t>2.</a:t>
            </a:r>
            <a:r>
              <a:rPr kumimoji="0" lang="ko-KR" altLang="en-US" sz="1100" b="1" i="0" u="none" strike="noStrike" kern="0" cap="none" spc="0" normalizeH="0" baseline="0">
                <a:solidFill>
                  <a:schemeClr val="dk1"/>
                </a:solidFill>
                <a:latin typeface="Arial"/>
                <a:ea typeface="맑은 고딕"/>
                <a:cs typeface="맑은 고딕"/>
              </a:rPr>
              <a:t> </a:t>
            </a:r>
            <a:r>
              <a:rPr kumimoji="0" lang="en-US" altLang="ko-KR" sz="1100" b="1" i="0" u="none" strike="noStrike" kern="0" cap="none" spc="0" normalizeH="0" baseline="0">
                <a:solidFill>
                  <a:schemeClr val="dk1"/>
                </a:solidFill>
                <a:latin typeface="Arial"/>
                <a:ea typeface="맑은 고딕"/>
                <a:cs typeface="맑은 고딕"/>
              </a:rPr>
              <a:t>GRU</a:t>
            </a:r>
            <a:r>
              <a:rPr kumimoji="0" lang="ko-KR" altLang="en-US" sz="1100" b="1" i="0" u="none" strike="noStrike" kern="0" cap="none" spc="0" normalizeH="0" baseline="0">
                <a:solidFill>
                  <a:schemeClr val="dk1"/>
                </a:solidFill>
                <a:latin typeface="Arial"/>
                <a:ea typeface="맑은 고딕"/>
                <a:cs typeface="맑은 고딕"/>
              </a:rPr>
              <a:t> 모델을 왼손</a:t>
            </a:r>
            <a:r>
              <a:rPr kumimoji="0" lang="en-US" altLang="ko-KR" sz="1100" b="1" i="0" u="none" strike="noStrike" kern="0" cap="none" spc="0" normalizeH="0" baseline="0">
                <a:solidFill>
                  <a:schemeClr val="dk1"/>
                </a:solidFill>
                <a:latin typeface="Arial"/>
                <a:ea typeface="맑은 고딕"/>
                <a:cs typeface="맑은 고딕"/>
              </a:rPr>
              <a:t>,</a:t>
            </a:r>
            <a:r>
              <a:rPr kumimoji="0" lang="ko-KR" altLang="en-US" sz="1100" b="1" i="0" u="none" strike="noStrike" kern="0" cap="none" spc="0" normalizeH="0" baseline="0">
                <a:solidFill>
                  <a:schemeClr val="dk1"/>
                </a:solidFill>
                <a:latin typeface="Arial"/>
                <a:ea typeface="맑은 고딕"/>
                <a:cs typeface="맑은 고딕"/>
              </a:rPr>
              <a:t> 오른손 각각 만들기</a:t>
            </a:r>
          </a:p>
          <a:p>
            <a:pPr>
              <a:defRPr/>
            </a:pPr>
            <a:r>
              <a:rPr lang="en-US" altLang="en-US" sz="1100" b="1">
                <a:solidFill>
                  <a:schemeClr val="dk1"/>
                </a:solidFill>
              </a:rPr>
              <a:t>→</a:t>
            </a:r>
            <a:r>
              <a:rPr lang="ko-KR" altLang="en-US" sz="1100" b="1">
                <a:solidFill>
                  <a:schemeClr val="dk1"/>
                </a:solidFill>
              </a:rPr>
              <a:t> </a:t>
            </a:r>
            <a:r>
              <a:rPr kumimoji="0" lang="en-US" altLang="ko-KR" sz="1100" b="1" i="0" u="none" strike="noStrike" kern="0" cap="none" spc="0" normalizeH="0" baseline="0">
                <a:solidFill>
                  <a:schemeClr val="dk1"/>
                </a:solidFill>
                <a:latin typeface="Arial"/>
                <a:ea typeface="맑은 고딕"/>
                <a:cs typeface="맑은 고딕"/>
              </a:rPr>
              <a:t>GRU</a:t>
            </a:r>
            <a:r>
              <a:rPr kumimoji="0" lang="ko-KR" altLang="en-US" sz="1100" b="1" i="0" u="none" strike="noStrike" kern="0" cap="none" spc="0" normalizeH="0" baseline="0">
                <a:solidFill>
                  <a:schemeClr val="dk1"/>
                </a:solidFill>
                <a:latin typeface="Arial"/>
                <a:ea typeface="맑은 고딕"/>
                <a:cs typeface="맑은 고딕"/>
              </a:rPr>
              <a:t>를 왼손</a:t>
            </a:r>
            <a:r>
              <a:rPr kumimoji="0" lang="en-US" altLang="ko-KR" sz="1100" b="1" i="0" u="none" strike="noStrike" kern="0" cap="none" spc="0" normalizeH="0" baseline="0">
                <a:solidFill>
                  <a:schemeClr val="dk1"/>
                </a:solidFill>
                <a:latin typeface="Arial"/>
                <a:ea typeface="맑은 고딕"/>
                <a:cs typeface="맑은 고딕"/>
              </a:rPr>
              <a:t>,</a:t>
            </a:r>
            <a:r>
              <a:rPr kumimoji="0" lang="ko-KR" altLang="en-US" sz="1100" b="1" i="0" u="none" strike="noStrike" kern="0" cap="none" spc="0" normalizeH="0" baseline="0">
                <a:solidFill>
                  <a:schemeClr val="dk1"/>
                </a:solidFill>
                <a:latin typeface="Arial"/>
                <a:ea typeface="맑은 고딕"/>
                <a:cs typeface="맑은 고딕"/>
              </a:rPr>
              <a:t> 오른손 학습용으로 </a:t>
            </a:r>
            <a:r>
              <a:rPr kumimoji="0" lang="en-US" altLang="ko-KR" sz="1100" b="1" i="0" u="none" strike="noStrike" kern="0" cap="none" spc="0" normalizeH="0" baseline="0">
                <a:solidFill>
                  <a:schemeClr val="dk1"/>
                </a:solidFill>
                <a:latin typeface="Arial"/>
                <a:ea typeface="맑은 고딕"/>
                <a:cs typeface="맑은 고딕"/>
              </a:rPr>
              <a:t>2</a:t>
            </a:r>
            <a:r>
              <a:rPr kumimoji="0" lang="ko-KR" altLang="en-US" sz="1100" b="1" i="0" u="none" strike="noStrike" kern="0" cap="none" spc="0" normalizeH="0" baseline="0">
                <a:solidFill>
                  <a:schemeClr val="dk1"/>
                </a:solidFill>
                <a:latin typeface="Arial"/>
                <a:ea typeface="맑은 고딕"/>
                <a:cs typeface="맑은 고딕"/>
              </a:rPr>
              <a:t>개 만든 다음에 </a:t>
            </a:r>
            <a:r>
              <a:rPr kumimoji="0" lang="en-US" altLang="ko-KR" sz="1100" b="1" i="0" u="none" strike="noStrike" kern="0" cap="none" spc="0" normalizeH="0" baseline="0">
                <a:solidFill>
                  <a:schemeClr val="dk1"/>
                </a:solidFill>
                <a:latin typeface="Arial"/>
                <a:ea typeface="맑은 고딕"/>
                <a:cs typeface="맑은 고딕"/>
              </a:rPr>
              <a:t>Aggregate</a:t>
            </a:r>
            <a:r>
              <a:rPr kumimoji="0" lang="ko-KR" altLang="en-US" sz="1100" b="1" i="0" u="none" strike="noStrike" kern="0" cap="none" spc="0" normalizeH="0" baseline="0">
                <a:solidFill>
                  <a:schemeClr val="dk1"/>
                </a:solidFill>
                <a:latin typeface="Arial"/>
                <a:ea typeface="맑은 고딕"/>
                <a:cs typeface="맑은 고딕"/>
              </a:rPr>
              <a:t>하는 방식은 어떤가</a:t>
            </a:r>
            <a:r>
              <a:rPr kumimoji="0" lang="en-US" altLang="ko-KR" sz="1100" b="1" i="0" u="none" strike="noStrike" kern="0" cap="none" spc="0" normalizeH="0" baseline="0">
                <a:solidFill>
                  <a:schemeClr val="dk1"/>
                </a:solidFill>
                <a:latin typeface="Arial"/>
                <a:ea typeface="맑은 고딕"/>
                <a:cs typeface="맑은 고딕"/>
              </a:rPr>
              <a:t>?</a:t>
            </a:r>
          </a:p>
        </p:txBody>
      </p:sp>
      <p:sp>
        <p:nvSpPr>
          <p:cNvPr id="106" name="타원 105"/>
          <p:cNvSpPr/>
          <p:nvPr/>
        </p:nvSpPr>
        <p:spPr>
          <a:xfrm>
            <a:off x="2791884" y="3231445"/>
            <a:ext cx="839610" cy="338666"/>
          </a:xfrm>
          <a:prstGeom prst="ellipse">
            <a:avLst/>
          </a:prstGeom>
          <a:gradFill flip="xy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00">
                <a:solidFill>
                  <a:schemeClr val="dk1"/>
                </a:solidFill>
              </a:rPr>
              <a:t>대안 </a:t>
            </a:r>
            <a:r>
              <a:rPr lang="en-US" altLang="ko-KR" sz="1000">
                <a:solidFill>
                  <a:schemeClr val="dk1"/>
                </a:solidFill>
              </a:rPr>
              <a:t>1</a:t>
            </a:r>
          </a:p>
        </p:txBody>
      </p:sp>
      <p:sp>
        <p:nvSpPr>
          <p:cNvPr id="107" name="타원 106"/>
          <p:cNvSpPr/>
          <p:nvPr/>
        </p:nvSpPr>
        <p:spPr>
          <a:xfrm>
            <a:off x="6713362" y="3235678"/>
            <a:ext cx="839610" cy="338666"/>
          </a:xfrm>
          <a:prstGeom prst="ellipse">
            <a:avLst/>
          </a:prstGeom>
          <a:gradFill flip="xy" rotWithShape="1">
            <a:gsLst>
              <a:gs pos="0">
                <a:srgbClr val="4285F4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1"/>
            <a:tileRect/>
          </a:gradFill>
          <a:ln w="25400" cap="flat" cmpd="sng" algn="ctr">
            <a:solidFill>
              <a:srgbClr val="1F4075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대안 </a:t>
            </a:r>
            <a:r>
              <a:rPr kumimoji="0" lang="en-US" altLang="ko-KR" sz="1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프로젝트 진행 과정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349355" y="753379"/>
            <a:ext cx="5790127" cy="43318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en-US" altLang="ko-KR" sz="1400" b="1">
                <a:latin typeface="+mn-ea"/>
                <a:ea typeface="+mn-ea"/>
              </a:rPr>
              <a:t> Mediapipe</a:t>
            </a:r>
            <a:r>
              <a:rPr lang="ko-KR" altLang="en-US" sz="1400" b="1">
                <a:latin typeface="+mn-ea"/>
                <a:ea typeface="+mn-ea"/>
              </a:rPr>
              <a:t>를 활용해서 손가락 탐지 모델 만들기</a:t>
            </a:r>
          </a:p>
          <a:p>
            <a:pPr algn="l">
              <a:defRPr/>
            </a:pPr>
            <a:endParaRPr lang="en-US" altLang="ko-KR" sz="12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</p:txBody>
      </p:sp>
      <p:sp>
        <p:nvSpPr>
          <p:cNvPr id="90" name="내용 개체 틀 2"/>
          <p:cNvSpPr txBox="1"/>
          <p:nvPr/>
        </p:nvSpPr>
        <p:spPr>
          <a:xfrm>
            <a:off x="1427319" y="1089223"/>
            <a:ext cx="7264739" cy="40496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r>
              <a:rPr kumimoji="0" lang="en-US" altLang="ko-KR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Step4-3.</a:t>
            </a:r>
            <a:r>
              <a:rPr kumimoji="0" lang="ko-KR" altLang="en-US" sz="1400" b="1" i="0" u="none" strike="noStrike" kern="0" cap="none" spc="0" normalizeH="0" baseline="0">
                <a:solidFill>
                  <a:srgbClr val="595959"/>
                </a:solidFill>
                <a:latin typeface="Arial"/>
                <a:ea typeface="맑은 고딕"/>
              </a:rPr>
              <a:t> 대안책으로 다시 학습해본 결과</a:t>
            </a: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1400" b="1" i="0" u="none" strike="noStrike" kern="0" cap="none" spc="0" normalizeH="0" baseline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1400" b="1" i="0" u="none" strike="noStrike" kern="0" cap="none" spc="0" normalizeH="0" baseline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12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1612194" y="3598332"/>
            <a:ext cx="7083778" cy="110772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1.</a:t>
            </a:r>
            <a:r>
              <a:rPr lang="ko-KR" altLang="en-US">
                <a:solidFill>
                  <a:schemeClr val="dk1"/>
                </a:solidFill>
              </a:rPr>
              <a:t> 증강 조합의 다양화 </a:t>
            </a:r>
            <a:r>
              <a:rPr lang="en-US" altLang="ko-KR">
                <a:solidFill>
                  <a:schemeClr val="dk1"/>
                </a:solidFill>
              </a:rPr>
              <a:t>: 경우의 수가 너무 많음 (Complexity</a:t>
            </a:r>
            <a:r>
              <a:rPr lang="ko-KR" altLang="en-US">
                <a:solidFill>
                  <a:schemeClr val="dk1"/>
                </a:solidFill>
              </a:rPr>
              <a:t> 측면에서 비효율적</a:t>
            </a:r>
            <a:r>
              <a:rPr lang="en-US" altLang="ko-KR">
                <a:solidFill>
                  <a:schemeClr val="dk1"/>
                </a:solidFill>
              </a:rPr>
              <a:t>)</a:t>
            </a:r>
          </a:p>
          <a:p>
            <a:pPr>
              <a:defRPr/>
            </a:pP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2.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GRU</a:t>
            </a:r>
            <a:r>
              <a:rPr lang="ko-KR" altLang="en-US">
                <a:solidFill>
                  <a:schemeClr val="dk1"/>
                </a:solidFill>
              </a:rPr>
              <a:t>를 </a:t>
            </a:r>
            <a:r>
              <a:rPr lang="en-US" altLang="ko-KR">
                <a:solidFill>
                  <a:schemeClr val="dk1"/>
                </a:solidFill>
              </a:rPr>
              <a:t>2</a:t>
            </a:r>
            <a:r>
              <a:rPr lang="ko-KR" altLang="en-US">
                <a:solidFill>
                  <a:schemeClr val="dk1"/>
                </a:solidFill>
              </a:rPr>
              <a:t>개 만든 다음 합치기 </a:t>
            </a:r>
            <a:r>
              <a:rPr lang="en-US" altLang="ko-KR">
                <a:solidFill>
                  <a:schemeClr val="dk1"/>
                </a:solidFill>
              </a:rPr>
              <a:t>:</a:t>
            </a:r>
            <a:r>
              <a:rPr lang="ko-KR" altLang="en-US">
                <a:solidFill>
                  <a:schemeClr val="dk1"/>
                </a:solidFill>
              </a:rPr>
              <a:t> 각각의 손가락은 </a:t>
            </a:r>
            <a:r>
              <a:rPr lang="en-US" altLang="ko-KR">
                <a:solidFill>
                  <a:schemeClr val="dk1"/>
                </a:solidFill>
              </a:rPr>
              <a:t>90%</a:t>
            </a:r>
            <a:r>
              <a:rPr lang="ko-KR" altLang="en-US">
                <a:solidFill>
                  <a:schemeClr val="dk1"/>
                </a:solidFill>
              </a:rPr>
              <a:t> 이상의 정확도로 탐지 가능</a:t>
            </a:r>
            <a:r>
              <a:rPr lang="en-US" altLang="ko-KR">
                <a:solidFill>
                  <a:schemeClr val="dk1"/>
                </a:solidFill>
              </a:rPr>
              <a:t>,</a:t>
            </a:r>
            <a:r>
              <a:rPr lang="ko-KR" altLang="en-US">
                <a:solidFill>
                  <a:schemeClr val="dk1"/>
                </a:solidFill>
              </a:rPr>
              <a:t> 하지만 여전히 새끼 손가락을 잘 인식 못하는 상태</a:t>
            </a:r>
            <a:r>
              <a:rPr lang="en-US" altLang="ko-KR">
                <a:solidFill>
                  <a:schemeClr val="dk1"/>
                </a:solidFill>
              </a:rPr>
              <a:t> </a:t>
            </a:r>
          </a:p>
        </p:txBody>
      </p:sp>
      <p:pic>
        <p:nvPicPr>
          <p:cNvPr id="108" name="그림 10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42874" y="1843264"/>
            <a:ext cx="3370086" cy="857250"/>
          </a:xfrm>
          <a:prstGeom prst="rect">
            <a:avLst/>
          </a:prstGeom>
        </p:spPr>
      </p:pic>
      <p:pic>
        <p:nvPicPr>
          <p:cNvPr id="110" name="그림 10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214408" y="1838324"/>
            <a:ext cx="3435350" cy="862188"/>
          </a:xfrm>
          <a:prstGeom prst="rect">
            <a:avLst/>
          </a:prstGeom>
        </p:spPr>
      </p:pic>
      <p:sp>
        <p:nvSpPr>
          <p:cNvPr id="111" name="직사각형 110"/>
          <p:cNvSpPr/>
          <p:nvPr/>
        </p:nvSpPr>
        <p:spPr>
          <a:xfrm>
            <a:off x="1598083" y="1481667"/>
            <a:ext cx="6935611" cy="282222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전체 </a:t>
            </a:r>
            <a:r>
              <a:rPr lang="en-US" altLang="ko-KR">
                <a:solidFill>
                  <a:schemeClr val="dk1"/>
                </a:solidFill>
              </a:rPr>
              <a:t>data</a:t>
            </a:r>
            <a:r>
              <a:rPr lang="ko-KR" altLang="en-US">
                <a:solidFill>
                  <a:schemeClr val="dk1"/>
                </a:solidFill>
              </a:rPr>
              <a:t>를 왼손</a:t>
            </a:r>
            <a:r>
              <a:rPr lang="en-US" altLang="ko-KR">
                <a:solidFill>
                  <a:schemeClr val="dk1"/>
                </a:solidFill>
              </a:rPr>
              <a:t>(class=0), </a:t>
            </a:r>
            <a:r>
              <a:rPr lang="ko-KR" altLang="en-US">
                <a:solidFill>
                  <a:schemeClr val="dk1"/>
                </a:solidFill>
              </a:rPr>
              <a:t>오른손</a:t>
            </a:r>
            <a:r>
              <a:rPr lang="en-US" altLang="ko-KR">
                <a:solidFill>
                  <a:schemeClr val="dk1"/>
                </a:solidFill>
              </a:rPr>
              <a:t>(class=1)</a:t>
            </a:r>
            <a:r>
              <a:rPr lang="ko-KR" altLang="en-US">
                <a:solidFill>
                  <a:schemeClr val="dk1"/>
                </a:solidFill>
              </a:rPr>
              <a:t>로 분리한 새로운 데이터 생성</a:t>
            </a:r>
          </a:p>
        </p:txBody>
      </p:sp>
      <p:sp>
        <p:nvSpPr>
          <p:cNvPr id="112" name="화살표: 아래쪽 111"/>
          <p:cNvSpPr/>
          <p:nvPr/>
        </p:nvSpPr>
        <p:spPr>
          <a:xfrm>
            <a:off x="4893028" y="2857500"/>
            <a:ext cx="373944" cy="508000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3" name="타원 112"/>
          <p:cNvSpPr/>
          <p:nvPr/>
        </p:nvSpPr>
        <p:spPr>
          <a:xfrm>
            <a:off x="5513916" y="2815166"/>
            <a:ext cx="1897945" cy="585611"/>
          </a:xfrm>
          <a:prstGeom prst="ellipse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100">
                <a:ln w="9525">
                  <a:solidFill>
                    <a:schemeClr val="accent3"/>
                  </a:solidFill>
                </a:ln>
                <a:solidFill>
                  <a:schemeClr val="dk1"/>
                </a:solidFill>
              </a:rPr>
              <a:t>GRU_Left, GRU_right</a:t>
            </a:r>
            <a:r>
              <a:rPr lang="ko-KR" altLang="en-US" sz="1100">
                <a:ln w="9525">
                  <a:solidFill>
                    <a:schemeClr val="accent3"/>
                  </a:solidFill>
                </a:ln>
                <a:solidFill>
                  <a:schemeClr val="dk1"/>
                </a:solidFill>
              </a:rPr>
              <a:t> 각각 학습 후 합침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프로젝트 진행 과정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349355" y="753379"/>
            <a:ext cx="5790127" cy="43318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en-US" altLang="ko-KR" sz="1400" b="1" dirty="0">
                <a:latin typeface="+mn-ea"/>
                <a:ea typeface="+mn-ea"/>
              </a:rPr>
              <a:t> </a:t>
            </a:r>
            <a:r>
              <a:rPr lang="en-US" altLang="ko-KR" sz="1400" b="1" dirty="0" err="1">
                <a:latin typeface="+mn-ea"/>
                <a:ea typeface="+mn-ea"/>
              </a:rPr>
              <a:t>Mediapipe</a:t>
            </a:r>
            <a:r>
              <a:rPr lang="ko-KR" altLang="en-US" sz="1400" b="1" dirty="0">
                <a:latin typeface="+mn-ea"/>
                <a:ea typeface="+mn-ea"/>
              </a:rPr>
              <a:t>를 활용해서 손가락 탐지 모델 만들기</a:t>
            </a:r>
          </a:p>
          <a:p>
            <a:pPr algn="l">
              <a:defRPr/>
            </a:pPr>
            <a:endParaRPr lang="en-US" altLang="ko-KR" sz="1200" dirty="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 dirty="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 dirty="0">
              <a:latin typeface="+mn-ea"/>
              <a:ea typeface="+mn-ea"/>
            </a:endParaRPr>
          </a:p>
        </p:txBody>
      </p:sp>
      <p:sp>
        <p:nvSpPr>
          <p:cNvPr id="90" name="내용 개체 틀 2"/>
          <p:cNvSpPr txBox="1"/>
          <p:nvPr/>
        </p:nvSpPr>
        <p:spPr>
          <a:xfrm>
            <a:off x="1427319" y="1089223"/>
            <a:ext cx="7264739" cy="40496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r>
              <a:rPr kumimoji="0" lang="en-US" altLang="ko-KR" sz="1400" b="1" i="0" u="none" strike="noStrike" kern="0" cap="none" spc="0" normalizeH="0" baseline="0" dirty="0">
                <a:solidFill>
                  <a:srgbClr val="595959"/>
                </a:solidFill>
                <a:latin typeface="Arial"/>
                <a:ea typeface="맑은 고딕"/>
              </a:rPr>
              <a:t>Step5.</a:t>
            </a:r>
            <a:r>
              <a:rPr kumimoji="0" lang="ko-KR" altLang="en-US" sz="1400" b="1" i="0" u="none" strike="noStrike" kern="0" cap="none" spc="0" normalizeH="0" baseline="0" dirty="0">
                <a:solidFill>
                  <a:srgbClr val="595959"/>
                </a:solidFill>
                <a:latin typeface="Arial"/>
                <a:ea typeface="맑은 고딕"/>
              </a:rPr>
              <a:t> 학습된 모델을 이용해서 실제 </a:t>
            </a:r>
            <a:r>
              <a:rPr kumimoji="0" lang="en-US" altLang="ko-KR" sz="1400" b="1" i="0" u="none" strike="noStrike" kern="0" cap="none" spc="0" normalizeH="0" baseline="0" dirty="0">
                <a:solidFill>
                  <a:srgbClr val="595959"/>
                </a:solidFill>
                <a:latin typeface="Arial"/>
                <a:ea typeface="맑은 고딕"/>
              </a:rPr>
              <a:t>ai piano</a:t>
            </a:r>
            <a:r>
              <a:rPr kumimoji="0" lang="ko-KR" altLang="en-US" sz="1400" b="1" i="0" u="none" strike="noStrike" kern="0" cap="none" spc="0" normalizeH="0" baseline="0" dirty="0">
                <a:solidFill>
                  <a:srgbClr val="595959"/>
                </a:solidFill>
                <a:latin typeface="Arial"/>
                <a:ea typeface="맑은 고딕"/>
              </a:rPr>
              <a:t> 구현하기</a:t>
            </a: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1400" b="1" i="0" u="none" strike="noStrike" kern="0" cap="none" spc="0" normalizeH="0" baseline="0" dirty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ko-KR" altLang="en-US" sz="1400" b="1" i="0" u="none" strike="noStrike" kern="0" cap="none" spc="0" normalizeH="0" baseline="0" dirty="0">
              <a:solidFill>
                <a:srgbClr val="595959"/>
              </a:solidFill>
              <a:latin typeface="Arial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1200" b="0" i="0" u="none" strike="noStrike" kern="0" cap="none" spc="0" normalizeH="0" baseline="0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457200" marR="0" lvl="0" indent="-3429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 dirty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776AAC-0178-0F12-0EEA-606B6D534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384" y="1830027"/>
            <a:ext cx="2462251" cy="22330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DAFF279-E776-2162-169C-7C01B7F8CC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6451" y="1522405"/>
            <a:ext cx="2584360" cy="15075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5A967D-C737-F029-5311-5CCEC3FB3B97}"/>
              </a:ext>
            </a:extLst>
          </p:cNvPr>
          <p:cNvSpPr txBox="1"/>
          <p:nvPr/>
        </p:nvSpPr>
        <p:spPr>
          <a:xfrm>
            <a:off x="1971836" y="4331595"/>
            <a:ext cx="253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사용한 </a:t>
            </a:r>
            <a:r>
              <a:rPr lang="en-US" altLang="ko-KR" sz="1200" b="1" dirty="0"/>
              <a:t>Aruco marker</a:t>
            </a:r>
            <a:endParaRPr lang="ko-KR" altLang="en-US" sz="1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34D925-9795-A7EC-4A4A-12F5B582FB85}"/>
              </a:ext>
            </a:extLst>
          </p:cNvPr>
          <p:cNvSpPr txBox="1"/>
          <p:nvPr/>
        </p:nvSpPr>
        <p:spPr>
          <a:xfrm>
            <a:off x="6151030" y="4768999"/>
            <a:ext cx="1417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구현된 피아노 건반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FBF7E491-5DC7-1D65-F93A-1B1741037A53}"/>
              </a:ext>
            </a:extLst>
          </p:cNvPr>
          <p:cNvSpPr/>
          <p:nvPr/>
        </p:nvSpPr>
        <p:spPr>
          <a:xfrm>
            <a:off x="4450725" y="2946543"/>
            <a:ext cx="800636" cy="276999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19F356C-471B-B5E3-F713-4CD84E1D43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1631" y="3127983"/>
            <a:ext cx="2570239" cy="15075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6009511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3.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프로젝트의 의의 및 앞으로 개선해볼 수 있는 점</a:t>
            </a:r>
          </a:p>
        </p:txBody>
      </p:sp>
      <p:graphicFrame>
        <p:nvGraphicFramePr>
          <p:cNvPr id="114" name="표 113"/>
          <p:cNvGraphicFramePr>
            <a:graphicFrameLocks noGrp="1"/>
          </p:cNvGraphicFramePr>
          <p:nvPr/>
        </p:nvGraphicFramePr>
        <p:xfrm>
          <a:off x="1523048" y="864305"/>
          <a:ext cx="6955155" cy="19171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6955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99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600">
                          <a:solidFill>
                            <a:srgbClr val="FFFF00"/>
                          </a:solidFill>
                        </a:rPr>
                        <a:t>AI Piano </a:t>
                      </a:r>
                      <a:r>
                        <a:rPr lang="ko-KR" altLang="en-US" sz="1600">
                          <a:solidFill>
                            <a:srgbClr val="FFFF00"/>
                          </a:solidFill>
                        </a:rPr>
                        <a:t>프로젝트 의의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363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99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b="1"/>
                        <a:t>1.</a:t>
                      </a:r>
                      <a:r>
                        <a:rPr lang="ko-KR" altLang="en-US" sz="1200" b="1"/>
                        <a:t> 별도 장비 없이 카메라만으로 비접촉식 손 기반 입력을 가능하게 하여  미디어·가상 연주 시스템을 개발해보는 경험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49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b="1"/>
                        <a:t>2.</a:t>
                      </a:r>
                      <a:r>
                        <a:rPr lang="ko-KR" altLang="en-US" sz="1200" b="1"/>
                        <a:t> 손가락 움직임을 디지털 신호로 변환하는 프로세스를 구축하여 교육·게임·치료 등 다양한 HCI(Human-Computer Interaction) 분야로 확장이 가능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60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b="1"/>
                        <a:t>3.</a:t>
                      </a:r>
                      <a:r>
                        <a:rPr lang="ko-KR" altLang="en-US" sz="1200" b="1"/>
                        <a:t> </a:t>
                      </a:r>
                      <a:r>
                        <a:rPr lang="en-US" altLang="ko-KR" sz="1200" b="1"/>
                        <a:t>LSTM , GRU</a:t>
                      </a:r>
                      <a:r>
                        <a:rPr lang="ko-KR" altLang="en-US" sz="1200" b="1"/>
                        <a:t>를 직접 구현해보면서 각 모델의 구조에 대해 알아보는 경험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5" name="표 114"/>
          <p:cNvGraphicFramePr>
            <a:graphicFrameLocks noGrp="1"/>
          </p:cNvGraphicFramePr>
          <p:nvPr/>
        </p:nvGraphicFramePr>
        <p:xfrm>
          <a:off x="1527281" y="2946399"/>
          <a:ext cx="6964680" cy="19171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696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99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600">
                          <a:solidFill>
                            <a:srgbClr val="FFFF00"/>
                          </a:solidFill>
                        </a:rPr>
                        <a:t>연구 개선 방향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363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99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b="1"/>
                        <a:t>1.</a:t>
                      </a:r>
                      <a:r>
                        <a:rPr lang="ko-KR" altLang="en-US" sz="1200" b="1"/>
                        <a:t> 기술적 측면 </a:t>
                      </a:r>
                      <a:r>
                        <a:rPr lang="en-US" altLang="ko-KR" sz="1200" b="1"/>
                        <a:t>: </a:t>
                      </a:r>
                      <a:r>
                        <a:rPr lang="ko-KR" altLang="en-US" sz="1200" b="1"/>
                        <a:t>조명 및 배경 보정, 손 ROI 추출, depth/IR 센서 또는 멀티뷰 데이터 활용으로 Landmark 안정성 향상 가능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49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b="1"/>
                        <a:t>2.</a:t>
                      </a:r>
                      <a:r>
                        <a:rPr lang="ko-KR" altLang="en-US" sz="1200" b="1"/>
                        <a:t> 모델의 다양성 </a:t>
                      </a:r>
                      <a:r>
                        <a:rPr lang="en-US" altLang="ko-KR" sz="1200" b="1"/>
                        <a:t>:</a:t>
                      </a:r>
                      <a:r>
                        <a:rPr lang="ko-KR" altLang="en-US" sz="1200" b="1"/>
                        <a:t> GRU 외에 Transformer / TCN / LSTM 기반 temporal 모델로 확장 가능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60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b="1"/>
                        <a:t>3.</a:t>
                      </a:r>
                      <a:r>
                        <a:rPr lang="ko-KR" altLang="en-US" sz="1200" b="1"/>
                        <a:t> 데이터 전처리 </a:t>
                      </a:r>
                      <a:r>
                        <a:rPr lang="en-US" altLang="ko-KR" sz="1200" b="1"/>
                        <a:t>:</a:t>
                      </a:r>
                      <a:r>
                        <a:rPr lang="ko-KR" altLang="en-US" sz="1200" b="1"/>
                        <a:t> 다양한 사용자·환경·각도 데이터 확장 및 속도/가속도/관절 각도 등 파생 특성 추가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2622530" y="2233042"/>
            <a:ext cx="4979400" cy="534908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                        감사합니다</a:t>
            </a: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!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408975" y="845454"/>
            <a:ext cx="7391738" cy="44023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endParaRPr lang="en-US" altLang="ko-KR" sz="1400" b="1">
              <a:latin typeface="+mn-ea"/>
              <a:ea typeface="+mn-ea"/>
            </a:endParaRPr>
          </a:p>
          <a:p>
            <a:pPr algn="l">
              <a:defRPr/>
            </a:pPr>
            <a:endParaRPr lang="ko-KR" altLang="en-US" sz="1400" b="1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1400" b="1">
              <a:latin typeface="+mn-ea"/>
              <a:ea typeface="+mn-ea"/>
            </a:endParaRPr>
          </a:p>
          <a:p>
            <a:pPr algn="l">
              <a:defRPr/>
            </a:pPr>
            <a:endParaRPr lang="ko-KR" altLang="en-US" sz="1400" b="1">
              <a:latin typeface="+mn-ea"/>
              <a:ea typeface="+mn-ea"/>
            </a:endParaRPr>
          </a:p>
          <a:p>
            <a:pPr algn="l">
              <a:defRPr/>
            </a:pPr>
            <a:endParaRPr lang="ko-KR" altLang="en-US" sz="1400" b="1">
              <a:latin typeface="+mn-ea"/>
              <a:ea typeface="+mn-ea"/>
            </a:endParaRPr>
          </a:p>
          <a:p>
            <a:pPr algn="l">
              <a:defRPr/>
            </a:pPr>
            <a:endParaRPr lang="ko-KR" altLang="en-US" sz="1400" b="1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14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14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12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1077</Words>
  <Application>Microsoft Office PowerPoint</Application>
  <PresentationFormat>화면 슬라이드 쇼(16:9)</PresentationFormat>
  <Paragraphs>327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NanumGothic ExtraBold</vt:lpstr>
      <vt:lpstr>맑은 고딕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전해인</dc:creator>
  <cp:lastModifiedBy>전해인</cp:lastModifiedBy>
  <cp:revision>57</cp:revision>
  <dcterms:modified xsi:type="dcterms:W3CDTF">2025-11-25T08:54:01Z</dcterms:modified>
  <cp:version/>
</cp:coreProperties>
</file>