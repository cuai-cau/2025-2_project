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6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19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922" y="82"/>
      </p:cViewPr>
      <p:guideLst>
        <p:guide orient="horz" pos="1619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pPr lvl="0">
              <a:defRPr/>
            </a:pPr>
            <a:endParaRPr lang="ko-KR" alt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18d7eca593_0_1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18d7eca593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8d7eca593_0_3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8d7eca593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8d7eca593_0_3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8d7eca593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8d7eca593_0_3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8d7eca593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8d7eca593_0_3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8d7eca593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8d7eca593_0_3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8d7eca593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8d7eca593_0_3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8d7eca593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8d7eca593_0_3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8d7eca593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"/>
              <a:t>T</a:t>
            </a:r>
            <a:endParaRPr/>
          </a:p>
        </p:txBody>
      </p:sp>
      <p:sp>
        <p:nvSpPr>
          <p:cNvPr id="55" name="Google Shape;55;p13"/>
          <p:cNvSpPr txBox="1"/>
          <p:nvPr/>
        </p:nvSpPr>
        <p:spPr>
          <a:xfrm>
            <a:off x="1339750" y="2710050"/>
            <a:ext cx="4979400" cy="1743825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" sz="2500" b="1" dirty="0">
                <a:solidFill>
                  <a:srgbClr val="19264B"/>
                </a:solidFill>
              </a:rPr>
              <a:t>CUAI </a:t>
            </a:r>
            <a:r>
              <a:rPr lang="ko-KR" altLang="en-US" sz="2500" b="1" dirty="0">
                <a:solidFill>
                  <a:srgbClr val="19264B"/>
                </a:solidFill>
              </a:rPr>
              <a:t>프로젝트</a:t>
            </a:r>
            <a:r>
              <a:rPr lang="ko" sz="2500" b="1" dirty="0">
                <a:solidFill>
                  <a:srgbClr val="19264B"/>
                </a:solidFill>
              </a:rPr>
              <a:t> </a:t>
            </a:r>
            <a:r>
              <a:rPr lang="en-US" altLang="ko" sz="2500" b="1" dirty="0">
                <a:solidFill>
                  <a:srgbClr val="19264B"/>
                </a:solidFill>
              </a:rPr>
              <a:t>CV 1</a:t>
            </a:r>
            <a:r>
              <a:rPr lang="ko" sz="2500" b="1" dirty="0">
                <a:solidFill>
                  <a:srgbClr val="19264B"/>
                </a:solidFill>
              </a:rPr>
              <a:t>팀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" dirty="0">
                <a:solidFill>
                  <a:srgbClr val="19264B"/>
                </a:solidFill>
              </a:rPr>
              <a:t>202</a:t>
            </a:r>
            <a:r>
              <a:rPr lang="en-US" altLang="ko" dirty="0">
                <a:solidFill>
                  <a:srgbClr val="19264B"/>
                </a:solidFill>
              </a:rPr>
              <a:t>5.</a:t>
            </a:r>
            <a:r>
              <a:rPr lang="en-US" altLang="ko-KR" dirty="0">
                <a:solidFill>
                  <a:srgbClr val="19264B"/>
                </a:solidFill>
              </a:rPr>
              <a:t>10</a:t>
            </a:r>
            <a:r>
              <a:rPr lang="en-US" altLang="ko" dirty="0">
                <a:solidFill>
                  <a:srgbClr val="19264B"/>
                </a:solidFill>
              </a:rPr>
              <a:t>.</a:t>
            </a:r>
            <a:r>
              <a:rPr lang="en-US" altLang="ko-KR" dirty="0">
                <a:solidFill>
                  <a:srgbClr val="19264B"/>
                </a:solidFill>
              </a:rPr>
              <a:t>28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" sz="1100" dirty="0">
                <a:solidFill>
                  <a:srgbClr val="19264B"/>
                </a:solidFill>
              </a:rPr>
              <a:t>발표자 :</a:t>
            </a:r>
            <a:r>
              <a:rPr lang="en-US" altLang="ko" sz="1100" dirty="0">
                <a:solidFill>
                  <a:srgbClr val="19264B"/>
                </a:solidFill>
              </a:rPr>
              <a:t> </a:t>
            </a:r>
            <a:r>
              <a:rPr lang="ko-KR" altLang="en-US" sz="1100" dirty="0">
                <a:solidFill>
                  <a:srgbClr val="19264B"/>
                </a:solidFill>
              </a:rPr>
              <a:t>전해인</a:t>
            </a:r>
            <a:endParaRPr lang="ko" sz="1100" dirty="0">
              <a:solidFill>
                <a:srgbClr val="19264B"/>
              </a:solidFill>
            </a:endParaRPr>
          </a:p>
          <a:p>
            <a:pPr>
              <a:lnSpc>
                <a:spcPct val="115000"/>
              </a:lnSpc>
              <a:defRPr/>
            </a:pPr>
            <a:r>
              <a:rPr lang="ko-KR" altLang="en-US" sz="1100" dirty="0">
                <a:solidFill>
                  <a:srgbClr val="19264B"/>
                </a:solidFill>
              </a:rPr>
              <a:t>팀원 </a:t>
            </a:r>
            <a:r>
              <a:rPr lang="en-US" altLang="ko-KR" sz="1100" dirty="0">
                <a:solidFill>
                  <a:srgbClr val="19264B"/>
                </a:solidFill>
              </a:rPr>
              <a:t>: </a:t>
            </a:r>
            <a:r>
              <a:rPr lang="ko-KR" altLang="en-US" sz="1100" dirty="0"/>
              <a:t>김세린</a:t>
            </a:r>
            <a:r>
              <a:rPr lang="en-US" altLang="ko-KR" sz="1100" dirty="0"/>
              <a:t>,</a:t>
            </a:r>
            <a:r>
              <a:rPr lang="ko-KR" altLang="en-US" sz="1100" dirty="0"/>
              <a:t> 김은기</a:t>
            </a:r>
            <a:r>
              <a:rPr lang="en-US" altLang="ko-KR" sz="1100" dirty="0"/>
              <a:t>, </a:t>
            </a:r>
            <a:r>
              <a:rPr lang="ko-KR" altLang="en-US" sz="1100" dirty="0"/>
              <a:t>방세현</a:t>
            </a:r>
            <a:r>
              <a:rPr lang="en-US" altLang="ko-KR" sz="1100" dirty="0"/>
              <a:t>, </a:t>
            </a:r>
            <a:r>
              <a:rPr lang="ko-KR" altLang="en-US" sz="1100" dirty="0"/>
              <a:t>양재영</a:t>
            </a:r>
            <a:r>
              <a:rPr lang="en-US" altLang="ko-KR" sz="1100" dirty="0"/>
              <a:t>, </a:t>
            </a:r>
            <a:r>
              <a:rPr lang="ko-KR" altLang="en-US" sz="1100" dirty="0"/>
              <a:t>전해인</a:t>
            </a:r>
          </a:p>
        </p:txBody>
      </p:sp>
      <p:cxnSp>
        <p:nvCxnSpPr>
          <p:cNvPr id="56" name="Google Shape;56;p13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w="med" len="med"/>
            <a:tailEnd w="med" len="med"/>
          </a:ln>
        </p:spPr>
      </p:cxnSp>
      <p:pic>
        <p:nvPicPr>
          <p:cNvPr id="57" name="Google Shape;57;p13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3" name="Google Shape;63;p14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4" name="Google Shape;6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팀</a:t>
            </a:r>
            <a:r>
              <a:rPr lang="ko" sz="2000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원 소개 및 만남 인증</a:t>
            </a:r>
            <a:endParaRPr sz="2000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6137600" y="1820125"/>
            <a:ext cx="2282100" cy="2339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팀</a:t>
            </a:r>
            <a:r>
              <a:rPr lang="ko" dirty="0"/>
              <a:t>원 1 : 김</a:t>
            </a:r>
            <a:r>
              <a:rPr lang="ko-KR" altLang="en-US" dirty="0" err="1"/>
              <a:t>세린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팀</a:t>
            </a:r>
            <a:r>
              <a:rPr lang="ko" dirty="0"/>
              <a:t>원 2 : </a:t>
            </a:r>
            <a:r>
              <a:rPr lang="ko-KR" altLang="en-US" dirty="0"/>
              <a:t>김은기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팀</a:t>
            </a:r>
            <a:r>
              <a:rPr lang="ko" dirty="0"/>
              <a:t>원 3 : </a:t>
            </a:r>
            <a:r>
              <a:rPr lang="ko-KR" altLang="en-US" dirty="0"/>
              <a:t>방세현</a:t>
            </a: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팀원 </a:t>
            </a:r>
            <a:r>
              <a:rPr lang="en-US" altLang="ko-KR" dirty="0"/>
              <a:t>4 : </a:t>
            </a:r>
            <a:r>
              <a:rPr lang="ko-KR" altLang="en-US" dirty="0"/>
              <a:t>양재영</a:t>
            </a: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팀원 </a:t>
            </a:r>
            <a:r>
              <a:rPr lang="en-US" altLang="ko-KR" dirty="0"/>
              <a:t>5 : </a:t>
            </a:r>
            <a:r>
              <a:rPr lang="ko-KR" altLang="en-US" dirty="0"/>
              <a:t>전해인</a:t>
            </a: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8BBAEDE-92B5-B686-0296-5FEF08EB0A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9041" y="1437401"/>
            <a:ext cx="4139360" cy="31045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cxnSp>
        <p:nvCxnSpPr>
          <p:cNvPr id="73" name="Google Shape;73;p15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w="med" len="med"/>
            <a:tailEnd w="med" len="med"/>
          </a:ln>
        </p:spPr>
      </p:cxnSp>
      <p:pic>
        <p:nvPicPr>
          <p:cNvPr id="74" name="Google Shape;74;p15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/>
          <p:cNvSpPr txBox="1"/>
          <p:nvPr/>
        </p:nvSpPr>
        <p:spPr>
          <a:xfrm>
            <a:off x="1408975" y="306875"/>
            <a:ext cx="4979400" cy="4926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" sz="200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목차</a:t>
            </a:r>
            <a:endParaRPr sz="200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554051" y="1275008"/>
            <a:ext cx="2614411" cy="11519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b="1"/>
              <a:t>1. </a:t>
            </a:r>
            <a:r>
              <a:rPr lang="ko-KR" altLang="en-US" b="1"/>
              <a:t>프로젝트 소개</a:t>
            </a:r>
          </a:p>
          <a:p>
            <a:pPr lvl="0">
              <a:defRPr/>
            </a:pPr>
            <a:endParaRPr lang="en-US" altLang="ko-KR" b="1"/>
          </a:p>
          <a:p>
            <a:pPr lvl="0">
              <a:defRPr/>
            </a:pPr>
            <a:r>
              <a:rPr lang="en-US" altLang="ko-KR" b="1"/>
              <a:t>2. </a:t>
            </a:r>
            <a:r>
              <a:rPr lang="ko-KR" altLang="en-US" b="1"/>
              <a:t>프로젝트 진행 현황</a:t>
            </a:r>
          </a:p>
          <a:p>
            <a:pPr lvl="0">
              <a:defRPr/>
            </a:pPr>
            <a:endParaRPr lang="ko-KR" altLang="en-US" b="1"/>
          </a:p>
          <a:p>
            <a:pPr lvl="0">
              <a:defRPr/>
            </a:pPr>
            <a:r>
              <a:rPr lang="en-US" altLang="ko-KR" b="1"/>
              <a:t>3.</a:t>
            </a:r>
            <a:r>
              <a:rPr lang="ko-KR" altLang="en-US" b="1"/>
              <a:t> 앞으로의 계획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cxnSp>
        <p:nvCxnSpPr>
          <p:cNvPr id="81" name="Google Shape;81;p16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w="med" len="med"/>
            <a:tailEnd w="med" len="med"/>
          </a:ln>
        </p:spPr>
      </p:cxnSp>
      <p:pic>
        <p:nvPicPr>
          <p:cNvPr id="82" name="Google Shape;82;p16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/>
          <p:cNvSpPr txBox="1"/>
          <p:nvPr/>
        </p:nvSpPr>
        <p:spPr>
          <a:xfrm>
            <a:off x="1408975" y="306875"/>
            <a:ext cx="4979400" cy="5275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00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1. </a:t>
            </a:r>
            <a:r>
              <a:rPr lang="ko-KR" altLang="en-US" sz="200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프로젝트 소개</a:t>
            </a:r>
          </a:p>
        </p:txBody>
      </p:sp>
      <p:sp>
        <p:nvSpPr>
          <p:cNvPr id="2" name="내용 개체 틀 2"/>
          <p:cNvSpPr txBox="1"/>
          <p:nvPr/>
        </p:nvSpPr>
        <p:spPr>
          <a:xfrm>
            <a:off x="1408975" y="845454"/>
            <a:ext cx="5790127" cy="496683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defRPr/>
            </a:pPr>
            <a:r>
              <a:rPr lang="ko-KR" altLang="en-US" sz="1400" b="1">
                <a:latin typeface="+mn-ea"/>
                <a:ea typeface="+mn-ea"/>
              </a:rPr>
              <a:t>프로젝트 주제 </a:t>
            </a:r>
            <a:r>
              <a:rPr lang="en-US" altLang="ko-KR" sz="1400" b="1">
                <a:latin typeface="+mn-ea"/>
                <a:ea typeface="+mn-ea"/>
              </a:rPr>
              <a:t>: Mediapipe</a:t>
            </a:r>
            <a:r>
              <a:rPr lang="ko-KR" altLang="en-US" sz="1400" b="1">
                <a:latin typeface="+mn-ea"/>
                <a:ea typeface="+mn-ea"/>
              </a:rPr>
              <a:t>를 이용한 가상 악기 만들기 </a:t>
            </a:r>
            <a:r>
              <a:rPr lang="en-US" altLang="ko-KR" sz="1400" b="1">
                <a:latin typeface="+mn-ea"/>
                <a:ea typeface="+mn-ea"/>
              </a:rPr>
              <a:t>(</a:t>
            </a:r>
            <a:r>
              <a:rPr lang="ko-KR" altLang="en-US" sz="1400" b="1">
                <a:latin typeface="+mn-ea"/>
                <a:ea typeface="+mn-ea"/>
              </a:rPr>
              <a:t>피아노</a:t>
            </a:r>
            <a:r>
              <a:rPr lang="en-US" altLang="ko-KR" sz="1400" b="1">
                <a:latin typeface="+mn-ea"/>
                <a:ea typeface="+mn-ea"/>
              </a:rPr>
              <a:t>)</a:t>
            </a:r>
            <a:r>
              <a:rPr lang="ko-KR" altLang="en-US" sz="1400" b="1">
                <a:latin typeface="+mn-ea"/>
                <a:ea typeface="+mn-ea"/>
              </a:rPr>
              <a:t> </a:t>
            </a:r>
          </a:p>
          <a:p>
            <a:pPr algn="l">
              <a:defRPr/>
            </a:pPr>
            <a:endParaRPr lang="en-US" altLang="ko-KR" sz="1200">
              <a:latin typeface="+mn-ea"/>
              <a:ea typeface="+mn-ea"/>
            </a:endParaRPr>
          </a:p>
          <a:p>
            <a:pPr marL="0" indent="0" algn="l">
              <a:defRPr/>
            </a:pPr>
            <a:endParaRPr lang="en-US" altLang="ko-KR" sz="2000">
              <a:latin typeface="+mn-ea"/>
              <a:ea typeface="+mn-ea"/>
            </a:endParaRPr>
          </a:p>
          <a:p>
            <a:pPr algn="l">
              <a:defRPr/>
            </a:pPr>
            <a:endParaRPr lang="en-US" altLang="ko-KR" sz="2000">
              <a:latin typeface="+mn-ea"/>
              <a:ea typeface="+mn-ea"/>
            </a:endParaRPr>
          </a:p>
          <a:p>
            <a:pPr algn="l">
              <a:defRPr/>
            </a:pPr>
            <a:endParaRPr lang="en-US" altLang="ko-KR" sz="2000">
              <a:latin typeface="+mn-ea"/>
              <a:ea typeface="+mn-ea"/>
            </a:endParaRPr>
          </a:p>
          <a:p>
            <a:pPr algn="l">
              <a:defRPr/>
            </a:pPr>
            <a:endParaRPr lang="en-US" altLang="ko-KR" sz="2000">
              <a:latin typeface="+mn-ea"/>
              <a:ea typeface="+mn-ea"/>
            </a:endParaRPr>
          </a:p>
          <a:p>
            <a:pPr algn="l">
              <a:defRPr/>
            </a:pPr>
            <a:endParaRPr lang="en-US" altLang="ko-KR" sz="2000">
              <a:latin typeface="+mn-ea"/>
              <a:ea typeface="+mn-ea"/>
            </a:endParaRPr>
          </a:p>
          <a:p>
            <a:pPr algn="l">
              <a:defRPr/>
            </a:pPr>
            <a:endParaRPr lang="en-US" altLang="ko-KR" sz="2000">
              <a:latin typeface="+mn-ea"/>
              <a:ea typeface="+mn-ea"/>
            </a:endParaRPr>
          </a:p>
          <a:p>
            <a:pPr marL="0" indent="0" algn="l">
              <a:defRPr/>
            </a:pPr>
            <a:endParaRPr lang="en-US" altLang="ko-KR" sz="2000">
              <a:latin typeface="+mn-ea"/>
              <a:ea typeface="+mn-ea"/>
            </a:endParaRPr>
          </a:p>
          <a:p>
            <a:pPr algn="l">
              <a:defRPr/>
            </a:pPr>
            <a:endParaRPr lang="en-US" altLang="ko-KR" sz="2000">
              <a:latin typeface="+mn-ea"/>
              <a:ea typeface="+mn-ea"/>
            </a:endParaRPr>
          </a:p>
          <a:p>
            <a:pPr marL="0" indent="0" algn="l">
              <a:defRPr/>
            </a:pPr>
            <a:endParaRPr lang="ko-KR" altLang="en-US" sz="2000">
              <a:latin typeface="+mn-ea"/>
              <a:ea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cxnSp>
        <p:nvCxnSpPr>
          <p:cNvPr id="81" name="Google Shape;81;p16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w="med" len="med"/>
            <a:tailEnd w="med" len="med"/>
          </a:ln>
        </p:spPr>
      </p:cxnSp>
      <p:pic>
        <p:nvPicPr>
          <p:cNvPr id="82" name="Google Shape;82;p16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/>
          <p:cNvSpPr txBox="1"/>
          <p:nvPr/>
        </p:nvSpPr>
        <p:spPr>
          <a:xfrm>
            <a:off x="1408975" y="306875"/>
            <a:ext cx="4979400" cy="5275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200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2.</a:t>
            </a:r>
            <a:r>
              <a:rPr lang="ko-KR" altLang="en-US" sz="200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 프로젝트 진행 현황</a:t>
            </a:r>
          </a:p>
        </p:txBody>
      </p:sp>
      <p:sp>
        <p:nvSpPr>
          <p:cNvPr id="2" name="내용 개체 틀 2"/>
          <p:cNvSpPr txBox="1"/>
          <p:nvPr/>
        </p:nvSpPr>
        <p:spPr>
          <a:xfrm>
            <a:off x="1408974" y="845454"/>
            <a:ext cx="6749682" cy="2987295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defRPr/>
            </a:pPr>
            <a:r>
              <a:rPr lang="en-US" altLang="ko-KR" sz="1400" b="1">
                <a:latin typeface="+mn-ea"/>
                <a:ea typeface="+mn-ea"/>
              </a:rPr>
              <a:t>1.</a:t>
            </a:r>
            <a:r>
              <a:rPr lang="ko-KR" altLang="en-US" sz="1400" b="1">
                <a:latin typeface="+mn-ea"/>
                <a:ea typeface="+mn-ea"/>
              </a:rPr>
              <a:t> </a:t>
            </a:r>
            <a:r>
              <a:rPr lang="en-US" altLang="ko-KR" sz="1400" b="1">
                <a:latin typeface="+mn-ea"/>
                <a:ea typeface="+mn-ea"/>
              </a:rPr>
              <a:t>Mediapipe</a:t>
            </a:r>
            <a:r>
              <a:rPr lang="ko-KR" altLang="en-US" sz="1400" b="1">
                <a:latin typeface="+mn-ea"/>
                <a:ea typeface="+mn-ea"/>
              </a:rPr>
              <a:t>을 활용해서 손가락을 탐지하는지 실습</a:t>
            </a:r>
          </a:p>
          <a:p>
            <a:pPr algn="l">
              <a:defRPr/>
            </a:pPr>
            <a:endParaRPr lang="en-US" altLang="ko-KR" sz="1400">
              <a:latin typeface="+mn-ea"/>
              <a:ea typeface="+mn-ea"/>
            </a:endParaRPr>
          </a:p>
          <a:p>
            <a:pPr algn="l">
              <a:defRPr/>
            </a:pPr>
            <a:endParaRPr lang="en-US" altLang="ko-KR" sz="1400">
              <a:latin typeface="+mn-ea"/>
              <a:ea typeface="+mn-ea"/>
            </a:endParaRPr>
          </a:p>
          <a:p>
            <a:pPr algn="l">
              <a:defRPr/>
            </a:pPr>
            <a:r>
              <a:rPr lang="en-US" altLang="ko-KR" sz="1200">
                <a:latin typeface="+mn-ea"/>
                <a:ea typeface="+mn-ea"/>
              </a:rPr>
              <a:t>*</a:t>
            </a:r>
            <a:r>
              <a:rPr lang="ko-KR" altLang="en-US" sz="1200">
                <a:latin typeface="+mn-ea"/>
                <a:ea typeface="+mn-ea"/>
              </a:rPr>
              <a:t> 관련 </a:t>
            </a:r>
            <a:r>
              <a:rPr lang="en-US" altLang="ko-KR" sz="1200">
                <a:latin typeface="+mn-ea"/>
                <a:ea typeface="+mn-ea"/>
              </a:rPr>
              <a:t>reference </a:t>
            </a:r>
            <a:r>
              <a:rPr lang="ko-KR" altLang="en-US" sz="1200">
                <a:latin typeface="+mn-ea"/>
                <a:ea typeface="+mn-ea"/>
              </a:rPr>
              <a:t>참고하여 </a:t>
            </a:r>
            <a:r>
              <a:rPr lang="en-US" altLang="ko-KR" sz="1200">
                <a:latin typeface="+mn-ea"/>
                <a:ea typeface="+mn-ea"/>
              </a:rPr>
              <a:t>MediaPipe</a:t>
            </a:r>
            <a:r>
              <a:rPr lang="ko-KR" altLang="en-US" sz="1200">
                <a:latin typeface="+mn-ea"/>
                <a:ea typeface="+mn-ea"/>
              </a:rPr>
              <a:t>를 공부하고 손가락을 실시간으로 탐지하는지 확인</a:t>
            </a:r>
          </a:p>
          <a:p>
            <a:pPr marL="0" indent="0" algn="l">
              <a:defRPr/>
            </a:pPr>
            <a:endParaRPr lang="en-US" altLang="ko-KR" sz="2000">
              <a:latin typeface="+mn-ea"/>
              <a:ea typeface="+mn-ea"/>
            </a:endParaRPr>
          </a:p>
          <a:p>
            <a:pPr algn="l">
              <a:defRPr/>
            </a:pPr>
            <a:endParaRPr lang="en-US" altLang="ko-KR" sz="2000">
              <a:latin typeface="+mn-ea"/>
              <a:ea typeface="+mn-ea"/>
            </a:endParaRPr>
          </a:p>
          <a:p>
            <a:pPr algn="l">
              <a:defRPr/>
            </a:pPr>
            <a:endParaRPr lang="en-US" altLang="ko-KR" sz="2000">
              <a:latin typeface="+mn-ea"/>
              <a:ea typeface="+mn-ea"/>
            </a:endParaRPr>
          </a:p>
          <a:p>
            <a:pPr algn="l">
              <a:defRPr/>
            </a:pPr>
            <a:endParaRPr lang="en-US" altLang="ko-KR" sz="2000">
              <a:latin typeface="+mn-ea"/>
              <a:ea typeface="+mn-ea"/>
            </a:endParaRPr>
          </a:p>
          <a:p>
            <a:pPr algn="l">
              <a:defRPr/>
            </a:pPr>
            <a:endParaRPr lang="en-US" altLang="ko-KR" sz="2000">
              <a:latin typeface="+mn-ea"/>
              <a:ea typeface="+mn-ea"/>
            </a:endParaRPr>
          </a:p>
          <a:p>
            <a:pPr algn="l">
              <a:defRPr/>
            </a:pPr>
            <a:endParaRPr lang="en-US" altLang="ko-KR" sz="2000">
              <a:latin typeface="+mn-ea"/>
              <a:ea typeface="+mn-ea"/>
            </a:endParaRPr>
          </a:p>
          <a:p>
            <a:pPr marL="0" indent="0" algn="l">
              <a:defRPr/>
            </a:pPr>
            <a:endParaRPr lang="en-US" altLang="ko-KR" sz="2000">
              <a:latin typeface="+mn-ea"/>
              <a:ea typeface="+mn-ea"/>
            </a:endParaRPr>
          </a:p>
          <a:p>
            <a:pPr algn="l">
              <a:defRPr/>
            </a:pPr>
            <a:endParaRPr lang="en-US" altLang="ko-KR" sz="2000">
              <a:latin typeface="+mn-ea"/>
              <a:ea typeface="+mn-ea"/>
            </a:endParaRPr>
          </a:p>
          <a:p>
            <a:pPr marL="0" indent="0" algn="l">
              <a:defRPr/>
            </a:pPr>
            <a:endParaRPr lang="ko-KR" altLang="en-US" sz="2000">
              <a:latin typeface="+mn-ea"/>
              <a:ea typeface="+mn-ea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524656" y="2087816"/>
            <a:ext cx="3618308" cy="134132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5217754" y="2087817"/>
            <a:ext cx="3514122" cy="264542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cxnSp>
        <p:nvCxnSpPr>
          <p:cNvPr id="81" name="Google Shape;81;p16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w="med" len="med"/>
            <a:tailEnd w="med" len="med"/>
          </a:ln>
        </p:spPr>
      </p:cxnSp>
      <p:pic>
        <p:nvPicPr>
          <p:cNvPr id="82" name="Google Shape;82;p16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/>
          <p:cNvSpPr txBox="1"/>
          <p:nvPr/>
        </p:nvSpPr>
        <p:spPr>
          <a:xfrm>
            <a:off x="1408975" y="306875"/>
            <a:ext cx="4979400" cy="5275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200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2.</a:t>
            </a:r>
            <a:r>
              <a:rPr lang="ko-KR" altLang="en-US" sz="200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  프로젝트 진행 현황</a:t>
            </a:r>
          </a:p>
        </p:txBody>
      </p:sp>
      <p:sp>
        <p:nvSpPr>
          <p:cNvPr id="2" name="내용 개체 틀 2"/>
          <p:cNvSpPr txBox="1"/>
          <p:nvPr/>
        </p:nvSpPr>
        <p:spPr>
          <a:xfrm>
            <a:off x="1408975" y="845454"/>
            <a:ext cx="7342349" cy="2987295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defRPr/>
            </a:pPr>
            <a:r>
              <a:rPr lang="en-US" altLang="ko-KR" sz="1400" b="1">
                <a:latin typeface="+mn-ea"/>
                <a:ea typeface="+mn-ea"/>
              </a:rPr>
              <a:t>2.</a:t>
            </a:r>
            <a:r>
              <a:rPr lang="ko-KR" altLang="en-US" sz="1400" b="1">
                <a:latin typeface="+mn-ea"/>
                <a:ea typeface="+mn-ea"/>
              </a:rPr>
              <a:t> </a:t>
            </a:r>
            <a:r>
              <a:rPr lang="en-US" altLang="ko-KR" sz="1400" b="1">
                <a:latin typeface="+mn-ea"/>
                <a:ea typeface="+mn-ea"/>
              </a:rPr>
              <a:t>Mediapipe</a:t>
            </a:r>
            <a:r>
              <a:rPr lang="ko-KR" altLang="en-US" sz="1400" b="1">
                <a:latin typeface="+mn-ea"/>
                <a:ea typeface="+mn-ea"/>
              </a:rPr>
              <a:t>에서 제공하는 손의 </a:t>
            </a:r>
            <a:r>
              <a:rPr lang="en-US" altLang="ko-KR" sz="1400" b="1">
                <a:latin typeface="+mn-ea"/>
                <a:ea typeface="+mn-ea"/>
              </a:rPr>
              <a:t>(X,Y,Z)</a:t>
            </a:r>
            <a:r>
              <a:rPr lang="ko-KR" altLang="en-US" sz="1400" b="1">
                <a:latin typeface="+mn-ea"/>
                <a:ea typeface="+mn-ea"/>
              </a:rPr>
              <a:t> 좌표를 이용해서 피아노 건반 눌림 탐지하기 </a:t>
            </a:r>
          </a:p>
          <a:p>
            <a:pPr algn="l">
              <a:defRPr/>
            </a:pPr>
            <a:endParaRPr lang="en-US" altLang="ko-KR" sz="1400">
              <a:latin typeface="+mn-ea"/>
              <a:ea typeface="+mn-ea"/>
            </a:endParaRPr>
          </a:p>
          <a:p>
            <a:pPr algn="l">
              <a:defRPr/>
            </a:pPr>
            <a:endParaRPr lang="en-US" altLang="ko-KR" sz="1400">
              <a:latin typeface="+mn-ea"/>
              <a:ea typeface="+mn-ea"/>
            </a:endParaRPr>
          </a:p>
          <a:p>
            <a:pPr marL="0" indent="0" algn="l">
              <a:defRPr/>
            </a:pPr>
            <a:endParaRPr lang="en-US" altLang="ko-KR" sz="2000">
              <a:latin typeface="+mn-ea"/>
              <a:ea typeface="+mn-ea"/>
            </a:endParaRPr>
          </a:p>
          <a:p>
            <a:pPr algn="l">
              <a:defRPr/>
            </a:pPr>
            <a:endParaRPr lang="en-US" altLang="ko-KR" sz="2000">
              <a:latin typeface="+mn-ea"/>
              <a:ea typeface="+mn-ea"/>
            </a:endParaRPr>
          </a:p>
          <a:p>
            <a:pPr algn="l">
              <a:defRPr/>
            </a:pPr>
            <a:endParaRPr lang="en-US" altLang="ko-KR" sz="2000">
              <a:latin typeface="+mn-ea"/>
              <a:ea typeface="+mn-ea"/>
            </a:endParaRPr>
          </a:p>
          <a:p>
            <a:pPr algn="l">
              <a:defRPr/>
            </a:pPr>
            <a:endParaRPr lang="en-US" altLang="ko-KR" sz="2000">
              <a:latin typeface="+mn-ea"/>
              <a:ea typeface="+mn-ea"/>
            </a:endParaRPr>
          </a:p>
          <a:p>
            <a:pPr algn="l">
              <a:defRPr/>
            </a:pPr>
            <a:endParaRPr lang="en-US" altLang="ko-KR" sz="2000">
              <a:latin typeface="+mn-ea"/>
              <a:ea typeface="+mn-ea"/>
            </a:endParaRPr>
          </a:p>
          <a:p>
            <a:pPr algn="l">
              <a:defRPr/>
            </a:pPr>
            <a:endParaRPr lang="en-US" altLang="ko-KR" sz="2000">
              <a:latin typeface="+mn-ea"/>
              <a:ea typeface="+mn-ea"/>
            </a:endParaRPr>
          </a:p>
          <a:p>
            <a:pPr marL="0" indent="0" algn="l">
              <a:defRPr/>
            </a:pPr>
            <a:endParaRPr lang="en-US" altLang="ko-KR" sz="2000">
              <a:latin typeface="+mn-ea"/>
              <a:ea typeface="+mn-ea"/>
            </a:endParaRPr>
          </a:p>
          <a:p>
            <a:pPr algn="l">
              <a:defRPr/>
            </a:pPr>
            <a:endParaRPr lang="en-US" altLang="ko-KR" sz="2000">
              <a:latin typeface="+mn-ea"/>
              <a:ea typeface="+mn-ea"/>
            </a:endParaRPr>
          </a:p>
          <a:p>
            <a:pPr marL="0" indent="0" algn="l">
              <a:defRPr/>
            </a:pPr>
            <a:endParaRPr lang="ko-KR" altLang="en-US" sz="2000">
              <a:latin typeface="+mn-ea"/>
              <a:ea typeface="+mn-ea"/>
            </a:endParaRPr>
          </a:p>
        </p:txBody>
      </p:sp>
      <p:pic>
        <p:nvPicPr>
          <p:cNvPr id="84" name="그림 83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5647434" y="2324985"/>
            <a:ext cx="2689953" cy="1989314"/>
          </a:xfrm>
          <a:prstGeom prst="rect">
            <a:avLst/>
          </a:prstGeom>
        </p:spPr>
      </p:pic>
      <p:pic>
        <p:nvPicPr>
          <p:cNvPr id="90" name="그림 89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21107204">
            <a:off x="1139654" y="1325173"/>
            <a:ext cx="2399720" cy="2812172"/>
          </a:xfrm>
          <a:prstGeom prst="rect">
            <a:avLst/>
          </a:prstGeom>
        </p:spPr>
      </p:pic>
      <p:pic>
        <p:nvPicPr>
          <p:cNvPr id="92" name="그림 91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 rot="18265178">
            <a:off x="2656543" y="3060130"/>
            <a:ext cx="2349247" cy="1139905"/>
          </a:xfrm>
          <a:prstGeom prst="rect">
            <a:avLst/>
          </a:prstGeom>
        </p:spPr>
      </p:pic>
      <p:cxnSp>
        <p:nvCxnSpPr>
          <p:cNvPr id="93" name="직선 화살표 연결선 92"/>
          <p:cNvCxnSpPr/>
          <p:nvPr/>
        </p:nvCxnSpPr>
        <p:spPr>
          <a:xfrm>
            <a:off x="2169584" y="2571750"/>
            <a:ext cx="1093610" cy="719667"/>
          </a:xfrm>
          <a:prstGeom prst="straightConnector1">
            <a:avLst/>
          </a:prstGeom>
          <a:ln>
            <a:headEnd w="med" len="med"/>
            <a:tailEnd type="arrow" w="med" len="med"/>
          </a:ln>
        </p:spPr>
        <p:style>
          <a:lnRef idx="2">
            <a:schemeClr val="accent6">
              <a:shade val="2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</p:cxnSp>
      <p:cxnSp>
        <p:nvCxnSpPr>
          <p:cNvPr id="95" name="직선 화살표 연결선 94"/>
          <p:cNvCxnSpPr/>
          <p:nvPr/>
        </p:nvCxnSpPr>
        <p:spPr>
          <a:xfrm>
            <a:off x="2526594" y="2211916"/>
            <a:ext cx="1093610" cy="719667"/>
          </a:xfrm>
          <a:prstGeom prst="straightConnector1">
            <a:avLst/>
          </a:prstGeom>
          <a:ln>
            <a:headEnd w="med" len="med"/>
            <a:tailEnd type="arrow" w="med" len="med"/>
          </a:ln>
        </p:spPr>
        <p:style>
          <a:lnRef idx="2">
            <a:schemeClr val="accent6">
              <a:shade val="2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</p:cxnSp>
      <p:cxnSp>
        <p:nvCxnSpPr>
          <p:cNvPr id="96" name="직선 화살표 연결선 95"/>
          <p:cNvCxnSpPr/>
          <p:nvPr/>
        </p:nvCxnSpPr>
        <p:spPr>
          <a:xfrm>
            <a:off x="1792816" y="2971094"/>
            <a:ext cx="1093610" cy="719667"/>
          </a:xfrm>
          <a:prstGeom prst="straightConnector1">
            <a:avLst/>
          </a:prstGeom>
          <a:ln>
            <a:headEnd w="med" len="med"/>
            <a:tailEnd type="arrow" w="med" len="med"/>
          </a:ln>
        </p:spPr>
        <p:style>
          <a:lnRef idx="2">
            <a:schemeClr val="accent6">
              <a:shade val="2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</p:cxnSp>
      <p:sp>
        <p:nvSpPr>
          <p:cNvPr id="97" name="화살표: 오른쪽 96"/>
          <p:cNvSpPr/>
          <p:nvPr/>
        </p:nvSpPr>
        <p:spPr>
          <a:xfrm>
            <a:off x="4667250" y="2801055"/>
            <a:ext cx="740833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>
            <a:solidFill>
              <a:schemeClr val="lt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98" name="직사각형 97"/>
          <p:cNvSpPr/>
          <p:nvPr/>
        </p:nvSpPr>
        <p:spPr>
          <a:xfrm>
            <a:off x="2663471" y="1516944"/>
            <a:ext cx="5101166" cy="465666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>
                <a:solidFill>
                  <a:schemeClr val="dk1"/>
                </a:solidFill>
              </a:rPr>
              <a:t>노트북 카메라를 이용해 피아노 건반 눌림을 확인하는 과정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cxnSp>
        <p:nvCxnSpPr>
          <p:cNvPr id="81" name="Google Shape;81;p16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w="med" len="med"/>
            <a:tailEnd w="med" len="med"/>
          </a:ln>
        </p:spPr>
      </p:cxnSp>
      <p:pic>
        <p:nvPicPr>
          <p:cNvPr id="82" name="Google Shape;82;p16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/>
          <p:cNvSpPr txBox="1"/>
          <p:nvPr/>
        </p:nvSpPr>
        <p:spPr>
          <a:xfrm>
            <a:off x="1408975" y="306875"/>
            <a:ext cx="4979400" cy="5275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200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2.</a:t>
            </a:r>
            <a:r>
              <a:rPr lang="ko-KR" altLang="en-US" sz="200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  프로젝트 진행 현황</a:t>
            </a:r>
          </a:p>
        </p:txBody>
      </p:sp>
      <p:sp>
        <p:nvSpPr>
          <p:cNvPr id="2" name="내용 개체 틀 2"/>
          <p:cNvSpPr txBox="1"/>
          <p:nvPr/>
        </p:nvSpPr>
        <p:spPr>
          <a:xfrm>
            <a:off x="1408975" y="845454"/>
            <a:ext cx="7342349" cy="2987295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defRPr/>
            </a:pPr>
            <a:r>
              <a:rPr lang="en-US" altLang="ko-KR" sz="1400" b="1">
                <a:latin typeface="+mn-ea"/>
                <a:ea typeface="+mn-ea"/>
              </a:rPr>
              <a:t>2.</a:t>
            </a:r>
            <a:r>
              <a:rPr lang="ko-KR" altLang="en-US" sz="1400" b="1">
                <a:latin typeface="+mn-ea"/>
                <a:ea typeface="+mn-ea"/>
              </a:rPr>
              <a:t> </a:t>
            </a:r>
            <a:r>
              <a:rPr lang="en-US" altLang="ko-KR" sz="1400" b="1">
                <a:latin typeface="+mn-ea"/>
                <a:ea typeface="+mn-ea"/>
              </a:rPr>
              <a:t>Mediapipe</a:t>
            </a:r>
            <a:r>
              <a:rPr lang="ko-KR" altLang="en-US" sz="1400" b="1">
                <a:latin typeface="+mn-ea"/>
                <a:ea typeface="+mn-ea"/>
              </a:rPr>
              <a:t>에서 제공하는 손의 </a:t>
            </a:r>
            <a:r>
              <a:rPr lang="en-US" altLang="ko-KR" sz="1400" b="1">
                <a:latin typeface="+mn-ea"/>
                <a:ea typeface="+mn-ea"/>
              </a:rPr>
              <a:t>(X,Y,Z)</a:t>
            </a:r>
            <a:r>
              <a:rPr lang="ko-KR" altLang="en-US" sz="1400" b="1">
                <a:latin typeface="+mn-ea"/>
                <a:ea typeface="+mn-ea"/>
              </a:rPr>
              <a:t> 좌표를 이용해서 피아노 건반 눌림 탐지하기 </a:t>
            </a:r>
          </a:p>
          <a:p>
            <a:pPr algn="l">
              <a:defRPr/>
            </a:pPr>
            <a:endParaRPr lang="en-US" altLang="ko-KR" sz="1400">
              <a:latin typeface="+mn-ea"/>
              <a:ea typeface="+mn-ea"/>
            </a:endParaRPr>
          </a:p>
          <a:p>
            <a:pPr algn="l">
              <a:defRPr/>
            </a:pPr>
            <a:endParaRPr lang="en-US" altLang="ko-KR" sz="1400">
              <a:latin typeface="+mn-ea"/>
              <a:ea typeface="+mn-ea"/>
            </a:endParaRPr>
          </a:p>
          <a:p>
            <a:pPr marL="0" indent="0" algn="l">
              <a:defRPr/>
            </a:pPr>
            <a:endParaRPr lang="en-US" altLang="ko-KR" sz="2000">
              <a:latin typeface="+mn-ea"/>
              <a:ea typeface="+mn-ea"/>
            </a:endParaRPr>
          </a:p>
          <a:p>
            <a:pPr algn="l">
              <a:defRPr/>
            </a:pPr>
            <a:endParaRPr lang="en-US" altLang="ko-KR" sz="2000">
              <a:latin typeface="+mn-ea"/>
              <a:ea typeface="+mn-ea"/>
            </a:endParaRPr>
          </a:p>
          <a:p>
            <a:pPr algn="l">
              <a:defRPr/>
            </a:pPr>
            <a:endParaRPr lang="en-US" altLang="ko-KR" sz="2000">
              <a:latin typeface="+mn-ea"/>
              <a:ea typeface="+mn-ea"/>
            </a:endParaRPr>
          </a:p>
          <a:p>
            <a:pPr algn="l">
              <a:defRPr/>
            </a:pPr>
            <a:endParaRPr lang="en-US" altLang="ko-KR" sz="2000">
              <a:latin typeface="+mn-ea"/>
              <a:ea typeface="+mn-ea"/>
            </a:endParaRPr>
          </a:p>
          <a:p>
            <a:pPr algn="l">
              <a:defRPr/>
            </a:pPr>
            <a:endParaRPr lang="en-US" altLang="ko-KR" sz="2000">
              <a:latin typeface="+mn-ea"/>
              <a:ea typeface="+mn-ea"/>
            </a:endParaRPr>
          </a:p>
          <a:p>
            <a:pPr algn="l">
              <a:defRPr/>
            </a:pPr>
            <a:endParaRPr lang="en-US" altLang="ko-KR" sz="2000">
              <a:latin typeface="+mn-ea"/>
              <a:ea typeface="+mn-ea"/>
            </a:endParaRPr>
          </a:p>
          <a:p>
            <a:pPr marL="0" indent="0" algn="l">
              <a:defRPr/>
            </a:pPr>
            <a:endParaRPr lang="en-US" altLang="ko-KR" sz="2000">
              <a:latin typeface="+mn-ea"/>
              <a:ea typeface="+mn-ea"/>
            </a:endParaRPr>
          </a:p>
          <a:p>
            <a:pPr algn="l">
              <a:defRPr/>
            </a:pPr>
            <a:endParaRPr lang="en-US" altLang="ko-KR" sz="2000">
              <a:latin typeface="+mn-ea"/>
              <a:ea typeface="+mn-ea"/>
            </a:endParaRPr>
          </a:p>
          <a:p>
            <a:pPr marL="0" indent="0" algn="l">
              <a:defRPr/>
            </a:pPr>
            <a:endParaRPr lang="ko-KR" altLang="en-US" sz="2000">
              <a:latin typeface="+mn-ea"/>
              <a:ea typeface="+mn-ea"/>
            </a:endParaRPr>
          </a:p>
        </p:txBody>
      </p:sp>
      <p:sp>
        <p:nvSpPr>
          <p:cNvPr id="86" name="직사각형 85"/>
          <p:cNvSpPr/>
          <p:nvPr/>
        </p:nvSpPr>
        <p:spPr>
          <a:xfrm>
            <a:off x="1718028" y="1587501"/>
            <a:ext cx="3894666" cy="479777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>
                <a:solidFill>
                  <a:schemeClr val="dk1"/>
                </a:solidFill>
              </a:rPr>
              <a:t>(1) X</a:t>
            </a:r>
            <a:r>
              <a:rPr lang="ko-KR" altLang="en-US">
                <a:solidFill>
                  <a:schemeClr val="dk1"/>
                </a:solidFill>
              </a:rPr>
              <a:t>좌표 </a:t>
            </a:r>
            <a:r>
              <a:rPr lang="en-US" altLang="ko-KR">
                <a:solidFill>
                  <a:schemeClr val="dk1"/>
                </a:solidFill>
              </a:rPr>
              <a:t>: </a:t>
            </a:r>
            <a:r>
              <a:rPr lang="ko-KR" altLang="en-US">
                <a:solidFill>
                  <a:schemeClr val="dk1"/>
                </a:solidFill>
              </a:rPr>
              <a:t>손가락이 화면 상에서 왼쪽</a:t>
            </a:r>
            <a:r>
              <a:rPr lang="en-US" altLang="ko-KR">
                <a:solidFill>
                  <a:schemeClr val="dk1"/>
                </a:solidFill>
              </a:rPr>
              <a:t>,</a:t>
            </a:r>
            <a:r>
              <a:rPr lang="ko-KR" altLang="en-US">
                <a:solidFill>
                  <a:schemeClr val="dk1"/>
                </a:solidFill>
              </a:rPr>
              <a:t> 오른쪽 중 어디에 위치하는가</a:t>
            </a:r>
            <a:r>
              <a:rPr lang="en-US" altLang="ko-KR">
                <a:solidFill>
                  <a:schemeClr val="dk1"/>
                </a:solidFill>
              </a:rPr>
              <a:t>?</a:t>
            </a:r>
          </a:p>
        </p:txBody>
      </p:sp>
      <p:sp>
        <p:nvSpPr>
          <p:cNvPr id="87" name="직사각형 86"/>
          <p:cNvSpPr/>
          <p:nvPr/>
        </p:nvSpPr>
        <p:spPr>
          <a:xfrm>
            <a:off x="1703916" y="2571750"/>
            <a:ext cx="3894666" cy="479777"/>
          </a:xfrm>
          <a:prstGeom prst="rect">
            <a:avLst/>
          </a:prstGeom>
          <a:solidFill>
            <a:srgbClr val="FFFFFF">
              <a:alpha val="100000"/>
            </a:srgbClr>
          </a:solidFill>
          <a:ln w="25400" cap="flat" cmpd="sng" algn="ctr">
            <a:solidFill>
              <a:srgbClr val="000000">
                <a:alpha val="100000"/>
              </a:srgbClr>
            </a:solidFill>
            <a:prstDash val="solid"/>
          </a:ln>
        </p:spPr>
        <p:txBody>
          <a:bodyPr anchor="ctr"/>
          <a:lstStyle/>
          <a:p>
            <a:pPr marL="0" marR="0" lvl="0" indent="0" algn="ctr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kumimoji="0" lang="en-US" altLang="ko-KR" sz="1400" b="0" i="0" u="none" strike="noStrike" kern="0" cap="none" spc="0" normalizeH="0" baseline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(2) Y</a:t>
            </a:r>
            <a:r>
              <a:rPr kumimoji="0" lang="ko-KR" altLang="en-US" sz="1400" b="0" i="0" u="none" strike="noStrike" kern="0" cap="none" spc="0" normalizeH="0" baseline="0">
                <a:solidFill>
                  <a:srgbClr val="000000"/>
                </a:solidFill>
                <a:latin typeface="Arial"/>
                <a:ea typeface="맑은 고딕"/>
                <a:cs typeface="맑은 고딕"/>
              </a:rPr>
              <a:t>좌표 </a:t>
            </a:r>
            <a:r>
              <a:rPr kumimoji="0" lang="en-US" altLang="ko-KR" sz="1400" b="0" i="0" u="none" strike="noStrike" kern="0" cap="none" spc="0" normalizeH="0" baseline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: </a:t>
            </a:r>
            <a:r>
              <a:rPr kumimoji="0" lang="ko-KR" altLang="en-US" sz="1400" b="0" i="0" u="none" strike="noStrike" kern="0" cap="none" spc="0" normalizeH="0" baseline="0">
                <a:solidFill>
                  <a:srgbClr val="000000"/>
                </a:solidFill>
                <a:latin typeface="Arial"/>
                <a:ea typeface="맑은 고딕"/>
                <a:cs typeface="맑은 고딕"/>
              </a:rPr>
              <a:t>손가락이 화면 상에서 얼마나 아래 또는 위에 위치하는가</a:t>
            </a:r>
            <a:r>
              <a:rPr kumimoji="0" lang="en-US" altLang="ko-KR" sz="1400" b="0" i="0" u="none" strike="noStrike" kern="0" cap="none" spc="0" normalizeH="0" baseline="0">
                <a:solidFill>
                  <a:srgbClr val="000000"/>
                </a:solidFill>
                <a:latin typeface="Arial"/>
                <a:ea typeface="맑은 고딕"/>
                <a:cs typeface="맑은 고딕"/>
              </a:rPr>
              <a:t>?</a:t>
            </a:r>
          </a:p>
        </p:txBody>
      </p:sp>
      <p:sp>
        <p:nvSpPr>
          <p:cNvPr id="88" name="직사각형 87"/>
          <p:cNvSpPr/>
          <p:nvPr/>
        </p:nvSpPr>
        <p:spPr>
          <a:xfrm>
            <a:off x="1694040" y="3599391"/>
            <a:ext cx="3894666" cy="479777"/>
          </a:xfrm>
          <a:prstGeom prst="rect">
            <a:avLst/>
          </a:prstGeom>
          <a:solidFill>
            <a:srgbClr val="FFFFFF">
              <a:alpha val="100000"/>
            </a:srgbClr>
          </a:solidFill>
          <a:ln w="25400" cap="flat" cmpd="sng" algn="ctr">
            <a:solidFill>
              <a:srgbClr val="000000">
                <a:alpha val="100000"/>
              </a:srgbClr>
            </a:solidFill>
            <a:prstDash val="solid"/>
          </a:ln>
        </p:spPr>
        <p:txBody>
          <a:bodyPr anchor="ctr"/>
          <a:lstStyle/>
          <a:p>
            <a:pPr marL="0" marR="0" lvl="0" indent="0" algn="ctr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kumimoji="0" lang="en-US" altLang="ko-KR" sz="1400" b="0" i="0" u="none" strike="noStrike" kern="0" cap="none" spc="0" normalizeH="0" baseline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(3) Z</a:t>
            </a:r>
            <a:r>
              <a:rPr kumimoji="0" lang="ko-KR" altLang="en-US" sz="1400" b="0" i="0" u="none" strike="noStrike" kern="0" cap="none" spc="0" normalizeH="0" baseline="0">
                <a:solidFill>
                  <a:srgbClr val="000000"/>
                </a:solidFill>
                <a:latin typeface="Arial"/>
                <a:ea typeface="맑은 고딕"/>
                <a:cs typeface="맑은 고딕"/>
              </a:rPr>
              <a:t>좌표 </a:t>
            </a:r>
            <a:r>
              <a:rPr kumimoji="0" lang="en-US" altLang="ko-KR" sz="1400" b="0" i="0" u="none" strike="noStrike" kern="0" cap="none" spc="0" normalizeH="0" baseline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:  </a:t>
            </a:r>
            <a:r>
              <a:rPr kumimoji="0" lang="ko-KR" altLang="en-US" sz="1400" b="0" i="0" u="none" strike="noStrike" kern="0" cap="none" spc="0" normalizeH="0" baseline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손가락과 카메라 간의 거리가 얼마나 가까운가</a:t>
            </a:r>
            <a:r>
              <a:rPr kumimoji="0" lang="en-US" altLang="ko-KR" sz="1400" b="0" i="0" u="none" strike="noStrike" kern="0" cap="none" spc="0" normalizeH="0" baseline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?</a:t>
            </a:r>
          </a:p>
        </p:txBody>
      </p:sp>
      <p:cxnSp>
        <p:nvCxnSpPr>
          <p:cNvPr id="91" name="직선 화살표 연결선 90"/>
          <p:cNvCxnSpPr/>
          <p:nvPr/>
        </p:nvCxnSpPr>
        <p:spPr>
          <a:xfrm>
            <a:off x="5873750" y="1806222"/>
            <a:ext cx="747889" cy="0"/>
          </a:xfrm>
          <a:prstGeom prst="straightConnector1">
            <a:avLst/>
          </a:prstGeom>
          <a:ln>
            <a:solidFill>
              <a:schemeClr val="accent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직선 화살표 연결선 91"/>
          <p:cNvCxnSpPr/>
          <p:nvPr/>
        </p:nvCxnSpPr>
        <p:spPr>
          <a:xfrm>
            <a:off x="5877983" y="2791177"/>
            <a:ext cx="747889" cy="0"/>
          </a:xfrm>
          <a:prstGeom prst="straightConnector1">
            <a:avLst/>
          </a:prstGeom>
          <a:noFill/>
          <a:ln w="9525" cap="flat" cmpd="sng" algn="ctr">
            <a:solidFill>
              <a:schemeClr val="accent2">
                <a:alpha val="100000"/>
              </a:schemeClr>
            </a:solidFill>
            <a:prstDash val="solid"/>
            <a:tailEnd type="arrow"/>
          </a:ln>
        </p:spPr>
      </p:cxnSp>
      <p:cxnSp>
        <p:nvCxnSpPr>
          <p:cNvPr id="93" name="직선 화살표 연결선 92"/>
          <p:cNvCxnSpPr/>
          <p:nvPr/>
        </p:nvCxnSpPr>
        <p:spPr>
          <a:xfrm>
            <a:off x="5889272" y="3839633"/>
            <a:ext cx="747889" cy="0"/>
          </a:xfrm>
          <a:prstGeom prst="straightConnector1">
            <a:avLst/>
          </a:prstGeom>
          <a:noFill/>
          <a:ln w="9525" cap="flat" cmpd="sng" algn="ctr">
            <a:solidFill>
              <a:schemeClr val="accent2">
                <a:alpha val="100000"/>
              </a:schemeClr>
            </a:solidFill>
            <a:prstDash val="solid"/>
            <a:tailEnd type="arrow"/>
          </a:ln>
        </p:spPr>
      </p:cxnSp>
      <p:sp>
        <p:nvSpPr>
          <p:cNvPr id="94" name="타원 93"/>
          <p:cNvSpPr/>
          <p:nvPr/>
        </p:nvSpPr>
        <p:spPr>
          <a:xfrm>
            <a:off x="6925029" y="1453444"/>
            <a:ext cx="1284110" cy="726722"/>
          </a:xfrm>
          <a:prstGeom prst="ellipse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000">
                <a:solidFill>
                  <a:schemeClr val="dk1"/>
                </a:solidFill>
              </a:rPr>
              <a:t>피아노 건반 종류 탐지</a:t>
            </a:r>
          </a:p>
        </p:txBody>
      </p:sp>
      <p:sp>
        <p:nvSpPr>
          <p:cNvPr id="95" name="타원 94"/>
          <p:cNvSpPr/>
          <p:nvPr/>
        </p:nvSpPr>
        <p:spPr>
          <a:xfrm>
            <a:off x="6913035" y="2452511"/>
            <a:ext cx="1284110" cy="726722"/>
          </a:xfrm>
          <a:prstGeom prst="ellipse">
            <a:avLst/>
          </a:prstGeom>
          <a:solidFill>
            <a:srgbClr val="FFFFFF">
              <a:alpha val="100000"/>
            </a:srgbClr>
          </a:solidFill>
          <a:ln w="25400" cap="flat" cmpd="sng" algn="ctr">
            <a:solidFill>
              <a:srgbClr val="1F4075">
                <a:alpha val="100000"/>
              </a:srgbClr>
            </a:solidFill>
            <a:prstDash val="solid"/>
          </a:ln>
        </p:spPr>
        <p:txBody>
          <a:bodyPr anchor="ctr"/>
          <a:lstStyle/>
          <a:p>
            <a:pPr marL="0" marR="0" lvl="0" indent="0" algn="ctr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kumimoji="0" lang="ko-KR" altLang="en-US" sz="1000" b="0" i="0" u="none" strike="noStrike" kern="0" cap="none" spc="0" normalizeH="0" baseline="0">
                <a:solidFill>
                  <a:srgbClr val="000000"/>
                </a:solidFill>
                <a:latin typeface="Arial"/>
                <a:ea typeface="맑은 고딕"/>
                <a:cs typeface="맑은 고딕"/>
              </a:rPr>
              <a:t>피아노 건반의 눌림 탐지</a:t>
            </a:r>
          </a:p>
        </p:txBody>
      </p:sp>
      <p:sp>
        <p:nvSpPr>
          <p:cNvPr id="96" name="타원 95"/>
          <p:cNvSpPr/>
          <p:nvPr/>
        </p:nvSpPr>
        <p:spPr>
          <a:xfrm>
            <a:off x="6898571" y="3486855"/>
            <a:ext cx="1284110" cy="726722"/>
          </a:xfrm>
          <a:prstGeom prst="ellipse">
            <a:avLst/>
          </a:prstGeom>
          <a:solidFill>
            <a:srgbClr val="FFFFFF">
              <a:alpha val="100000"/>
            </a:srgbClr>
          </a:solidFill>
          <a:ln w="25400" cap="flat" cmpd="sng" algn="ctr">
            <a:solidFill>
              <a:srgbClr val="1F4075">
                <a:alpha val="100000"/>
              </a:srgbClr>
            </a:solidFill>
            <a:prstDash val="solid"/>
          </a:ln>
        </p:spPr>
        <p:txBody>
          <a:bodyPr anchor="ctr"/>
          <a:lstStyle/>
          <a:p>
            <a:pPr marL="0" marR="0" lvl="0" indent="0" algn="ctr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kumimoji="0" lang="ko-KR" altLang="en-US" sz="1000" b="0" i="0" u="none" strike="noStrike" kern="0" cap="none" spc="0" normalizeH="0" baseline="0">
                <a:solidFill>
                  <a:srgbClr val="000000"/>
                </a:solidFill>
                <a:latin typeface="Arial"/>
                <a:ea typeface="맑은 고딕"/>
                <a:cs typeface="맑은 고딕"/>
              </a:rPr>
              <a:t>피아노 건반의 눌림 정도 </a:t>
            </a:r>
            <a:r>
              <a:rPr kumimoji="0" lang="en-US" altLang="ko-KR" sz="1000" b="0" i="0" u="none" strike="noStrike" kern="0" cap="none" spc="0" normalizeH="0" baseline="0">
                <a:solidFill>
                  <a:srgbClr val="000000"/>
                </a:solidFill>
                <a:latin typeface="Arial"/>
                <a:ea typeface="맑은 고딕"/>
                <a:cs typeface="맑은 고딕"/>
              </a:rPr>
              <a:t>(</a:t>
            </a:r>
            <a:r>
              <a:rPr kumimoji="0" lang="ko-KR" altLang="en-US" sz="1000" b="0" i="0" u="none" strike="noStrike" kern="0" cap="none" spc="0" normalizeH="0" baseline="0">
                <a:solidFill>
                  <a:srgbClr val="000000"/>
                </a:solidFill>
                <a:latin typeface="Arial"/>
                <a:ea typeface="맑은 고딕"/>
                <a:cs typeface="맑은 고딕"/>
              </a:rPr>
              <a:t>깊이</a:t>
            </a:r>
            <a:r>
              <a:rPr kumimoji="0" lang="en-US" altLang="ko-KR" sz="1000" b="0" i="0" u="none" strike="noStrike" kern="0" cap="none" spc="0" normalizeH="0" baseline="0">
                <a:solidFill>
                  <a:srgbClr val="000000"/>
                </a:solidFill>
                <a:latin typeface="Arial"/>
                <a:ea typeface="맑은 고딕"/>
                <a:cs typeface="맑은 고딕"/>
              </a:rPr>
              <a:t>)</a:t>
            </a:r>
            <a:r>
              <a:rPr kumimoji="0" lang="ko-KR" altLang="en-US" sz="1000" b="0" i="0" u="none" strike="noStrike" kern="0" cap="none" spc="0" normalizeH="0" baseline="0">
                <a:solidFill>
                  <a:srgbClr val="000000"/>
                </a:solidFill>
                <a:latin typeface="Arial"/>
                <a:ea typeface="맑은 고딕"/>
                <a:cs typeface="맑은 고딕"/>
              </a:rPr>
              <a:t> 탐지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cxnSp>
        <p:nvCxnSpPr>
          <p:cNvPr id="81" name="Google Shape;81;p16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w="med" len="med"/>
            <a:tailEnd w="med" len="med"/>
          </a:ln>
        </p:spPr>
      </p:cxnSp>
      <p:pic>
        <p:nvPicPr>
          <p:cNvPr id="82" name="Google Shape;82;p16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/>
          <p:cNvSpPr txBox="1"/>
          <p:nvPr/>
        </p:nvSpPr>
        <p:spPr>
          <a:xfrm>
            <a:off x="1408975" y="306875"/>
            <a:ext cx="4979400" cy="5275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200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2.</a:t>
            </a:r>
            <a:r>
              <a:rPr lang="ko-KR" altLang="en-US" sz="200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  프로젝트 진행 현황</a:t>
            </a:r>
          </a:p>
        </p:txBody>
      </p:sp>
      <p:sp>
        <p:nvSpPr>
          <p:cNvPr id="2" name="내용 개체 틀 2"/>
          <p:cNvSpPr txBox="1"/>
          <p:nvPr/>
        </p:nvSpPr>
        <p:spPr>
          <a:xfrm>
            <a:off x="1380752" y="739620"/>
            <a:ext cx="6164071" cy="2987295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defRPr/>
            </a:pPr>
            <a:r>
              <a:rPr lang="en-US" altLang="ko-KR" sz="1400" b="1">
                <a:latin typeface="+mn-ea"/>
                <a:ea typeface="+mn-ea"/>
              </a:rPr>
              <a:t>3.</a:t>
            </a:r>
            <a:r>
              <a:rPr lang="ko-KR" altLang="en-US" sz="1400" b="1">
                <a:latin typeface="+mn-ea"/>
                <a:ea typeface="+mn-ea"/>
              </a:rPr>
              <a:t> </a:t>
            </a:r>
            <a:r>
              <a:rPr lang="en-US" altLang="ko-KR" sz="1400" b="1">
                <a:latin typeface="+mn-ea"/>
                <a:ea typeface="+mn-ea"/>
              </a:rPr>
              <a:t>Mediapipe</a:t>
            </a:r>
            <a:r>
              <a:rPr lang="ko-KR" altLang="en-US" sz="1400" b="1">
                <a:latin typeface="+mn-ea"/>
                <a:ea typeface="+mn-ea"/>
              </a:rPr>
              <a:t>의 손가락 끝부분 좌표를 사용해서 훈련 </a:t>
            </a:r>
            <a:r>
              <a:rPr lang="en-US" altLang="ko-KR" sz="1400" b="1">
                <a:latin typeface="+mn-ea"/>
                <a:ea typeface="+mn-ea"/>
              </a:rPr>
              <a:t>dataset</a:t>
            </a:r>
            <a:r>
              <a:rPr lang="ko-KR" altLang="en-US" sz="1400" b="1">
                <a:latin typeface="+mn-ea"/>
                <a:ea typeface="+mn-ea"/>
              </a:rPr>
              <a:t> 만들기</a:t>
            </a:r>
          </a:p>
          <a:p>
            <a:pPr algn="l">
              <a:defRPr/>
            </a:pPr>
            <a:r>
              <a:rPr lang="en-US" altLang="ko-KR" sz="1400" b="1">
                <a:latin typeface="+mn-ea"/>
                <a:ea typeface="+mn-ea"/>
              </a:rPr>
              <a:t>(</a:t>
            </a:r>
            <a:r>
              <a:rPr lang="ko-KR" altLang="en-US" sz="1400" b="1">
                <a:latin typeface="+mn-ea"/>
                <a:ea typeface="+mn-ea"/>
              </a:rPr>
              <a:t>아래 사진 </a:t>
            </a:r>
            <a:r>
              <a:rPr lang="en-US" altLang="ko-KR" sz="1400" b="1">
                <a:latin typeface="+mn-ea"/>
                <a:ea typeface="+mn-ea"/>
              </a:rPr>
              <a:t>-</a:t>
            </a:r>
            <a:r>
              <a:rPr lang="ko-KR" altLang="en-US" sz="1400" b="1">
                <a:latin typeface="+mn-ea"/>
                <a:ea typeface="+mn-ea"/>
              </a:rPr>
              <a:t> 왼손 검지 손가락 끝부분을 탐지한 </a:t>
            </a:r>
            <a:r>
              <a:rPr lang="en-US" altLang="ko-KR" sz="1400" b="1">
                <a:latin typeface="+mn-ea"/>
                <a:ea typeface="+mn-ea"/>
              </a:rPr>
              <a:t>CSV</a:t>
            </a:r>
            <a:r>
              <a:rPr lang="ko-KR" altLang="en-US" sz="1400" b="1">
                <a:latin typeface="+mn-ea"/>
                <a:ea typeface="+mn-ea"/>
              </a:rPr>
              <a:t> 파일</a:t>
            </a:r>
            <a:r>
              <a:rPr lang="en-US" altLang="ko-KR" sz="1400" b="1">
                <a:latin typeface="+mn-ea"/>
                <a:ea typeface="+mn-ea"/>
              </a:rPr>
              <a:t>)</a:t>
            </a:r>
          </a:p>
          <a:p>
            <a:pPr algn="l">
              <a:defRPr/>
            </a:pPr>
            <a:endParaRPr lang="en-US" altLang="ko-KR" sz="1400">
              <a:latin typeface="+mn-ea"/>
              <a:ea typeface="+mn-ea"/>
            </a:endParaRPr>
          </a:p>
          <a:p>
            <a:pPr algn="l">
              <a:defRPr/>
            </a:pPr>
            <a:endParaRPr lang="en-US" altLang="ko-KR" sz="1400">
              <a:latin typeface="+mn-ea"/>
              <a:ea typeface="+mn-ea"/>
            </a:endParaRPr>
          </a:p>
          <a:p>
            <a:pPr algn="l">
              <a:defRPr/>
            </a:pPr>
            <a:endParaRPr lang="en-US" altLang="ko-KR" sz="1200">
              <a:latin typeface="+mn-ea"/>
              <a:ea typeface="+mn-ea"/>
            </a:endParaRPr>
          </a:p>
          <a:p>
            <a:pPr marL="0" indent="0" algn="l">
              <a:defRPr/>
            </a:pPr>
            <a:endParaRPr lang="en-US" altLang="ko-KR" sz="2000">
              <a:latin typeface="+mn-ea"/>
              <a:ea typeface="+mn-ea"/>
            </a:endParaRPr>
          </a:p>
          <a:p>
            <a:pPr algn="l">
              <a:defRPr/>
            </a:pPr>
            <a:endParaRPr lang="en-US" altLang="ko-KR" sz="2000">
              <a:latin typeface="+mn-ea"/>
              <a:ea typeface="+mn-ea"/>
            </a:endParaRPr>
          </a:p>
          <a:p>
            <a:pPr algn="l">
              <a:defRPr/>
            </a:pPr>
            <a:endParaRPr lang="en-US" altLang="ko-KR" sz="2000">
              <a:latin typeface="+mn-ea"/>
              <a:ea typeface="+mn-ea"/>
            </a:endParaRPr>
          </a:p>
          <a:p>
            <a:pPr algn="l">
              <a:defRPr/>
            </a:pPr>
            <a:endParaRPr lang="en-US" altLang="ko-KR" sz="2000">
              <a:latin typeface="+mn-ea"/>
              <a:ea typeface="+mn-ea"/>
            </a:endParaRPr>
          </a:p>
          <a:p>
            <a:pPr algn="l">
              <a:defRPr/>
            </a:pPr>
            <a:endParaRPr lang="en-US" altLang="ko-KR" sz="2000">
              <a:latin typeface="+mn-ea"/>
              <a:ea typeface="+mn-ea"/>
            </a:endParaRPr>
          </a:p>
          <a:p>
            <a:pPr algn="l">
              <a:defRPr/>
            </a:pPr>
            <a:endParaRPr lang="en-US" altLang="ko-KR" sz="2000">
              <a:latin typeface="+mn-ea"/>
              <a:ea typeface="+mn-ea"/>
            </a:endParaRPr>
          </a:p>
          <a:p>
            <a:pPr marL="0" indent="0" algn="l">
              <a:defRPr/>
            </a:pPr>
            <a:endParaRPr lang="en-US" altLang="ko-KR" sz="2000">
              <a:latin typeface="+mn-ea"/>
              <a:ea typeface="+mn-ea"/>
            </a:endParaRPr>
          </a:p>
          <a:p>
            <a:pPr algn="l">
              <a:defRPr/>
            </a:pPr>
            <a:endParaRPr lang="en-US" altLang="ko-KR" sz="2000">
              <a:latin typeface="+mn-ea"/>
              <a:ea typeface="+mn-ea"/>
            </a:endParaRPr>
          </a:p>
          <a:p>
            <a:pPr marL="0" indent="0" algn="l">
              <a:defRPr/>
            </a:pPr>
            <a:endParaRPr lang="ko-KR" altLang="en-US" sz="2000">
              <a:latin typeface="+mn-ea"/>
              <a:ea typeface="+mn-ea"/>
            </a:endParaRPr>
          </a:p>
        </p:txBody>
      </p:sp>
      <p:pic>
        <p:nvPicPr>
          <p:cNvPr id="84" name="그림 83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547690" y="1310922"/>
            <a:ext cx="5205480" cy="2807662"/>
          </a:xfrm>
          <a:prstGeom prst="rect">
            <a:avLst/>
          </a:prstGeom>
        </p:spPr>
      </p:pic>
      <p:sp>
        <p:nvSpPr>
          <p:cNvPr id="85" name="직사각형 84"/>
          <p:cNvSpPr/>
          <p:nvPr/>
        </p:nvSpPr>
        <p:spPr>
          <a:xfrm>
            <a:off x="1580444" y="4272844"/>
            <a:ext cx="7027333" cy="698500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ko-KR" altLang="en-US" sz="1100">
                <a:solidFill>
                  <a:schemeClr val="dk1"/>
                </a:solidFill>
              </a:rPr>
              <a:t>파란색 부분 </a:t>
            </a:r>
            <a:r>
              <a:rPr lang="en-US" altLang="ko-KR" sz="1100">
                <a:solidFill>
                  <a:schemeClr val="dk1"/>
                </a:solidFill>
              </a:rPr>
              <a:t>: </a:t>
            </a:r>
            <a:r>
              <a:rPr lang="ko-KR" altLang="en-US" sz="1100">
                <a:solidFill>
                  <a:schemeClr val="dk1"/>
                </a:solidFill>
              </a:rPr>
              <a:t>손가락의 </a:t>
            </a:r>
            <a:r>
              <a:rPr lang="en-US" altLang="ko-KR" sz="1100">
                <a:solidFill>
                  <a:schemeClr val="dk1"/>
                </a:solidFill>
              </a:rPr>
              <a:t>X</a:t>
            </a:r>
            <a:r>
              <a:rPr lang="ko-KR" altLang="en-US" sz="1100">
                <a:solidFill>
                  <a:schemeClr val="dk1"/>
                </a:solidFill>
              </a:rPr>
              <a:t>좌표</a:t>
            </a:r>
          </a:p>
          <a:p>
            <a:pPr>
              <a:defRPr/>
            </a:pPr>
            <a:r>
              <a:rPr lang="ko-KR" altLang="en-US" sz="1100">
                <a:solidFill>
                  <a:schemeClr val="dk1"/>
                </a:solidFill>
              </a:rPr>
              <a:t>노란색 부분 </a:t>
            </a:r>
            <a:r>
              <a:rPr lang="en-US" altLang="ko-KR" sz="1100">
                <a:solidFill>
                  <a:schemeClr val="dk1"/>
                </a:solidFill>
              </a:rPr>
              <a:t>: </a:t>
            </a:r>
            <a:r>
              <a:rPr lang="ko-KR" altLang="en-US" sz="1100">
                <a:solidFill>
                  <a:schemeClr val="dk1"/>
                </a:solidFill>
              </a:rPr>
              <a:t>손가락의 </a:t>
            </a:r>
            <a:r>
              <a:rPr lang="en-US" altLang="ko-KR" sz="1100">
                <a:solidFill>
                  <a:schemeClr val="dk1"/>
                </a:solidFill>
              </a:rPr>
              <a:t>Y</a:t>
            </a:r>
            <a:r>
              <a:rPr lang="ko-KR" altLang="en-US" sz="1100">
                <a:solidFill>
                  <a:schemeClr val="dk1"/>
                </a:solidFill>
              </a:rPr>
              <a:t>좌표</a:t>
            </a:r>
          </a:p>
          <a:p>
            <a:pPr>
              <a:defRPr/>
            </a:pPr>
            <a:r>
              <a:rPr lang="ko-KR" altLang="en-US" sz="1100">
                <a:solidFill>
                  <a:schemeClr val="dk1"/>
                </a:solidFill>
              </a:rPr>
              <a:t>초록색 부분 </a:t>
            </a:r>
            <a:r>
              <a:rPr lang="en-US" altLang="ko-KR" sz="1100">
                <a:solidFill>
                  <a:schemeClr val="dk1"/>
                </a:solidFill>
              </a:rPr>
              <a:t>:</a:t>
            </a:r>
            <a:r>
              <a:rPr lang="ko-KR" altLang="en-US" sz="1100">
                <a:solidFill>
                  <a:schemeClr val="dk1"/>
                </a:solidFill>
              </a:rPr>
              <a:t> 손가락의 </a:t>
            </a:r>
            <a:r>
              <a:rPr lang="en-US" altLang="ko-KR" sz="1100">
                <a:solidFill>
                  <a:schemeClr val="dk1"/>
                </a:solidFill>
              </a:rPr>
              <a:t>Z</a:t>
            </a:r>
            <a:r>
              <a:rPr lang="ko-KR" altLang="en-US" sz="1100">
                <a:solidFill>
                  <a:schemeClr val="dk1"/>
                </a:solidFill>
              </a:rPr>
              <a:t>좌표</a:t>
            </a:r>
          </a:p>
          <a:p>
            <a:pPr>
              <a:defRPr/>
            </a:pPr>
            <a:r>
              <a:rPr lang="en-US" altLang="ko-KR" sz="1100">
                <a:solidFill>
                  <a:schemeClr val="dk1"/>
                </a:solidFill>
              </a:rPr>
              <a:t>Pressed_key : -1</a:t>
            </a:r>
            <a:r>
              <a:rPr lang="ko-KR" altLang="en-US" sz="1100">
                <a:solidFill>
                  <a:schemeClr val="dk1"/>
                </a:solidFill>
              </a:rPr>
              <a:t>인경우에는 안 눌림</a:t>
            </a:r>
            <a:r>
              <a:rPr lang="en-US" altLang="ko-KR" sz="1100">
                <a:solidFill>
                  <a:schemeClr val="dk1"/>
                </a:solidFill>
              </a:rPr>
              <a:t>,</a:t>
            </a:r>
            <a:r>
              <a:rPr lang="ko-KR" altLang="en-US" sz="1100">
                <a:solidFill>
                  <a:schemeClr val="dk1"/>
                </a:solidFill>
              </a:rPr>
              <a:t> 이 외의</a:t>
            </a:r>
            <a:r>
              <a:rPr lang="en-US" altLang="ko-KR" sz="1100">
                <a:solidFill>
                  <a:schemeClr val="dk1"/>
                </a:solidFill>
              </a:rPr>
              <a:t>(W3)</a:t>
            </a:r>
            <a:r>
              <a:rPr lang="ko-KR" altLang="en-US" sz="1100">
                <a:solidFill>
                  <a:schemeClr val="dk1"/>
                </a:solidFill>
              </a:rPr>
              <a:t> 경우에는 특정 건반이 눌림</a:t>
            </a:r>
            <a:r>
              <a:rPr lang="ko-KR" altLang="en-US">
                <a:solidFill>
                  <a:schemeClr val="dk1"/>
                </a:solidFill>
              </a:rPr>
              <a:t>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cxnSp>
        <p:nvCxnSpPr>
          <p:cNvPr id="81" name="Google Shape;81;p16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w="med" len="med"/>
            <a:tailEnd w="med" len="med"/>
          </a:ln>
        </p:spPr>
      </p:cxnSp>
      <p:pic>
        <p:nvPicPr>
          <p:cNvPr id="82" name="Google Shape;82;p16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/>
          <p:cNvSpPr txBox="1"/>
          <p:nvPr/>
        </p:nvSpPr>
        <p:spPr>
          <a:xfrm>
            <a:off x="1408975" y="306875"/>
            <a:ext cx="4979400" cy="5275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200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3.</a:t>
            </a:r>
            <a:r>
              <a:rPr lang="ko-KR" altLang="en-US" sz="200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 앞으로의 계획</a:t>
            </a:r>
          </a:p>
        </p:txBody>
      </p:sp>
      <p:sp>
        <p:nvSpPr>
          <p:cNvPr id="2" name="내용 개체 틀 2"/>
          <p:cNvSpPr txBox="1"/>
          <p:nvPr/>
        </p:nvSpPr>
        <p:spPr>
          <a:xfrm>
            <a:off x="1408975" y="845454"/>
            <a:ext cx="7391738" cy="440239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defRPr/>
            </a:pPr>
            <a:r>
              <a:rPr lang="en-US" altLang="ko-KR" sz="1400" b="1" dirty="0">
                <a:latin typeface="+mn-ea"/>
                <a:ea typeface="+mn-ea"/>
              </a:rPr>
              <a:t>1.</a:t>
            </a:r>
            <a:r>
              <a:rPr lang="ko-KR" altLang="en-US" sz="1400" b="1" dirty="0">
                <a:latin typeface="+mn-ea"/>
                <a:ea typeface="+mn-ea"/>
              </a:rPr>
              <a:t>  주어진 데이터를 바탕으로 피아노 건반 눌림 탐지 모델 학습</a:t>
            </a:r>
          </a:p>
          <a:p>
            <a:pPr algn="l">
              <a:defRPr/>
            </a:pPr>
            <a:r>
              <a:rPr lang="en-US" altLang="ko-KR" sz="1400" b="1" dirty="0">
                <a:latin typeface="+mn-ea"/>
                <a:ea typeface="+mn-ea"/>
              </a:rPr>
              <a:t>*</a:t>
            </a:r>
            <a:r>
              <a:rPr lang="ko-KR" altLang="en-US" sz="1400" b="1" dirty="0">
                <a:latin typeface="+mn-ea"/>
                <a:ea typeface="+mn-ea"/>
              </a:rPr>
              <a:t> 학습 방법 </a:t>
            </a:r>
            <a:r>
              <a:rPr lang="en-US" altLang="ko-KR" sz="1400" b="1" dirty="0">
                <a:latin typeface="+mn-ea"/>
                <a:ea typeface="+mn-ea"/>
              </a:rPr>
              <a:t>:</a:t>
            </a:r>
            <a:r>
              <a:rPr lang="ko-KR" altLang="en-US" sz="1400" b="1" dirty="0">
                <a:latin typeface="+mn-ea"/>
                <a:ea typeface="+mn-ea"/>
              </a:rPr>
              <a:t> </a:t>
            </a:r>
            <a:r>
              <a:rPr lang="en-US" altLang="ko-KR" sz="1400" b="1" dirty="0">
                <a:latin typeface="+mn-ea"/>
                <a:ea typeface="+mn-ea"/>
              </a:rPr>
              <a:t>MLP</a:t>
            </a:r>
          </a:p>
          <a:p>
            <a:pPr algn="l">
              <a:defRPr/>
            </a:pPr>
            <a:endParaRPr lang="en-US" altLang="ko-KR" sz="1400" b="1" dirty="0">
              <a:latin typeface="+mn-ea"/>
              <a:ea typeface="+mn-ea"/>
            </a:endParaRPr>
          </a:p>
          <a:p>
            <a:pPr algn="l">
              <a:defRPr/>
            </a:pPr>
            <a:r>
              <a:rPr lang="en-US" altLang="ko-KR" sz="1400" b="1" dirty="0">
                <a:latin typeface="+mn-ea"/>
                <a:ea typeface="+mn-ea"/>
              </a:rPr>
              <a:t>2.</a:t>
            </a:r>
            <a:r>
              <a:rPr lang="ko-KR" altLang="en-US" sz="1400" b="1" dirty="0">
                <a:latin typeface="+mn-ea"/>
                <a:ea typeface="+mn-ea"/>
              </a:rPr>
              <a:t> 단순 피아노 건반 눌림 예측에 나아가 시계열 패턴 </a:t>
            </a:r>
            <a:r>
              <a:rPr lang="en-US" altLang="ko-KR" sz="1400" b="1" dirty="0">
                <a:latin typeface="+mn-ea"/>
                <a:ea typeface="+mn-ea"/>
              </a:rPr>
              <a:t>(</a:t>
            </a:r>
            <a:r>
              <a:rPr lang="ko-KR" altLang="en-US" sz="1400" b="1" dirty="0">
                <a:latin typeface="+mn-ea"/>
                <a:ea typeface="+mn-ea"/>
              </a:rPr>
              <a:t>연속적인 움직임</a:t>
            </a:r>
            <a:r>
              <a:rPr lang="en-US" altLang="ko-KR" sz="1400" b="1" dirty="0">
                <a:latin typeface="+mn-ea"/>
                <a:ea typeface="+mn-ea"/>
              </a:rPr>
              <a:t>)</a:t>
            </a:r>
            <a:r>
              <a:rPr lang="ko-KR" altLang="en-US" sz="1400" b="1" dirty="0">
                <a:latin typeface="+mn-ea"/>
                <a:ea typeface="+mn-ea"/>
              </a:rPr>
              <a:t>을 파악하는 모델</a:t>
            </a:r>
          </a:p>
          <a:p>
            <a:pPr algn="l">
              <a:defRPr/>
            </a:pPr>
            <a:r>
              <a:rPr lang="ko-KR" altLang="en-US" sz="1400" b="1" dirty="0">
                <a:latin typeface="+mn-ea"/>
                <a:ea typeface="+mn-ea"/>
              </a:rPr>
              <a:t>학습</a:t>
            </a:r>
          </a:p>
          <a:p>
            <a:pPr algn="l">
              <a:defRPr/>
            </a:pPr>
            <a:r>
              <a:rPr lang="en-US" altLang="ko-KR" sz="1400" b="1" dirty="0">
                <a:latin typeface="+mn-ea"/>
                <a:ea typeface="+mn-ea"/>
              </a:rPr>
              <a:t>*</a:t>
            </a:r>
            <a:r>
              <a:rPr lang="ko-KR" altLang="en-US" sz="1400" b="1" dirty="0">
                <a:latin typeface="+mn-ea"/>
                <a:ea typeface="+mn-ea"/>
              </a:rPr>
              <a:t> 학습 방법 </a:t>
            </a:r>
            <a:r>
              <a:rPr lang="en-US" altLang="ko-KR" sz="1400" b="1" dirty="0">
                <a:latin typeface="+mn-ea"/>
                <a:ea typeface="+mn-ea"/>
              </a:rPr>
              <a:t>:</a:t>
            </a:r>
            <a:r>
              <a:rPr lang="ko-KR" altLang="en-US" sz="1400" b="1" dirty="0">
                <a:latin typeface="+mn-ea"/>
                <a:ea typeface="+mn-ea"/>
              </a:rPr>
              <a:t> </a:t>
            </a:r>
            <a:r>
              <a:rPr lang="en-US" altLang="ko-KR" sz="1400" b="1" dirty="0">
                <a:latin typeface="+mn-ea"/>
                <a:ea typeface="+mn-ea"/>
              </a:rPr>
              <a:t>LSTM</a:t>
            </a:r>
          </a:p>
          <a:p>
            <a:pPr algn="l">
              <a:defRPr/>
            </a:pPr>
            <a:endParaRPr lang="en-US" altLang="ko-KR" sz="1400" b="1" dirty="0">
              <a:latin typeface="+mn-ea"/>
              <a:ea typeface="+mn-ea"/>
            </a:endParaRPr>
          </a:p>
          <a:p>
            <a:pPr algn="l">
              <a:defRPr/>
            </a:pPr>
            <a:r>
              <a:rPr lang="en-US" altLang="ko-KR" sz="1400" b="1" dirty="0">
                <a:latin typeface="+mn-ea"/>
                <a:ea typeface="+mn-ea"/>
              </a:rPr>
              <a:t>3. </a:t>
            </a:r>
            <a:r>
              <a:rPr lang="ko-KR" altLang="en-US" sz="1400" b="1" dirty="0">
                <a:latin typeface="+mn-ea"/>
                <a:ea typeface="+mn-ea"/>
              </a:rPr>
              <a:t>학습된 모델 </a:t>
            </a:r>
            <a:r>
              <a:rPr lang="en-US" altLang="ko-KR" sz="1400" b="1" dirty="0">
                <a:latin typeface="+mn-ea"/>
                <a:ea typeface="+mn-ea"/>
              </a:rPr>
              <a:t>+</a:t>
            </a:r>
            <a:r>
              <a:rPr lang="ko-KR" altLang="en-US" sz="1400" b="1" dirty="0">
                <a:latin typeface="+mn-ea"/>
                <a:ea typeface="+mn-ea"/>
              </a:rPr>
              <a:t> 피아노 건반 음 소리를 추가해서 실제 간단한 연주를 구현해보기</a:t>
            </a:r>
          </a:p>
          <a:p>
            <a:pPr algn="l">
              <a:defRPr/>
            </a:pPr>
            <a:endParaRPr lang="ko-KR" altLang="en-US" sz="1400" b="1" dirty="0">
              <a:latin typeface="+mn-ea"/>
              <a:ea typeface="+mn-ea"/>
            </a:endParaRPr>
          </a:p>
          <a:p>
            <a:pPr algn="l">
              <a:defRPr/>
            </a:pPr>
            <a:r>
              <a:rPr lang="en-US" altLang="ko-KR" sz="1400" b="1" dirty="0">
                <a:latin typeface="+mn-ea"/>
                <a:ea typeface="+mn-ea"/>
              </a:rPr>
              <a:t>4.</a:t>
            </a:r>
            <a:r>
              <a:rPr lang="ko-KR" altLang="en-US" sz="1400" b="1" dirty="0">
                <a:latin typeface="+mn-ea"/>
                <a:ea typeface="+mn-ea"/>
              </a:rPr>
              <a:t> 키보드를 누르는 행동과 실제 소리가 나오기까지의 </a:t>
            </a:r>
            <a:r>
              <a:rPr lang="en-US" altLang="ko-KR" sz="1400" b="1" dirty="0">
                <a:latin typeface="+mn-ea"/>
                <a:ea typeface="+mn-ea"/>
              </a:rPr>
              <a:t>latency</a:t>
            </a:r>
            <a:r>
              <a:rPr lang="ko-KR" altLang="en-US" sz="1400" b="1" dirty="0">
                <a:latin typeface="+mn-ea"/>
                <a:ea typeface="+mn-ea"/>
              </a:rPr>
              <a:t>를 줄이기</a:t>
            </a:r>
          </a:p>
          <a:p>
            <a:pPr algn="l">
              <a:defRPr/>
            </a:pPr>
            <a:r>
              <a:rPr lang="en-US" altLang="ko-KR" sz="1400" b="1" dirty="0">
                <a:latin typeface="+mn-ea"/>
                <a:ea typeface="+mn-ea"/>
              </a:rPr>
              <a:t>*</a:t>
            </a:r>
            <a:r>
              <a:rPr lang="ko-KR" altLang="en-US" sz="1400" b="1" dirty="0">
                <a:latin typeface="+mn-ea"/>
                <a:ea typeface="+mn-ea"/>
              </a:rPr>
              <a:t> </a:t>
            </a:r>
            <a:r>
              <a:rPr lang="en-US" altLang="ko-KR" sz="1400" b="1" dirty="0">
                <a:latin typeface="+mn-ea"/>
                <a:ea typeface="+mn-ea"/>
              </a:rPr>
              <a:t>ex) LSTM</a:t>
            </a:r>
            <a:r>
              <a:rPr lang="ko-KR" altLang="en-US" sz="1400" b="1" dirty="0">
                <a:latin typeface="+mn-ea"/>
                <a:ea typeface="+mn-ea"/>
              </a:rPr>
              <a:t>의 시퀀스를 짧은 단위로 끊기</a:t>
            </a:r>
          </a:p>
          <a:p>
            <a:pPr algn="l">
              <a:defRPr/>
            </a:pPr>
            <a:endParaRPr lang="ko-KR" altLang="en-US" sz="1400" b="1" dirty="0">
              <a:latin typeface="+mn-ea"/>
              <a:ea typeface="+mn-ea"/>
            </a:endParaRPr>
          </a:p>
          <a:p>
            <a:pPr algn="l">
              <a:defRPr/>
            </a:pPr>
            <a:endParaRPr lang="ko-KR" altLang="en-US" sz="1400" b="1" dirty="0">
              <a:latin typeface="+mn-ea"/>
              <a:ea typeface="+mn-ea"/>
            </a:endParaRPr>
          </a:p>
          <a:p>
            <a:pPr algn="l">
              <a:defRPr/>
            </a:pPr>
            <a:endParaRPr lang="en-US" altLang="ko-KR" sz="1400" b="1" dirty="0">
              <a:latin typeface="+mn-ea"/>
              <a:ea typeface="+mn-ea"/>
            </a:endParaRPr>
          </a:p>
          <a:p>
            <a:pPr algn="l">
              <a:defRPr/>
            </a:pPr>
            <a:endParaRPr lang="ko-KR" altLang="en-US" sz="1400" b="1" dirty="0">
              <a:latin typeface="+mn-ea"/>
              <a:ea typeface="+mn-ea"/>
            </a:endParaRPr>
          </a:p>
          <a:p>
            <a:pPr algn="l">
              <a:defRPr/>
            </a:pPr>
            <a:endParaRPr lang="ko-KR" altLang="en-US" sz="1400" b="1" dirty="0">
              <a:latin typeface="+mn-ea"/>
              <a:ea typeface="+mn-ea"/>
            </a:endParaRPr>
          </a:p>
          <a:p>
            <a:pPr algn="l">
              <a:defRPr/>
            </a:pPr>
            <a:endParaRPr lang="ko-KR" altLang="en-US" sz="1400" b="1" dirty="0">
              <a:latin typeface="+mn-ea"/>
              <a:ea typeface="+mn-ea"/>
            </a:endParaRPr>
          </a:p>
          <a:p>
            <a:pPr algn="l">
              <a:defRPr/>
            </a:pPr>
            <a:endParaRPr lang="en-US" altLang="ko-KR" sz="1400" dirty="0">
              <a:latin typeface="+mn-ea"/>
              <a:ea typeface="+mn-ea"/>
            </a:endParaRPr>
          </a:p>
          <a:p>
            <a:pPr algn="l">
              <a:defRPr/>
            </a:pPr>
            <a:endParaRPr lang="en-US" altLang="ko-KR" sz="1400" dirty="0">
              <a:latin typeface="+mn-ea"/>
              <a:ea typeface="+mn-ea"/>
            </a:endParaRPr>
          </a:p>
          <a:p>
            <a:pPr algn="l">
              <a:defRPr/>
            </a:pPr>
            <a:endParaRPr lang="en-US" altLang="ko-KR" sz="1200" dirty="0">
              <a:latin typeface="+mn-ea"/>
              <a:ea typeface="+mn-ea"/>
            </a:endParaRPr>
          </a:p>
          <a:p>
            <a:pPr marL="0" indent="0" algn="l">
              <a:defRPr/>
            </a:pPr>
            <a:endParaRPr lang="en-US" altLang="ko-KR" sz="2000" dirty="0">
              <a:latin typeface="+mn-ea"/>
              <a:ea typeface="+mn-ea"/>
            </a:endParaRPr>
          </a:p>
          <a:p>
            <a:pPr algn="l">
              <a:defRPr/>
            </a:pPr>
            <a:endParaRPr lang="en-US" altLang="ko-KR" sz="2000" dirty="0">
              <a:latin typeface="+mn-ea"/>
              <a:ea typeface="+mn-ea"/>
            </a:endParaRPr>
          </a:p>
          <a:p>
            <a:pPr algn="l">
              <a:defRPr/>
            </a:pPr>
            <a:endParaRPr lang="en-US" altLang="ko-KR" sz="2000" dirty="0">
              <a:latin typeface="+mn-ea"/>
              <a:ea typeface="+mn-ea"/>
            </a:endParaRPr>
          </a:p>
          <a:p>
            <a:pPr algn="l">
              <a:defRPr/>
            </a:pPr>
            <a:endParaRPr lang="en-US" altLang="ko-KR" sz="2000" dirty="0">
              <a:latin typeface="+mn-ea"/>
              <a:ea typeface="+mn-ea"/>
            </a:endParaRPr>
          </a:p>
          <a:p>
            <a:pPr algn="l">
              <a:defRPr/>
            </a:pPr>
            <a:endParaRPr lang="en-US" altLang="ko-KR" sz="2000" dirty="0">
              <a:latin typeface="+mn-ea"/>
              <a:ea typeface="+mn-ea"/>
            </a:endParaRPr>
          </a:p>
          <a:p>
            <a:pPr algn="l">
              <a:defRPr/>
            </a:pPr>
            <a:endParaRPr lang="en-US" altLang="ko-KR" sz="2000" dirty="0">
              <a:latin typeface="+mn-ea"/>
              <a:ea typeface="+mn-ea"/>
            </a:endParaRPr>
          </a:p>
          <a:p>
            <a:pPr marL="0" indent="0" algn="l">
              <a:defRPr/>
            </a:pPr>
            <a:endParaRPr lang="en-US" altLang="ko-KR" sz="2000" dirty="0">
              <a:latin typeface="+mn-ea"/>
              <a:ea typeface="+mn-ea"/>
            </a:endParaRPr>
          </a:p>
          <a:p>
            <a:pPr algn="l">
              <a:defRPr/>
            </a:pPr>
            <a:endParaRPr lang="en-US" altLang="ko-KR" sz="2000" dirty="0">
              <a:latin typeface="+mn-ea"/>
              <a:ea typeface="+mn-ea"/>
            </a:endParaRPr>
          </a:p>
          <a:p>
            <a:pPr marL="0" indent="0" algn="l">
              <a:defRPr/>
            </a:pPr>
            <a:endParaRPr lang="en-US" altLang="ko-KR" sz="2000" dirty="0">
              <a:latin typeface="+mn-ea"/>
              <a:ea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cxnSp>
        <p:nvCxnSpPr>
          <p:cNvPr id="81" name="Google Shape;81;p16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w="med" len="med"/>
            <a:tailEnd w="med" len="med"/>
          </a:ln>
        </p:spPr>
      </p:cxnSp>
      <p:pic>
        <p:nvPicPr>
          <p:cNvPr id="82" name="Google Shape;82;p16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/>
          <p:cNvSpPr txBox="1"/>
          <p:nvPr/>
        </p:nvSpPr>
        <p:spPr>
          <a:xfrm>
            <a:off x="1912169" y="2233042"/>
            <a:ext cx="4979400" cy="534908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200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                         감사합니다</a:t>
            </a:r>
            <a:r>
              <a:rPr lang="en-US" altLang="ko-KR" sz="200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!</a:t>
            </a:r>
          </a:p>
        </p:txBody>
      </p:sp>
      <p:sp>
        <p:nvSpPr>
          <p:cNvPr id="2" name="내용 개체 틀 2"/>
          <p:cNvSpPr txBox="1"/>
          <p:nvPr/>
        </p:nvSpPr>
        <p:spPr>
          <a:xfrm>
            <a:off x="1408975" y="845454"/>
            <a:ext cx="7391738" cy="440239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defRPr/>
            </a:pPr>
            <a:endParaRPr lang="en-US" altLang="ko-KR" sz="1400" b="1">
              <a:latin typeface="+mn-ea"/>
              <a:ea typeface="+mn-ea"/>
            </a:endParaRPr>
          </a:p>
          <a:p>
            <a:pPr algn="l">
              <a:defRPr/>
            </a:pPr>
            <a:endParaRPr lang="ko-KR" altLang="en-US" sz="1400" b="1">
              <a:latin typeface="+mn-ea"/>
              <a:ea typeface="+mn-ea"/>
            </a:endParaRPr>
          </a:p>
          <a:p>
            <a:pPr algn="l">
              <a:defRPr/>
            </a:pPr>
            <a:endParaRPr lang="en-US" altLang="ko-KR" sz="1400" b="1">
              <a:latin typeface="+mn-ea"/>
              <a:ea typeface="+mn-ea"/>
            </a:endParaRPr>
          </a:p>
          <a:p>
            <a:pPr algn="l">
              <a:defRPr/>
            </a:pPr>
            <a:endParaRPr lang="ko-KR" altLang="en-US" sz="1400" b="1">
              <a:latin typeface="+mn-ea"/>
              <a:ea typeface="+mn-ea"/>
            </a:endParaRPr>
          </a:p>
          <a:p>
            <a:pPr algn="l">
              <a:defRPr/>
            </a:pPr>
            <a:endParaRPr lang="ko-KR" altLang="en-US" sz="1400" b="1">
              <a:latin typeface="+mn-ea"/>
              <a:ea typeface="+mn-ea"/>
            </a:endParaRPr>
          </a:p>
          <a:p>
            <a:pPr algn="l">
              <a:defRPr/>
            </a:pPr>
            <a:endParaRPr lang="ko-KR" altLang="en-US" sz="1400" b="1">
              <a:latin typeface="+mn-ea"/>
              <a:ea typeface="+mn-ea"/>
            </a:endParaRPr>
          </a:p>
          <a:p>
            <a:pPr algn="l">
              <a:defRPr/>
            </a:pPr>
            <a:endParaRPr lang="en-US" altLang="ko-KR" sz="1400">
              <a:latin typeface="+mn-ea"/>
              <a:ea typeface="+mn-ea"/>
            </a:endParaRPr>
          </a:p>
          <a:p>
            <a:pPr algn="l">
              <a:defRPr/>
            </a:pPr>
            <a:endParaRPr lang="en-US" altLang="ko-KR" sz="1400">
              <a:latin typeface="+mn-ea"/>
              <a:ea typeface="+mn-ea"/>
            </a:endParaRPr>
          </a:p>
          <a:p>
            <a:pPr algn="l">
              <a:defRPr/>
            </a:pPr>
            <a:endParaRPr lang="en-US" altLang="ko-KR" sz="1200">
              <a:latin typeface="+mn-ea"/>
              <a:ea typeface="+mn-ea"/>
            </a:endParaRPr>
          </a:p>
          <a:p>
            <a:pPr marL="0" indent="0" algn="l">
              <a:defRPr/>
            </a:pPr>
            <a:endParaRPr lang="en-US" altLang="ko-KR" sz="2000">
              <a:latin typeface="+mn-ea"/>
              <a:ea typeface="+mn-ea"/>
            </a:endParaRPr>
          </a:p>
          <a:p>
            <a:pPr algn="l">
              <a:defRPr/>
            </a:pPr>
            <a:endParaRPr lang="en-US" altLang="ko-KR" sz="2000">
              <a:latin typeface="+mn-ea"/>
              <a:ea typeface="+mn-ea"/>
            </a:endParaRPr>
          </a:p>
          <a:p>
            <a:pPr algn="l">
              <a:defRPr/>
            </a:pPr>
            <a:endParaRPr lang="en-US" altLang="ko-KR" sz="2000">
              <a:latin typeface="+mn-ea"/>
              <a:ea typeface="+mn-ea"/>
            </a:endParaRPr>
          </a:p>
          <a:p>
            <a:pPr algn="l">
              <a:defRPr/>
            </a:pPr>
            <a:endParaRPr lang="en-US" altLang="ko-KR" sz="2000">
              <a:latin typeface="+mn-ea"/>
              <a:ea typeface="+mn-ea"/>
            </a:endParaRPr>
          </a:p>
          <a:p>
            <a:pPr algn="l">
              <a:defRPr/>
            </a:pPr>
            <a:endParaRPr lang="en-US" altLang="ko-KR" sz="2000">
              <a:latin typeface="+mn-ea"/>
              <a:ea typeface="+mn-ea"/>
            </a:endParaRPr>
          </a:p>
          <a:p>
            <a:pPr algn="l">
              <a:defRPr/>
            </a:pPr>
            <a:endParaRPr lang="en-US" altLang="ko-KR" sz="2000">
              <a:latin typeface="+mn-ea"/>
              <a:ea typeface="+mn-ea"/>
            </a:endParaRPr>
          </a:p>
          <a:p>
            <a:pPr marL="0" indent="0" algn="l">
              <a:defRPr/>
            </a:pPr>
            <a:endParaRPr lang="en-US" altLang="ko-KR" sz="2000">
              <a:latin typeface="+mn-ea"/>
              <a:ea typeface="+mn-ea"/>
            </a:endParaRPr>
          </a:p>
          <a:p>
            <a:pPr algn="l">
              <a:defRPr/>
            </a:pPr>
            <a:endParaRPr lang="en-US" altLang="ko-KR" sz="2000">
              <a:latin typeface="+mn-ea"/>
              <a:ea typeface="+mn-ea"/>
            </a:endParaRPr>
          </a:p>
          <a:p>
            <a:pPr marL="0" indent="0" algn="l">
              <a:defRPr/>
            </a:pPr>
            <a:endParaRPr lang="en-US" altLang="ko-KR" sz="2000">
              <a:latin typeface="+mn-ea"/>
              <a:ea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367</Words>
  <Application>Microsoft Office PowerPoint</Application>
  <PresentationFormat>화면 슬라이드 쇼(16:9)</PresentationFormat>
  <Paragraphs>136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3" baseType="lpstr">
      <vt:lpstr>NanumGothic ExtraBold</vt:lpstr>
      <vt:lpstr>Arial</vt:lpstr>
      <vt:lpstr>Simple Light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전해인</dc:creator>
  <cp:lastModifiedBy>세린 김</cp:lastModifiedBy>
  <cp:revision>15</cp:revision>
  <dcterms:modified xsi:type="dcterms:W3CDTF">2025-10-28T08:52:27Z</dcterms:modified>
  <cp:version/>
</cp:coreProperties>
</file>