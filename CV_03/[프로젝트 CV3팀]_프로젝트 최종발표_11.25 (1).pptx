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16"/>
  </p:notesMasterIdLst>
  <p:sldIdLst>
    <p:sldId id="256" r:id="rId2"/>
    <p:sldId id="259" r:id="rId3"/>
    <p:sldId id="267" r:id="rId4"/>
    <p:sldId id="268" r:id="rId5"/>
    <p:sldId id="269" r:id="rId6"/>
    <p:sldId id="270" r:id="rId7"/>
    <p:sldId id="271" r:id="rId8"/>
    <p:sldId id="272" r:id="rId9"/>
    <p:sldId id="273" r:id="rId10"/>
    <p:sldId id="274" r:id="rId11"/>
    <p:sldId id="276" r:id="rId12"/>
    <p:sldId id="275" r:id="rId13"/>
    <p:sldId id="277" r:id="rId14"/>
    <p:sldId id="278" r:id="rId15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18603FDC-E32A-4AB5-989C-0864C3EAD2B8}" styleName="테마 스타일 2 - 강조 2">
    <a:tblBg>
      <a:fillRef idx="3">
        <a:schemeClr val="accent2"/>
      </a:fillRef>
      <a:effectRef idx="3">
        <a:schemeClr val="accent2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2">
                <a:tint val="50000"/>
              </a:schemeClr>
            </a:lnRef>
          </a:left>
          <a:right>
            <a:lnRef idx="1">
              <a:schemeClr val="accent2">
                <a:tint val="50000"/>
              </a:schemeClr>
            </a:lnRef>
          </a:right>
          <a:top>
            <a:lnRef idx="1">
              <a:schemeClr val="accent2">
                <a:tint val="50000"/>
              </a:schemeClr>
            </a:lnRef>
          </a:top>
          <a:bottom>
            <a:lnRef idx="1">
              <a:schemeClr val="accent2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326" autoAdjust="0"/>
  </p:normalViewPr>
  <p:slideViewPr>
    <p:cSldViewPr snapToGrid="0">
      <p:cViewPr varScale="1">
        <p:scale>
          <a:sx n="110" d="100"/>
          <a:sy n="110" d="100"/>
        </p:scale>
        <p:origin x="423" y="39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118d7eca593_0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118d7eca593_0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">
          <a:extLst>
            <a:ext uri="{FF2B5EF4-FFF2-40B4-BE49-F238E27FC236}">
              <a16:creationId xmlns:a16="http://schemas.microsoft.com/office/drawing/2014/main" id="{E22F673F-7AFF-D192-4A2F-AA2AAC5CC6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118d7eca593_0_21:notes">
            <a:extLst>
              <a:ext uri="{FF2B5EF4-FFF2-40B4-BE49-F238E27FC236}">
                <a16:creationId xmlns:a16="http://schemas.microsoft.com/office/drawing/2014/main" id="{99AAD57C-3F20-FBBE-8247-F685B959103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118d7eca593_0_21:notes">
            <a:extLst>
              <a:ext uri="{FF2B5EF4-FFF2-40B4-BE49-F238E27FC236}">
                <a16:creationId xmlns:a16="http://schemas.microsoft.com/office/drawing/2014/main" id="{A2A4B9CC-5AB0-8F4F-076C-301F9ECFF47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78408666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">
          <a:extLst>
            <a:ext uri="{FF2B5EF4-FFF2-40B4-BE49-F238E27FC236}">
              <a16:creationId xmlns:a16="http://schemas.microsoft.com/office/drawing/2014/main" id="{8D93A18A-CF94-28EF-7309-1121782A76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118d7eca593_0_21:notes">
            <a:extLst>
              <a:ext uri="{FF2B5EF4-FFF2-40B4-BE49-F238E27FC236}">
                <a16:creationId xmlns:a16="http://schemas.microsoft.com/office/drawing/2014/main" id="{1F32004F-7E68-FF8C-CBB2-D08E87E3735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118d7eca593_0_21:notes">
            <a:extLst>
              <a:ext uri="{FF2B5EF4-FFF2-40B4-BE49-F238E27FC236}">
                <a16:creationId xmlns:a16="http://schemas.microsoft.com/office/drawing/2014/main" id="{F671DD6F-F927-53B4-D6BD-45742194A3C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1763503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">
          <a:extLst>
            <a:ext uri="{FF2B5EF4-FFF2-40B4-BE49-F238E27FC236}">
              <a16:creationId xmlns:a16="http://schemas.microsoft.com/office/drawing/2014/main" id="{C5AC9730-9015-BE60-4438-14FD401A5D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118d7eca593_0_21:notes">
            <a:extLst>
              <a:ext uri="{FF2B5EF4-FFF2-40B4-BE49-F238E27FC236}">
                <a16:creationId xmlns:a16="http://schemas.microsoft.com/office/drawing/2014/main" id="{5834CD26-3F07-AEB3-3992-4D2DD6F4F07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118d7eca593_0_21:notes">
            <a:extLst>
              <a:ext uri="{FF2B5EF4-FFF2-40B4-BE49-F238E27FC236}">
                <a16:creationId xmlns:a16="http://schemas.microsoft.com/office/drawing/2014/main" id="{70AB5744-DF50-2886-DBA0-917AA1C7C67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8688720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">
          <a:extLst>
            <a:ext uri="{FF2B5EF4-FFF2-40B4-BE49-F238E27FC236}">
              <a16:creationId xmlns:a16="http://schemas.microsoft.com/office/drawing/2014/main" id="{D87E9224-9FD9-1A14-9FB3-A64CED1E95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118d7eca593_0_21:notes">
            <a:extLst>
              <a:ext uri="{FF2B5EF4-FFF2-40B4-BE49-F238E27FC236}">
                <a16:creationId xmlns:a16="http://schemas.microsoft.com/office/drawing/2014/main" id="{AEEAFEEF-FFEE-EAC8-B350-81882EEC5D7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118d7eca593_0_21:notes">
            <a:extLst>
              <a:ext uri="{FF2B5EF4-FFF2-40B4-BE49-F238E27FC236}">
                <a16:creationId xmlns:a16="http://schemas.microsoft.com/office/drawing/2014/main" id="{E16809F8-D332-4ACC-06AD-613871AE692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0819489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">
          <a:extLst>
            <a:ext uri="{FF2B5EF4-FFF2-40B4-BE49-F238E27FC236}">
              <a16:creationId xmlns:a16="http://schemas.microsoft.com/office/drawing/2014/main" id="{171427E8-234D-47CD-1791-D154808123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118d7eca593_0_21:notes">
            <a:extLst>
              <a:ext uri="{FF2B5EF4-FFF2-40B4-BE49-F238E27FC236}">
                <a16:creationId xmlns:a16="http://schemas.microsoft.com/office/drawing/2014/main" id="{1B9020C9-C960-2822-13D7-A34137989C1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118d7eca593_0_21:notes">
            <a:extLst>
              <a:ext uri="{FF2B5EF4-FFF2-40B4-BE49-F238E27FC236}">
                <a16:creationId xmlns:a16="http://schemas.microsoft.com/office/drawing/2014/main" id="{60A87DD2-D813-A937-DA5F-09EACCA148A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93200885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">
          <a:extLst>
            <a:ext uri="{FF2B5EF4-FFF2-40B4-BE49-F238E27FC236}">
              <a16:creationId xmlns:a16="http://schemas.microsoft.com/office/drawing/2014/main" id="{1AB65A04-C598-4082-5DDF-243007B3EE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118d7eca593_0_21:notes">
            <a:extLst>
              <a:ext uri="{FF2B5EF4-FFF2-40B4-BE49-F238E27FC236}">
                <a16:creationId xmlns:a16="http://schemas.microsoft.com/office/drawing/2014/main" id="{069F5DB3-5DB9-97D5-953C-11E10612914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118d7eca593_0_21:notes">
            <a:extLst>
              <a:ext uri="{FF2B5EF4-FFF2-40B4-BE49-F238E27FC236}">
                <a16:creationId xmlns:a16="http://schemas.microsoft.com/office/drawing/2014/main" id="{C930B3C5-731C-E857-9D46-929BFB5D079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806273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">
          <a:extLst>
            <a:ext uri="{FF2B5EF4-FFF2-40B4-BE49-F238E27FC236}">
              <a16:creationId xmlns:a16="http://schemas.microsoft.com/office/drawing/2014/main" id="{ACD96553-A34D-A773-02B6-2FBC6221A9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118d7eca593_0_21:notes">
            <a:extLst>
              <a:ext uri="{FF2B5EF4-FFF2-40B4-BE49-F238E27FC236}">
                <a16:creationId xmlns:a16="http://schemas.microsoft.com/office/drawing/2014/main" id="{D9DC579D-213E-5D5C-25CA-BC1FC28F90A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118d7eca593_0_21:notes">
            <a:extLst>
              <a:ext uri="{FF2B5EF4-FFF2-40B4-BE49-F238E27FC236}">
                <a16:creationId xmlns:a16="http://schemas.microsoft.com/office/drawing/2014/main" id="{D4845EE2-6DF8-5160-72CC-B59A715C012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63661426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">
          <a:extLst>
            <a:ext uri="{FF2B5EF4-FFF2-40B4-BE49-F238E27FC236}">
              <a16:creationId xmlns:a16="http://schemas.microsoft.com/office/drawing/2014/main" id="{38F9BCA5-D7B8-0B20-EEF7-CAAB40D8FB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118d7eca593_0_21:notes">
            <a:extLst>
              <a:ext uri="{FF2B5EF4-FFF2-40B4-BE49-F238E27FC236}">
                <a16:creationId xmlns:a16="http://schemas.microsoft.com/office/drawing/2014/main" id="{F7F46F07-E1F4-5FA8-1B33-4597DD211D5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118d7eca593_0_21:notes">
            <a:extLst>
              <a:ext uri="{FF2B5EF4-FFF2-40B4-BE49-F238E27FC236}">
                <a16:creationId xmlns:a16="http://schemas.microsoft.com/office/drawing/2014/main" id="{7162A253-8D3E-16A6-A26F-BBDC5C1061E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29348656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">
          <a:extLst>
            <a:ext uri="{FF2B5EF4-FFF2-40B4-BE49-F238E27FC236}">
              <a16:creationId xmlns:a16="http://schemas.microsoft.com/office/drawing/2014/main" id="{E75830E5-1B1C-CC66-53EA-E1151E57BA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118d7eca593_0_21:notes">
            <a:extLst>
              <a:ext uri="{FF2B5EF4-FFF2-40B4-BE49-F238E27FC236}">
                <a16:creationId xmlns:a16="http://schemas.microsoft.com/office/drawing/2014/main" id="{81135E15-131F-CF8D-78C2-2E857D04FD0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118d7eca593_0_21:notes">
            <a:extLst>
              <a:ext uri="{FF2B5EF4-FFF2-40B4-BE49-F238E27FC236}">
                <a16:creationId xmlns:a16="http://schemas.microsoft.com/office/drawing/2014/main" id="{DF92FAE7-169E-156B-577A-A8973332075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0803568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">
          <a:extLst>
            <a:ext uri="{FF2B5EF4-FFF2-40B4-BE49-F238E27FC236}">
              <a16:creationId xmlns:a16="http://schemas.microsoft.com/office/drawing/2014/main" id="{802B10D4-2329-198A-8D69-564CF68EAC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118d7eca593_0_21:notes">
            <a:extLst>
              <a:ext uri="{FF2B5EF4-FFF2-40B4-BE49-F238E27FC236}">
                <a16:creationId xmlns:a16="http://schemas.microsoft.com/office/drawing/2014/main" id="{275C96CB-D225-68E8-FB7E-578379FD609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118d7eca593_0_21:notes">
            <a:extLst>
              <a:ext uri="{FF2B5EF4-FFF2-40B4-BE49-F238E27FC236}">
                <a16:creationId xmlns:a16="http://schemas.microsoft.com/office/drawing/2014/main" id="{6E1322FF-2CC6-FFF4-273E-67B08043A13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735561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">
          <a:extLst>
            <a:ext uri="{FF2B5EF4-FFF2-40B4-BE49-F238E27FC236}">
              <a16:creationId xmlns:a16="http://schemas.microsoft.com/office/drawing/2014/main" id="{5C76F5A0-2900-6ACC-32A2-F39E7A708E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118d7eca593_0_21:notes">
            <a:extLst>
              <a:ext uri="{FF2B5EF4-FFF2-40B4-BE49-F238E27FC236}">
                <a16:creationId xmlns:a16="http://schemas.microsoft.com/office/drawing/2014/main" id="{0D9B8CC5-37EA-AB7A-D2C1-D418C0641B9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118d7eca593_0_21:notes">
            <a:extLst>
              <a:ext uri="{FF2B5EF4-FFF2-40B4-BE49-F238E27FC236}">
                <a16:creationId xmlns:a16="http://schemas.microsoft.com/office/drawing/2014/main" id="{6DE7F6BB-5FAB-8F53-4D8B-340C8530F9F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6708193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">
          <a:extLst>
            <a:ext uri="{FF2B5EF4-FFF2-40B4-BE49-F238E27FC236}">
              <a16:creationId xmlns:a16="http://schemas.microsoft.com/office/drawing/2014/main" id="{E6D6E14B-5F98-84A4-D3B8-7956EB0A83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118d7eca593_0_21:notes">
            <a:extLst>
              <a:ext uri="{FF2B5EF4-FFF2-40B4-BE49-F238E27FC236}">
                <a16:creationId xmlns:a16="http://schemas.microsoft.com/office/drawing/2014/main" id="{ABCD8B9C-336E-8978-1BDF-0EEBAD4609C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118d7eca593_0_21:notes">
            <a:extLst>
              <a:ext uri="{FF2B5EF4-FFF2-40B4-BE49-F238E27FC236}">
                <a16:creationId xmlns:a16="http://schemas.microsoft.com/office/drawing/2014/main" id="{32904F3F-F883-3A65-A6C3-F706B56C52F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79565385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/>
          <p:nvPr/>
        </p:nvSpPr>
        <p:spPr>
          <a:xfrm>
            <a:off x="0" y="-37950"/>
            <a:ext cx="1181100" cy="5219400"/>
          </a:xfrm>
          <a:prstGeom prst="rect">
            <a:avLst/>
          </a:prstGeom>
          <a:solidFill>
            <a:srgbClr val="19264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T</a:t>
            </a:r>
            <a:endParaRPr/>
          </a:p>
        </p:txBody>
      </p:sp>
      <p:sp>
        <p:nvSpPr>
          <p:cNvPr id="55" name="Google Shape;55;p13"/>
          <p:cNvSpPr txBox="1"/>
          <p:nvPr/>
        </p:nvSpPr>
        <p:spPr>
          <a:xfrm>
            <a:off x="1339750" y="2710050"/>
            <a:ext cx="4979400" cy="15650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2500" b="1" dirty="0">
                <a:solidFill>
                  <a:srgbClr val="19264B"/>
                </a:solidFill>
              </a:rPr>
              <a:t>CUAI </a:t>
            </a:r>
            <a:r>
              <a:rPr lang="ko-KR" altLang="en-US" sz="2500" b="1" dirty="0">
                <a:solidFill>
                  <a:srgbClr val="19264B"/>
                </a:solidFill>
              </a:rPr>
              <a:t>프로젝트 </a:t>
            </a:r>
            <a:r>
              <a:rPr lang="en-US" altLang="ko-KR" sz="2500" b="1" dirty="0">
                <a:solidFill>
                  <a:srgbClr val="19264B"/>
                </a:solidFill>
              </a:rPr>
              <a:t>CV 3</a:t>
            </a:r>
            <a:r>
              <a:rPr lang="ko-KR" altLang="en-US" sz="2500" b="1" dirty="0">
                <a:solidFill>
                  <a:srgbClr val="19264B"/>
                </a:solidFill>
              </a:rPr>
              <a:t>팀</a:t>
            </a:r>
            <a:endParaRPr sz="2500" b="1" dirty="0">
              <a:solidFill>
                <a:srgbClr val="19264B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dirty="0">
                <a:solidFill>
                  <a:srgbClr val="19264B"/>
                </a:solidFill>
              </a:rPr>
              <a:t>202</a:t>
            </a:r>
            <a:r>
              <a:rPr lang="en-US" altLang="ko" dirty="0">
                <a:solidFill>
                  <a:srgbClr val="19264B"/>
                </a:solidFill>
              </a:rPr>
              <a:t>5.11.25</a:t>
            </a:r>
            <a:endParaRPr dirty="0">
              <a:solidFill>
                <a:srgbClr val="19264B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rgbClr val="19264B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rgbClr val="19264B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100" dirty="0">
                <a:solidFill>
                  <a:srgbClr val="19264B"/>
                </a:solidFill>
              </a:rPr>
              <a:t>발표자: </a:t>
            </a:r>
            <a:r>
              <a:rPr lang="ko-KR" altLang="en-US" sz="1100" dirty="0">
                <a:solidFill>
                  <a:srgbClr val="19264B"/>
                </a:solidFill>
              </a:rPr>
              <a:t>이성욱</a:t>
            </a:r>
            <a:endParaRPr sz="1100" dirty="0">
              <a:solidFill>
                <a:srgbClr val="19264B"/>
              </a:solidFill>
            </a:endParaRPr>
          </a:p>
        </p:txBody>
      </p:sp>
      <p:cxnSp>
        <p:nvCxnSpPr>
          <p:cNvPr id="56" name="Google Shape;56;p13"/>
          <p:cNvCxnSpPr/>
          <p:nvPr/>
        </p:nvCxnSpPr>
        <p:spPr>
          <a:xfrm>
            <a:off x="172875" y="-37950"/>
            <a:ext cx="0" cy="218700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57" name="Google Shape;57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00">
            <a:off x="-928700" y="3071650"/>
            <a:ext cx="3038475" cy="1181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6"/>
          <p:cNvSpPr/>
          <p:nvPr/>
        </p:nvSpPr>
        <p:spPr>
          <a:xfrm>
            <a:off x="0" y="-37950"/>
            <a:ext cx="1181100" cy="5219400"/>
          </a:xfrm>
          <a:prstGeom prst="rect">
            <a:avLst/>
          </a:prstGeom>
          <a:solidFill>
            <a:srgbClr val="19264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81" name="Google Shape;81;p16"/>
          <p:cNvCxnSpPr/>
          <p:nvPr/>
        </p:nvCxnSpPr>
        <p:spPr>
          <a:xfrm>
            <a:off x="172875" y="-37950"/>
            <a:ext cx="0" cy="218700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82" name="Google Shape;82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00">
            <a:off x="-928700" y="3071650"/>
            <a:ext cx="3038475" cy="1181100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p16"/>
          <p:cNvSpPr txBox="1"/>
          <p:nvPr/>
        </p:nvSpPr>
        <p:spPr>
          <a:xfrm>
            <a:off x="1413593" y="163028"/>
            <a:ext cx="5936276" cy="5385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ko-KR" altLang="en-US" sz="2000" b="1" dirty="0">
                <a:solidFill>
                  <a:srgbClr val="19264B"/>
                </a:solidFill>
                <a:latin typeface="NanumGothic ExtraBold"/>
                <a:ea typeface="NanumGothic ExtraBold"/>
                <a:cs typeface="NanumGothic ExtraBold"/>
                <a:sym typeface="NanumGothic ExtraBold"/>
              </a:rPr>
              <a:t>프로젝트 팀원</a:t>
            </a:r>
            <a:endParaRPr sz="2000" b="1" dirty="0">
              <a:solidFill>
                <a:srgbClr val="19264B"/>
              </a:solidFill>
              <a:latin typeface="NanumGothic ExtraBold"/>
              <a:ea typeface="NanumGothic ExtraBold"/>
              <a:cs typeface="NanumGothic ExtraBold"/>
              <a:sym typeface="NanumGothic ExtraBold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E742B8E-37B9-D108-5015-A898183BBC3E}"/>
              </a:ext>
            </a:extLst>
          </p:cNvPr>
          <p:cNvSpPr txBox="1"/>
          <p:nvPr/>
        </p:nvSpPr>
        <p:spPr>
          <a:xfrm>
            <a:off x="2359212" y="3441402"/>
            <a:ext cx="2271752" cy="4415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50000"/>
              </a:lnSpc>
            </a:pPr>
            <a:r>
              <a:rPr lang="ko-KR" altLang="en-US" sz="11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사진은 따로 촬영하지 않았습니다</a:t>
            </a:r>
            <a:r>
              <a:rPr lang="en-US" altLang="ko-KR" sz="11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ko-KR" altLang="en-US" sz="1100" b="1" dirty="0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5A8D8F2C-3452-414D-E1A0-8C52034CE8B3}"/>
              </a:ext>
            </a:extLst>
          </p:cNvPr>
          <p:cNvSpPr/>
          <p:nvPr/>
        </p:nvSpPr>
        <p:spPr>
          <a:xfrm>
            <a:off x="1802798" y="1170085"/>
            <a:ext cx="3384580" cy="2786537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962EC0A-D02B-EBE2-717E-716D0D0CD8D2}"/>
              </a:ext>
            </a:extLst>
          </p:cNvPr>
          <p:cNvSpPr txBox="1"/>
          <p:nvPr/>
        </p:nvSpPr>
        <p:spPr>
          <a:xfrm>
            <a:off x="6042984" y="1055550"/>
            <a:ext cx="1298218" cy="26915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250000"/>
              </a:lnSpc>
              <a:buAutoNum type="arabicPeriod"/>
            </a:pPr>
            <a:r>
              <a:rPr lang="ko-KR" altLang="en-US" b="1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권순범</a:t>
            </a:r>
            <a:endParaRPr lang="en-US" altLang="ko-KR" b="1" dirty="0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lnSpc>
                <a:spcPct val="250000"/>
              </a:lnSpc>
              <a:buAutoNum type="arabicPeriod"/>
            </a:pPr>
            <a:r>
              <a:rPr lang="ko-KR" altLang="en-US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노기현</a:t>
            </a:r>
            <a:endParaRPr lang="en-US" altLang="ko-KR" b="1" dirty="0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lnSpc>
                <a:spcPct val="250000"/>
              </a:lnSpc>
              <a:buAutoNum type="arabicPeriod"/>
            </a:pPr>
            <a:r>
              <a:rPr lang="ko-KR" altLang="en-US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송재호</a:t>
            </a:r>
            <a:endParaRPr lang="en-US" altLang="ko-KR" b="1" dirty="0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lnSpc>
                <a:spcPct val="250000"/>
              </a:lnSpc>
              <a:buAutoNum type="arabicPeriod"/>
            </a:pPr>
            <a:r>
              <a:rPr lang="ko-KR" altLang="en-US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이성욱</a:t>
            </a:r>
            <a:endParaRPr lang="en-US" altLang="ko-KR" b="1" dirty="0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250000"/>
              </a:lnSpc>
            </a:pPr>
            <a:endParaRPr lang="ko-KR" altLang="en-US" b="1" dirty="0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">
          <a:extLst>
            <a:ext uri="{FF2B5EF4-FFF2-40B4-BE49-F238E27FC236}">
              <a16:creationId xmlns:a16="http://schemas.microsoft.com/office/drawing/2014/main" id="{E36CCEBA-4DD9-AC56-876D-266FE7FAA6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5">
            <a:extLst>
              <a:ext uri="{FF2B5EF4-FFF2-40B4-BE49-F238E27FC236}">
                <a16:creationId xmlns:a16="http://schemas.microsoft.com/office/drawing/2014/main" id="{02443B51-3C65-8FC5-99BE-047CE8238E24}"/>
              </a:ext>
            </a:extLst>
          </p:cNvPr>
          <p:cNvSpPr/>
          <p:nvPr/>
        </p:nvSpPr>
        <p:spPr>
          <a:xfrm>
            <a:off x="0" y="-37950"/>
            <a:ext cx="1181100" cy="5219400"/>
          </a:xfrm>
          <a:prstGeom prst="rect">
            <a:avLst/>
          </a:prstGeom>
          <a:solidFill>
            <a:srgbClr val="19264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73" name="Google Shape;73;p15">
            <a:extLst>
              <a:ext uri="{FF2B5EF4-FFF2-40B4-BE49-F238E27FC236}">
                <a16:creationId xmlns:a16="http://schemas.microsoft.com/office/drawing/2014/main" id="{355E1992-3382-9F20-8A94-54B4B727BA71}"/>
              </a:ext>
            </a:extLst>
          </p:cNvPr>
          <p:cNvCxnSpPr/>
          <p:nvPr/>
        </p:nvCxnSpPr>
        <p:spPr>
          <a:xfrm>
            <a:off x="172875" y="-37950"/>
            <a:ext cx="0" cy="218700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74" name="Google Shape;74;p15">
            <a:extLst>
              <a:ext uri="{FF2B5EF4-FFF2-40B4-BE49-F238E27FC236}">
                <a16:creationId xmlns:a16="http://schemas.microsoft.com/office/drawing/2014/main" id="{42AF96AC-1877-D1FF-649B-6C19B819B3C1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00">
            <a:off x="-928700" y="3071650"/>
            <a:ext cx="3038475" cy="11811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Google Shape;83;p16">
            <a:extLst>
              <a:ext uri="{FF2B5EF4-FFF2-40B4-BE49-F238E27FC236}">
                <a16:creationId xmlns:a16="http://schemas.microsoft.com/office/drawing/2014/main" id="{283F25A1-1FBE-C96D-52D2-C78B11147306}"/>
              </a:ext>
            </a:extLst>
          </p:cNvPr>
          <p:cNvSpPr txBox="1"/>
          <p:nvPr/>
        </p:nvSpPr>
        <p:spPr>
          <a:xfrm>
            <a:off x="1413593" y="163028"/>
            <a:ext cx="5936276" cy="5385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ko-KR" altLang="en-US" sz="2000" b="1" dirty="0">
                <a:solidFill>
                  <a:srgbClr val="19264B"/>
                </a:solidFill>
                <a:latin typeface="NanumGothic ExtraBold"/>
                <a:ea typeface="NanumGothic ExtraBold"/>
                <a:cs typeface="NanumGothic ExtraBold"/>
                <a:sym typeface="NanumGothic ExtraBold"/>
              </a:rPr>
              <a:t>프로젝트 방향성</a:t>
            </a:r>
            <a:endParaRPr sz="2000" b="1" dirty="0">
              <a:solidFill>
                <a:srgbClr val="19264B"/>
              </a:solidFill>
              <a:latin typeface="NanumGothic ExtraBold"/>
              <a:ea typeface="NanumGothic ExtraBold"/>
              <a:cs typeface="NanumGothic ExtraBold"/>
              <a:sym typeface="NanumGothic ExtraBold"/>
            </a:endParaRPr>
          </a:p>
        </p:txBody>
      </p:sp>
      <p:sp>
        <p:nvSpPr>
          <p:cNvPr id="5" name="Google Shape;83;p16">
            <a:extLst>
              <a:ext uri="{FF2B5EF4-FFF2-40B4-BE49-F238E27FC236}">
                <a16:creationId xmlns:a16="http://schemas.microsoft.com/office/drawing/2014/main" id="{1651FE21-B525-E5CA-F34A-7DB8DAB99FCA}"/>
              </a:ext>
            </a:extLst>
          </p:cNvPr>
          <p:cNvSpPr txBox="1"/>
          <p:nvPr/>
        </p:nvSpPr>
        <p:spPr>
          <a:xfrm>
            <a:off x="1413593" y="1013146"/>
            <a:ext cx="7786745" cy="18835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ko-KR" altLang="en-US" sz="1600" b="1" dirty="0">
                <a:solidFill>
                  <a:srgbClr val="19264B"/>
                </a:solidFill>
                <a:latin typeface="NanumGothic ExtraBold"/>
                <a:ea typeface="NanumGothic ExtraBold"/>
                <a:cs typeface="NanumGothic ExtraBold"/>
                <a:sym typeface="NanumGothic ExtraBold"/>
              </a:rPr>
              <a:t>기본 목표</a:t>
            </a:r>
            <a:r>
              <a:rPr lang="en-US" altLang="ko-KR" sz="1600" b="1" dirty="0">
                <a:solidFill>
                  <a:srgbClr val="19264B"/>
                </a:solidFill>
                <a:latin typeface="NanumGothic ExtraBold"/>
                <a:ea typeface="NanumGothic ExtraBold"/>
                <a:cs typeface="NanumGothic ExtraBold"/>
                <a:sym typeface="NanumGothic ExtraBold"/>
              </a:rPr>
              <a:t>: </a:t>
            </a:r>
          </a:p>
          <a:p>
            <a:pPr lvl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ko-KR" sz="1600" b="1" dirty="0">
                <a:solidFill>
                  <a:srgbClr val="19264B"/>
                </a:solidFill>
                <a:latin typeface="NanumGothic ExtraBold"/>
                <a:ea typeface="NanumGothic ExtraBold"/>
                <a:cs typeface="NanumGothic ExtraBold"/>
                <a:sym typeface="NanumGothic ExtraBold"/>
              </a:rPr>
              <a:t>Transfer </a:t>
            </a:r>
            <a:r>
              <a:rPr lang="en-US" altLang="ko-KR" sz="1600" b="1" dirty="0" err="1">
                <a:solidFill>
                  <a:srgbClr val="19264B"/>
                </a:solidFill>
                <a:latin typeface="NanumGothic ExtraBold"/>
                <a:ea typeface="NanumGothic ExtraBold"/>
                <a:cs typeface="NanumGothic ExtraBold"/>
                <a:sym typeface="NanumGothic ExtraBold"/>
              </a:rPr>
              <a:t>Leanrning</a:t>
            </a:r>
            <a:r>
              <a:rPr lang="ko-KR" altLang="en-US" sz="1600" b="1" dirty="0">
                <a:solidFill>
                  <a:srgbClr val="19264B"/>
                </a:solidFill>
                <a:latin typeface="NanumGothic ExtraBold"/>
                <a:ea typeface="NanumGothic ExtraBold"/>
                <a:cs typeface="NanumGothic ExtraBold"/>
                <a:sym typeface="NanumGothic ExtraBold"/>
              </a:rPr>
              <a:t>을 범용적으로 활용할 수 있는 노하우 터득</a:t>
            </a:r>
            <a:endParaRPr lang="en-US" altLang="ko-KR" sz="1600" b="1" dirty="0">
              <a:solidFill>
                <a:srgbClr val="19264B"/>
              </a:solidFill>
              <a:latin typeface="NanumGothic ExtraBold"/>
              <a:ea typeface="NanumGothic ExtraBold"/>
              <a:cs typeface="NanumGothic ExtraBold"/>
              <a:sym typeface="NanumGothic ExtraBold"/>
            </a:endParaRPr>
          </a:p>
          <a:p>
            <a:pPr lvl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endParaRPr lang="en-US" altLang="ko-KR" sz="1600" b="1" dirty="0">
              <a:solidFill>
                <a:srgbClr val="19264B"/>
              </a:solidFill>
              <a:latin typeface="NanumGothic ExtraBold"/>
              <a:ea typeface="NanumGothic ExtraBold"/>
              <a:cs typeface="NanumGothic ExtraBold"/>
              <a:sym typeface="NanumGothic ExtraBold"/>
            </a:endParaRPr>
          </a:p>
          <a:p>
            <a:pPr lvl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ko-KR" sz="1600" dirty="0">
                <a:solidFill>
                  <a:srgbClr val="19264B"/>
                </a:solidFill>
                <a:latin typeface="NanumGothic ExtraBold"/>
                <a:ea typeface="NanumGothic ExtraBold"/>
                <a:cs typeface="NanumGothic ExtraBold"/>
                <a:sym typeface="NanumGothic ExtraBold"/>
              </a:rPr>
              <a:t>  1. IMDB-WIKI</a:t>
            </a:r>
            <a:r>
              <a:rPr lang="ko-KR" altLang="en-US" sz="1600" dirty="0">
                <a:solidFill>
                  <a:srgbClr val="19264B"/>
                </a:solidFill>
                <a:latin typeface="NanumGothic ExtraBold"/>
                <a:ea typeface="NanumGothic ExtraBold"/>
                <a:cs typeface="NanumGothic ExtraBold"/>
                <a:sym typeface="NanumGothic ExtraBold"/>
              </a:rPr>
              <a:t> </a:t>
            </a:r>
            <a:r>
              <a:rPr lang="en-US" altLang="ko-KR" sz="1600" dirty="0">
                <a:solidFill>
                  <a:srgbClr val="19264B"/>
                </a:solidFill>
                <a:latin typeface="NanumGothic ExtraBold"/>
                <a:ea typeface="NanumGothic ExtraBold"/>
                <a:cs typeface="NanumGothic ExtraBold"/>
                <a:sym typeface="NanumGothic ExtraBold"/>
              </a:rPr>
              <a:t>dataset</a:t>
            </a:r>
            <a:r>
              <a:rPr lang="ko-KR" altLang="en-US" sz="1600" dirty="0">
                <a:solidFill>
                  <a:srgbClr val="19264B"/>
                </a:solidFill>
                <a:latin typeface="NanumGothic ExtraBold"/>
                <a:ea typeface="NanumGothic ExtraBold"/>
                <a:cs typeface="NanumGothic ExtraBold"/>
                <a:sym typeface="NanumGothic ExtraBold"/>
              </a:rPr>
              <a:t>을 활용한 나이</a:t>
            </a:r>
            <a:r>
              <a:rPr lang="en-US" altLang="ko-KR" sz="1600" dirty="0">
                <a:solidFill>
                  <a:srgbClr val="19264B"/>
                </a:solidFill>
                <a:latin typeface="NanumGothic ExtraBold"/>
                <a:ea typeface="NanumGothic ExtraBold"/>
                <a:cs typeface="NanumGothic ExtraBold"/>
                <a:sym typeface="NanumGothic ExtraBold"/>
              </a:rPr>
              <a:t>, </a:t>
            </a:r>
            <a:r>
              <a:rPr lang="ko-KR" altLang="en-US" sz="1600" dirty="0">
                <a:solidFill>
                  <a:srgbClr val="19264B"/>
                </a:solidFill>
                <a:latin typeface="NanumGothic ExtraBold"/>
                <a:ea typeface="NanumGothic ExtraBold"/>
                <a:cs typeface="NanumGothic ExtraBold"/>
                <a:sym typeface="NanumGothic ExtraBold"/>
              </a:rPr>
              <a:t>성별 예측</a:t>
            </a:r>
            <a:endParaRPr lang="en-US" altLang="ko-KR" sz="1600" dirty="0">
              <a:solidFill>
                <a:srgbClr val="19264B"/>
              </a:solidFill>
              <a:latin typeface="NanumGothic ExtraBold"/>
              <a:ea typeface="NanumGothic ExtraBold"/>
              <a:cs typeface="NanumGothic ExtraBold"/>
              <a:sym typeface="NanumGothic ExtraBold"/>
            </a:endParaRPr>
          </a:p>
          <a:p>
            <a:pPr lvl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endParaRPr lang="en-US" sz="1600" dirty="0">
              <a:solidFill>
                <a:srgbClr val="19264B"/>
              </a:solidFill>
              <a:latin typeface="NanumGothic ExtraBold"/>
              <a:ea typeface="NanumGothic ExtraBold"/>
              <a:cs typeface="NanumGothic ExtraBold"/>
              <a:sym typeface="NanumGothic ExtraBold"/>
            </a:endParaRPr>
          </a:p>
          <a:p>
            <a:pPr lvl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600" dirty="0">
                <a:solidFill>
                  <a:srgbClr val="19264B"/>
                </a:solidFill>
                <a:latin typeface="NanumGothic ExtraBold"/>
                <a:ea typeface="NanumGothic ExtraBold"/>
                <a:cs typeface="NanumGothic ExtraBold"/>
                <a:sym typeface="NanumGothic ExtraBold"/>
              </a:rPr>
              <a:t>  2. </a:t>
            </a:r>
            <a:r>
              <a:rPr lang="en-US" sz="1600" dirty="0" err="1">
                <a:solidFill>
                  <a:srgbClr val="19264B"/>
                </a:solidFill>
                <a:latin typeface="NanumGothic ExtraBold"/>
                <a:ea typeface="NanumGothic ExtraBold"/>
                <a:cs typeface="NanumGothic ExtraBold"/>
                <a:sym typeface="NanumGothic ExtraBold"/>
              </a:rPr>
              <a:t>Wikiart</a:t>
            </a:r>
            <a:r>
              <a:rPr lang="en-US" sz="1600" dirty="0">
                <a:solidFill>
                  <a:srgbClr val="19264B"/>
                </a:solidFill>
                <a:latin typeface="NanumGothic ExtraBold"/>
                <a:ea typeface="NanumGothic ExtraBold"/>
                <a:cs typeface="NanumGothic ExtraBold"/>
                <a:sym typeface="NanumGothic ExtraBold"/>
              </a:rPr>
              <a:t> dataset</a:t>
            </a:r>
            <a:r>
              <a:rPr lang="ko-KR" altLang="en-US" sz="1600" dirty="0">
                <a:solidFill>
                  <a:srgbClr val="19264B"/>
                </a:solidFill>
                <a:latin typeface="NanumGothic ExtraBold"/>
                <a:ea typeface="NanumGothic ExtraBold"/>
                <a:cs typeface="NanumGothic ExtraBold"/>
                <a:sym typeface="NanumGothic ExtraBold"/>
              </a:rPr>
              <a:t>을 활용한 예술 작품의 작가</a:t>
            </a:r>
            <a:r>
              <a:rPr lang="en-US" altLang="ko-KR" sz="1600" dirty="0">
                <a:solidFill>
                  <a:srgbClr val="19264B"/>
                </a:solidFill>
                <a:latin typeface="NanumGothic ExtraBold"/>
                <a:ea typeface="NanumGothic ExtraBold"/>
                <a:cs typeface="NanumGothic ExtraBold"/>
                <a:sym typeface="NanumGothic ExtraBold"/>
              </a:rPr>
              <a:t>, </a:t>
            </a:r>
            <a:r>
              <a:rPr lang="ko-KR" altLang="en-US" sz="1600" dirty="0">
                <a:solidFill>
                  <a:srgbClr val="19264B"/>
                </a:solidFill>
                <a:latin typeface="NanumGothic ExtraBold"/>
                <a:ea typeface="NanumGothic ExtraBold"/>
                <a:cs typeface="NanumGothic ExtraBold"/>
                <a:sym typeface="NanumGothic ExtraBold"/>
              </a:rPr>
              <a:t>장르</a:t>
            </a:r>
            <a:r>
              <a:rPr lang="en-US" altLang="ko-KR" sz="1600" dirty="0">
                <a:solidFill>
                  <a:srgbClr val="19264B"/>
                </a:solidFill>
                <a:latin typeface="NanumGothic ExtraBold"/>
                <a:ea typeface="NanumGothic ExtraBold"/>
                <a:cs typeface="NanumGothic ExtraBold"/>
                <a:sym typeface="NanumGothic ExtraBold"/>
              </a:rPr>
              <a:t>, </a:t>
            </a:r>
            <a:r>
              <a:rPr lang="ko-KR" altLang="en-US" sz="1600" dirty="0">
                <a:solidFill>
                  <a:srgbClr val="19264B"/>
                </a:solidFill>
                <a:latin typeface="NanumGothic ExtraBold"/>
                <a:ea typeface="NanumGothic ExtraBold"/>
                <a:cs typeface="NanumGothic ExtraBold"/>
                <a:sym typeface="NanumGothic ExtraBold"/>
              </a:rPr>
              <a:t>스타일 분류 예측</a:t>
            </a:r>
            <a:endParaRPr sz="1600" dirty="0">
              <a:solidFill>
                <a:srgbClr val="19264B"/>
              </a:solidFill>
              <a:latin typeface="NanumGothic ExtraBold"/>
              <a:ea typeface="NanumGothic ExtraBold"/>
              <a:cs typeface="NanumGothic ExtraBold"/>
              <a:sym typeface="NanumGothic ExtraBold"/>
            </a:endParaRPr>
          </a:p>
        </p:txBody>
      </p:sp>
    </p:spTree>
    <p:extLst>
      <p:ext uri="{BB962C8B-B14F-4D97-AF65-F5344CB8AC3E}">
        <p14:creationId xmlns:p14="http://schemas.microsoft.com/office/powerpoint/2010/main" val="25552173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">
          <a:extLst>
            <a:ext uri="{FF2B5EF4-FFF2-40B4-BE49-F238E27FC236}">
              <a16:creationId xmlns:a16="http://schemas.microsoft.com/office/drawing/2014/main" id="{44677723-6BE5-74DA-0F90-FDBD03F54E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5">
            <a:extLst>
              <a:ext uri="{FF2B5EF4-FFF2-40B4-BE49-F238E27FC236}">
                <a16:creationId xmlns:a16="http://schemas.microsoft.com/office/drawing/2014/main" id="{DE48B0D0-D75B-A272-92D7-DB5327E43342}"/>
              </a:ext>
            </a:extLst>
          </p:cNvPr>
          <p:cNvSpPr/>
          <p:nvPr/>
        </p:nvSpPr>
        <p:spPr>
          <a:xfrm>
            <a:off x="0" y="-37950"/>
            <a:ext cx="1181100" cy="5219400"/>
          </a:xfrm>
          <a:prstGeom prst="rect">
            <a:avLst/>
          </a:prstGeom>
          <a:solidFill>
            <a:srgbClr val="19264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73" name="Google Shape;73;p15">
            <a:extLst>
              <a:ext uri="{FF2B5EF4-FFF2-40B4-BE49-F238E27FC236}">
                <a16:creationId xmlns:a16="http://schemas.microsoft.com/office/drawing/2014/main" id="{6E04F894-2439-49E1-BC14-F1C47543E27B}"/>
              </a:ext>
            </a:extLst>
          </p:cNvPr>
          <p:cNvCxnSpPr/>
          <p:nvPr/>
        </p:nvCxnSpPr>
        <p:spPr>
          <a:xfrm>
            <a:off x="172875" y="-37950"/>
            <a:ext cx="0" cy="218700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74" name="Google Shape;74;p15">
            <a:extLst>
              <a:ext uri="{FF2B5EF4-FFF2-40B4-BE49-F238E27FC236}">
                <a16:creationId xmlns:a16="http://schemas.microsoft.com/office/drawing/2014/main" id="{11020F63-D6F2-3603-BF68-3670FA355250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00">
            <a:off x="-928700" y="3071650"/>
            <a:ext cx="3038475" cy="11811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Google Shape;83;p16">
            <a:extLst>
              <a:ext uri="{FF2B5EF4-FFF2-40B4-BE49-F238E27FC236}">
                <a16:creationId xmlns:a16="http://schemas.microsoft.com/office/drawing/2014/main" id="{49ADCEEC-06E6-07DC-7276-03516BE2BCFA}"/>
              </a:ext>
            </a:extLst>
          </p:cNvPr>
          <p:cNvSpPr txBox="1"/>
          <p:nvPr/>
        </p:nvSpPr>
        <p:spPr>
          <a:xfrm>
            <a:off x="1413593" y="163028"/>
            <a:ext cx="5936276" cy="5385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>
              <a:lnSpc>
                <a:spcPct val="115000"/>
              </a:lnSpc>
            </a:pPr>
            <a:r>
              <a:rPr lang="en-US" altLang="ko-KR" sz="2000" b="1" dirty="0">
                <a:solidFill>
                  <a:srgbClr val="19264B"/>
                </a:solidFill>
                <a:latin typeface="NanumGothic ExtraBold"/>
                <a:ea typeface="NanumGothic ExtraBold"/>
                <a:cs typeface="NanumGothic ExtraBold"/>
                <a:sym typeface="NanumGothic ExtraBold"/>
              </a:rPr>
              <a:t>IMDB-WIKI</a:t>
            </a:r>
            <a:r>
              <a:rPr lang="ko-KR" altLang="en-US" sz="2000" b="1" dirty="0">
                <a:solidFill>
                  <a:srgbClr val="19264B"/>
                </a:solidFill>
                <a:latin typeface="NanumGothic ExtraBold"/>
                <a:ea typeface="NanumGothic ExtraBold"/>
                <a:cs typeface="NanumGothic ExtraBold"/>
                <a:sym typeface="NanumGothic ExtraBold"/>
              </a:rPr>
              <a:t> </a:t>
            </a:r>
            <a:r>
              <a:rPr lang="en-US" altLang="ko-KR" sz="2000" b="1" dirty="0">
                <a:solidFill>
                  <a:srgbClr val="19264B"/>
                </a:solidFill>
                <a:latin typeface="NanumGothic ExtraBold"/>
                <a:ea typeface="NanumGothic ExtraBold"/>
                <a:cs typeface="NanumGothic ExtraBold"/>
                <a:sym typeface="NanumGothic ExtraBold"/>
              </a:rPr>
              <a:t>dataset</a:t>
            </a:r>
            <a:r>
              <a:rPr lang="ko-KR" altLang="en-US" sz="2000" b="1" dirty="0">
                <a:solidFill>
                  <a:srgbClr val="19264B"/>
                </a:solidFill>
                <a:latin typeface="NanumGothic ExtraBold"/>
                <a:ea typeface="NanumGothic ExtraBold"/>
                <a:cs typeface="NanumGothic ExtraBold"/>
                <a:sym typeface="NanumGothic ExtraBold"/>
              </a:rPr>
              <a:t>을 활용한 나이</a:t>
            </a:r>
            <a:r>
              <a:rPr lang="en-US" altLang="ko-KR" sz="2000" b="1" dirty="0">
                <a:solidFill>
                  <a:srgbClr val="19264B"/>
                </a:solidFill>
                <a:latin typeface="NanumGothic ExtraBold"/>
                <a:ea typeface="NanumGothic ExtraBold"/>
                <a:cs typeface="NanumGothic ExtraBold"/>
                <a:sym typeface="NanumGothic ExtraBold"/>
              </a:rPr>
              <a:t>, </a:t>
            </a:r>
            <a:r>
              <a:rPr lang="ko-KR" altLang="en-US" sz="2000" b="1" dirty="0">
                <a:solidFill>
                  <a:srgbClr val="19264B"/>
                </a:solidFill>
                <a:latin typeface="NanumGothic ExtraBold"/>
                <a:ea typeface="NanumGothic ExtraBold"/>
                <a:cs typeface="NanumGothic ExtraBold"/>
                <a:sym typeface="NanumGothic ExtraBold"/>
              </a:rPr>
              <a:t>성별 예측</a:t>
            </a:r>
            <a:endParaRPr sz="2000" b="1" dirty="0">
              <a:solidFill>
                <a:srgbClr val="19264B"/>
              </a:solidFill>
              <a:latin typeface="NanumGothic ExtraBold"/>
              <a:ea typeface="NanumGothic ExtraBold"/>
              <a:cs typeface="NanumGothic ExtraBold"/>
              <a:sym typeface="NanumGothic ExtraBold"/>
            </a:endParaRPr>
          </a:p>
        </p:txBody>
      </p:sp>
      <p:sp>
        <p:nvSpPr>
          <p:cNvPr id="5" name="Google Shape;83;p16">
            <a:extLst>
              <a:ext uri="{FF2B5EF4-FFF2-40B4-BE49-F238E27FC236}">
                <a16:creationId xmlns:a16="http://schemas.microsoft.com/office/drawing/2014/main" id="{84192551-2A05-7089-914D-0D139D01D26B}"/>
              </a:ext>
            </a:extLst>
          </p:cNvPr>
          <p:cNvSpPr txBox="1"/>
          <p:nvPr/>
        </p:nvSpPr>
        <p:spPr>
          <a:xfrm>
            <a:off x="1413581" y="701607"/>
            <a:ext cx="5657882" cy="17604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ko-KR" sz="1600" b="1" dirty="0">
                <a:solidFill>
                  <a:srgbClr val="002060"/>
                </a:solidFill>
                <a:latin typeface="+mj-lt"/>
                <a:ea typeface="NanumGothic ExtraBold"/>
                <a:cs typeface="NanumGothic ExtraBold"/>
                <a:sym typeface="NanumGothic ExtraBold"/>
              </a:rPr>
              <a:t>•</a:t>
            </a:r>
            <a:r>
              <a:rPr lang="en-US" sz="1600" b="1" dirty="0">
                <a:solidFill>
                  <a:srgbClr val="002060"/>
                </a:solidFill>
                <a:latin typeface="+mj-lt"/>
                <a:ea typeface="NanumGothic ExtraBold"/>
                <a:cs typeface="NanumGothic ExtraBold"/>
                <a:sym typeface="NanumGothic ExtraBold"/>
              </a:rPr>
              <a:t> Dataset</a:t>
            </a:r>
          </a:p>
          <a:p>
            <a:pPr lvl="0">
              <a:lnSpc>
                <a:spcPct val="150000"/>
              </a:lnSpc>
            </a:pPr>
            <a:r>
              <a:rPr lang="en-US" altLang="ko-KR" b="1" dirty="0">
                <a:solidFill>
                  <a:srgbClr val="002060"/>
                </a:solidFill>
                <a:ea typeface="NanumGothic ExtraBold"/>
                <a:cs typeface="NanumGothic ExtraBold"/>
                <a:sym typeface="NanumGothic ExtraBold"/>
              </a:rPr>
              <a:t>Images</a:t>
            </a:r>
            <a:r>
              <a:rPr lang="en-US" altLang="ko-KR" dirty="0">
                <a:solidFill>
                  <a:srgbClr val="002060"/>
                </a:solidFill>
                <a:ea typeface="NanumGothic ExtraBold"/>
                <a:cs typeface="NanumGothic ExtraBold"/>
                <a:sym typeface="NanumGothic ExtraBold"/>
              </a:rPr>
              <a:t>: </a:t>
            </a:r>
            <a:r>
              <a:rPr lang="ko-KR" altLang="en-US" dirty="0">
                <a:solidFill>
                  <a:srgbClr val="002060"/>
                </a:solidFill>
                <a:latin typeface="+mj-lt"/>
                <a:ea typeface="NanumGothic ExtraBold"/>
                <a:cs typeface="NanumGothic ExtraBold"/>
                <a:sym typeface="NanumGothic ExtraBold"/>
              </a:rPr>
              <a:t>배우 </a:t>
            </a:r>
            <a:r>
              <a:rPr lang="en-US" altLang="ko-KR" dirty="0">
                <a:solidFill>
                  <a:srgbClr val="002060"/>
                </a:solidFill>
                <a:latin typeface="+mj-lt"/>
                <a:ea typeface="NanumGothic ExtraBold"/>
                <a:cs typeface="NanumGothic ExtraBold"/>
                <a:sym typeface="NanumGothic ExtraBold"/>
              </a:rPr>
              <a:t>10</a:t>
            </a:r>
            <a:r>
              <a:rPr lang="ko-KR" altLang="en-US" dirty="0">
                <a:solidFill>
                  <a:srgbClr val="002060"/>
                </a:solidFill>
                <a:latin typeface="+mj-lt"/>
                <a:ea typeface="NanumGothic ExtraBold"/>
                <a:cs typeface="NanumGothic ExtraBold"/>
                <a:sym typeface="NanumGothic ExtraBold"/>
              </a:rPr>
              <a:t>만명이 포함된 인물 중심 </a:t>
            </a:r>
            <a:r>
              <a:rPr lang="en-US" altLang="ko-KR" dirty="0">
                <a:solidFill>
                  <a:srgbClr val="002060"/>
                </a:solidFill>
                <a:latin typeface="+mj-lt"/>
                <a:ea typeface="NanumGothic ExtraBold"/>
                <a:cs typeface="NanumGothic ExtraBold"/>
                <a:sym typeface="NanumGothic ExtraBold"/>
              </a:rPr>
              <a:t>(52K)</a:t>
            </a:r>
            <a:endParaRPr lang="en-US" altLang="ko-KR" sz="1600" dirty="0">
              <a:solidFill>
                <a:srgbClr val="002060"/>
              </a:solidFill>
              <a:latin typeface="+mj-lt"/>
              <a:ea typeface="NanumGothic ExtraBold"/>
              <a:cs typeface="NanumGothic ExtraBold"/>
              <a:sym typeface="NanumGothic ExtraBold"/>
            </a:endParaRPr>
          </a:p>
          <a:p>
            <a:pPr lvl="0">
              <a:lnSpc>
                <a:spcPct val="150000"/>
              </a:lnSpc>
            </a:pPr>
            <a:r>
              <a:rPr lang="en-US" altLang="ko-KR" b="1" dirty="0">
                <a:solidFill>
                  <a:srgbClr val="002060"/>
                </a:solidFill>
                <a:latin typeface="+mj-lt"/>
              </a:rPr>
              <a:t>dob: </a:t>
            </a:r>
            <a:r>
              <a:rPr lang="en-US" altLang="ko-KR" dirty="0">
                <a:solidFill>
                  <a:srgbClr val="002060"/>
                </a:solidFill>
                <a:latin typeface="+mj-lt"/>
              </a:rPr>
              <a:t>date of birth</a:t>
            </a:r>
          </a:p>
          <a:p>
            <a:pPr lvl="0">
              <a:lnSpc>
                <a:spcPct val="150000"/>
              </a:lnSpc>
            </a:pPr>
            <a:r>
              <a:rPr lang="en-US" altLang="ko-KR" b="1" dirty="0" err="1">
                <a:solidFill>
                  <a:srgbClr val="002060"/>
                </a:solidFill>
                <a:latin typeface="+mj-lt"/>
              </a:rPr>
              <a:t>photo_taken</a:t>
            </a:r>
            <a:r>
              <a:rPr lang="en-US" altLang="ko-KR" b="1" dirty="0">
                <a:solidFill>
                  <a:srgbClr val="002060"/>
                </a:solidFill>
                <a:latin typeface="+mj-lt"/>
              </a:rPr>
              <a:t>: </a:t>
            </a:r>
            <a:r>
              <a:rPr lang="en-US" altLang="ko-KR" dirty="0">
                <a:solidFill>
                  <a:srgbClr val="002060"/>
                </a:solidFill>
                <a:latin typeface="+mj-lt"/>
              </a:rPr>
              <a:t>year when the photo was taken</a:t>
            </a:r>
            <a:endParaRPr lang="en-US" altLang="ko-KR" b="1" dirty="0">
              <a:solidFill>
                <a:srgbClr val="002060"/>
              </a:solidFill>
              <a:latin typeface="+mj-lt"/>
            </a:endParaRPr>
          </a:p>
          <a:p>
            <a:pPr lvl="0">
              <a:lnSpc>
                <a:spcPct val="150000"/>
              </a:lnSpc>
            </a:pPr>
            <a:r>
              <a:rPr lang="en-US" altLang="ko-KR" b="1" dirty="0">
                <a:solidFill>
                  <a:srgbClr val="002060"/>
                </a:solidFill>
                <a:latin typeface="+mj-lt"/>
              </a:rPr>
              <a:t>gender: </a:t>
            </a:r>
            <a:r>
              <a:rPr lang="en-US" altLang="ko-KR" dirty="0">
                <a:solidFill>
                  <a:srgbClr val="002060"/>
                </a:solidFill>
                <a:latin typeface="+mj-lt"/>
              </a:rPr>
              <a:t>0 for female and 1 for male</a:t>
            </a:r>
            <a:endParaRPr sz="1600" dirty="0">
              <a:solidFill>
                <a:srgbClr val="002060"/>
              </a:solidFill>
              <a:latin typeface="+mj-lt"/>
              <a:ea typeface="NanumGothic ExtraBold"/>
              <a:cs typeface="NanumGothic ExtraBold"/>
              <a:sym typeface="NanumGothic ExtraBold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7A7BEA63-66B3-D6F6-F79C-3A8898EB6C7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65069" y="2502268"/>
            <a:ext cx="6145114" cy="2478204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7389214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">
          <a:extLst>
            <a:ext uri="{FF2B5EF4-FFF2-40B4-BE49-F238E27FC236}">
              <a16:creationId xmlns:a16="http://schemas.microsoft.com/office/drawing/2014/main" id="{686A5432-7401-D443-3795-5108F87107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5">
            <a:extLst>
              <a:ext uri="{FF2B5EF4-FFF2-40B4-BE49-F238E27FC236}">
                <a16:creationId xmlns:a16="http://schemas.microsoft.com/office/drawing/2014/main" id="{E68E1B1F-2AC9-48F1-BB5C-1795AEB8AA9C}"/>
              </a:ext>
            </a:extLst>
          </p:cNvPr>
          <p:cNvSpPr/>
          <p:nvPr/>
        </p:nvSpPr>
        <p:spPr>
          <a:xfrm>
            <a:off x="0" y="-37950"/>
            <a:ext cx="1181100" cy="5219400"/>
          </a:xfrm>
          <a:prstGeom prst="rect">
            <a:avLst/>
          </a:prstGeom>
          <a:solidFill>
            <a:srgbClr val="19264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73" name="Google Shape;73;p15">
            <a:extLst>
              <a:ext uri="{FF2B5EF4-FFF2-40B4-BE49-F238E27FC236}">
                <a16:creationId xmlns:a16="http://schemas.microsoft.com/office/drawing/2014/main" id="{26EB554D-1CC8-9C06-C870-DDD7E175BA54}"/>
              </a:ext>
            </a:extLst>
          </p:cNvPr>
          <p:cNvCxnSpPr/>
          <p:nvPr/>
        </p:nvCxnSpPr>
        <p:spPr>
          <a:xfrm>
            <a:off x="172875" y="-37950"/>
            <a:ext cx="0" cy="218700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74" name="Google Shape;74;p15">
            <a:extLst>
              <a:ext uri="{FF2B5EF4-FFF2-40B4-BE49-F238E27FC236}">
                <a16:creationId xmlns:a16="http://schemas.microsoft.com/office/drawing/2014/main" id="{EA9F93B2-CA8A-C94D-B86E-23CC4207AE51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00">
            <a:off x="-928700" y="3071650"/>
            <a:ext cx="3038475" cy="11811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Google Shape;83;p16">
            <a:extLst>
              <a:ext uri="{FF2B5EF4-FFF2-40B4-BE49-F238E27FC236}">
                <a16:creationId xmlns:a16="http://schemas.microsoft.com/office/drawing/2014/main" id="{A770141C-A705-46D9-4B73-D3540132344F}"/>
              </a:ext>
            </a:extLst>
          </p:cNvPr>
          <p:cNvSpPr txBox="1"/>
          <p:nvPr/>
        </p:nvSpPr>
        <p:spPr>
          <a:xfrm>
            <a:off x="1413593" y="163028"/>
            <a:ext cx="5936276" cy="5385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>
              <a:lnSpc>
                <a:spcPct val="115000"/>
              </a:lnSpc>
            </a:pPr>
            <a:r>
              <a:rPr lang="en-US" altLang="ko-KR" sz="2000" b="1" dirty="0">
                <a:solidFill>
                  <a:srgbClr val="19264B"/>
                </a:solidFill>
                <a:latin typeface="NanumGothic ExtraBold"/>
                <a:ea typeface="NanumGothic ExtraBold"/>
                <a:cs typeface="NanumGothic ExtraBold"/>
                <a:sym typeface="NanumGothic ExtraBold"/>
              </a:rPr>
              <a:t>IMDB-WIKI</a:t>
            </a:r>
            <a:r>
              <a:rPr lang="ko-KR" altLang="en-US" sz="2000" b="1" dirty="0">
                <a:solidFill>
                  <a:srgbClr val="19264B"/>
                </a:solidFill>
                <a:latin typeface="NanumGothic ExtraBold"/>
                <a:ea typeface="NanumGothic ExtraBold"/>
                <a:cs typeface="NanumGothic ExtraBold"/>
                <a:sym typeface="NanumGothic ExtraBold"/>
              </a:rPr>
              <a:t> </a:t>
            </a:r>
            <a:r>
              <a:rPr lang="en-US" altLang="ko-KR" sz="2000" b="1" dirty="0">
                <a:solidFill>
                  <a:srgbClr val="19264B"/>
                </a:solidFill>
                <a:latin typeface="NanumGothic ExtraBold"/>
                <a:ea typeface="NanumGothic ExtraBold"/>
                <a:cs typeface="NanumGothic ExtraBold"/>
                <a:sym typeface="NanumGothic ExtraBold"/>
              </a:rPr>
              <a:t>dataset</a:t>
            </a:r>
            <a:r>
              <a:rPr lang="ko-KR" altLang="en-US" sz="2000" b="1" dirty="0">
                <a:solidFill>
                  <a:srgbClr val="19264B"/>
                </a:solidFill>
                <a:latin typeface="NanumGothic ExtraBold"/>
                <a:ea typeface="NanumGothic ExtraBold"/>
                <a:cs typeface="NanumGothic ExtraBold"/>
                <a:sym typeface="NanumGothic ExtraBold"/>
              </a:rPr>
              <a:t>을 활용한 나이</a:t>
            </a:r>
            <a:r>
              <a:rPr lang="en-US" altLang="ko-KR" sz="2000" b="1" dirty="0">
                <a:solidFill>
                  <a:srgbClr val="19264B"/>
                </a:solidFill>
                <a:latin typeface="NanumGothic ExtraBold"/>
                <a:ea typeface="NanumGothic ExtraBold"/>
                <a:cs typeface="NanumGothic ExtraBold"/>
                <a:sym typeface="NanumGothic ExtraBold"/>
              </a:rPr>
              <a:t>, </a:t>
            </a:r>
            <a:r>
              <a:rPr lang="ko-KR" altLang="en-US" sz="2000" b="1" dirty="0">
                <a:solidFill>
                  <a:srgbClr val="19264B"/>
                </a:solidFill>
                <a:latin typeface="NanumGothic ExtraBold"/>
                <a:ea typeface="NanumGothic ExtraBold"/>
                <a:cs typeface="NanumGothic ExtraBold"/>
                <a:sym typeface="NanumGothic ExtraBold"/>
              </a:rPr>
              <a:t>성별 예측</a:t>
            </a:r>
            <a:endParaRPr sz="2000" b="1" dirty="0">
              <a:solidFill>
                <a:srgbClr val="19264B"/>
              </a:solidFill>
              <a:latin typeface="NanumGothic ExtraBold"/>
              <a:ea typeface="NanumGothic ExtraBold"/>
              <a:cs typeface="NanumGothic ExtraBold"/>
              <a:sym typeface="NanumGothic ExtraBold"/>
            </a:endParaRPr>
          </a:p>
        </p:txBody>
      </p:sp>
      <p:sp>
        <p:nvSpPr>
          <p:cNvPr id="5" name="Google Shape;83;p16">
            <a:extLst>
              <a:ext uri="{FF2B5EF4-FFF2-40B4-BE49-F238E27FC236}">
                <a16:creationId xmlns:a16="http://schemas.microsoft.com/office/drawing/2014/main" id="{75B041A4-ACA7-EEAF-9005-A6261C73FA58}"/>
              </a:ext>
            </a:extLst>
          </p:cNvPr>
          <p:cNvSpPr txBox="1"/>
          <p:nvPr/>
        </p:nvSpPr>
        <p:spPr>
          <a:xfrm>
            <a:off x="1413581" y="701607"/>
            <a:ext cx="5463920" cy="9633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ko-KR" sz="1600" b="1" dirty="0">
                <a:solidFill>
                  <a:srgbClr val="002060"/>
                </a:solidFill>
                <a:latin typeface="+mn-lt"/>
                <a:ea typeface="NanumGothic ExtraBold"/>
                <a:cs typeface="NanumGothic ExtraBold"/>
                <a:sym typeface="NanumGothic ExtraBold"/>
              </a:rPr>
              <a:t>•</a:t>
            </a:r>
            <a:r>
              <a:rPr lang="en-US" sz="1600" b="1" dirty="0">
                <a:solidFill>
                  <a:srgbClr val="002060"/>
                </a:solidFill>
                <a:latin typeface="+mn-lt"/>
                <a:ea typeface="NanumGothic ExtraBold"/>
                <a:cs typeface="NanumGothic ExtraBold"/>
                <a:sym typeface="NanumGothic ExtraBold"/>
              </a:rPr>
              <a:t> Model</a:t>
            </a:r>
          </a:p>
          <a:p>
            <a:pPr lvl="0">
              <a:lnSpc>
                <a:spcPct val="115000"/>
              </a:lnSpc>
            </a:pPr>
            <a:r>
              <a:rPr lang="en-US" altLang="ko-KR" b="1" dirty="0" err="1">
                <a:solidFill>
                  <a:srgbClr val="002060"/>
                </a:solidFill>
                <a:latin typeface="+mn-lt"/>
              </a:rPr>
              <a:t>ConvNeXT</a:t>
            </a:r>
            <a:r>
              <a:rPr lang="en-US" altLang="ko-KR" dirty="0">
                <a:solidFill>
                  <a:srgbClr val="002060"/>
                </a:solidFill>
                <a:latin typeface="+mn-lt"/>
              </a:rPr>
              <a:t> (base-sized) pre-trained on ImageNet-22k </a:t>
            </a:r>
          </a:p>
          <a:p>
            <a:pPr lvl="0">
              <a:lnSpc>
                <a:spcPct val="115000"/>
              </a:lnSpc>
            </a:pPr>
            <a:r>
              <a:rPr lang="en-US" altLang="ko-KR" dirty="0">
                <a:solidFill>
                  <a:srgbClr val="002060"/>
                </a:solidFill>
                <a:latin typeface="+mn-lt"/>
              </a:rPr>
              <a:t>and fine-tuned on ImageNet-1k at resolution 224x224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447CBC99-A48F-C61D-9555-391270A1086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12271" y="1819957"/>
            <a:ext cx="2892631" cy="2998517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7" name="Google Shape;83;p16">
            <a:extLst>
              <a:ext uri="{FF2B5EF4-FFF2-40B4-BE49-F238E27FC236}">
                <a16:creationId xmlns:a16="http://schemas.microsoft.com/office/drawing/2014/main" id="{4DFFC4C5-9727-332C-D0B6-E99217ED17DF}"/>
              </a:ext>
            </a:extLst>
          </p:cNvPr>
          <p:cNvSpPr txBox="1"/>
          <p:nvPr/>
        </p:nvSpPr>
        <p:spPr>
          <a:xfrm>
            <a:off x="4893414" y="2393429"/>
            <a:ext cx="3877083" cy="16711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>
              <a:lnSpc>
                <a:spcPct val="115000"/>
              </a:lnSpc>
            </a:pPr>
            <a:r>
              <a:rPr lang="ko-KR" altLang="en-US" dirty="0">
                <a:solidFill>
                  <a:srgbClr val="002060"/>
                </a:solidFill>
              </a:rPr>
              <a:t>대규모 </a:t>
            </a:r>
            <a:r>
              <a:rPr lang="en-US" altLang="ko-KR" dirty="0">
                <a:solidFill>
                  <a:srgbClr val="002060"/>
                </a:solidFill>
              </a:rPr>
              <a:t>ImageNet-22k </a:t>
            </a:r>
            <a:r>
              <a:rPr lang="ko-KR" altLang="en-US" dirty="0">
                <a:solidFill>
                  <a:srgbClr val="002060"/>
                </a:solidFill>
              </a:rPr>
              <a:t>학습</a:t>
            </a:r>
            <a:endParaRPr lang="en-US" altLang="ko-KR" dirty="0">
              <a:solidFill>
                <a:srgbClr val="002060"/>
              </a:solidFill>
            </a:endParaRPr>
          </a:p>
          <a:p>
            <a:pPr lvl="0">
              <a:lnSpc>
                <a:spcPct val="115000"/>
              </a:lnSpc>
            </a:pPr>
            <a:r>
              <a:rPr lang="en-US" altLang="ko-KR" dirty="0">
                <a:solidFill>
                  <a:srgbClr val="002060"/>
                </a:solidFill>
              </a:rPr>
              <a:t>+</a:t>
            </a:r>
          </a:p>
          <a:p>
            <a:pPr lvl="0">
              <a:lnSpc>
                <a:spcPct val="115000"/>
              </a:lnSpc>
            </a:pPr>
            <a:r>
              <a:rPr lang="ko-KR" altLang="en-US" dirty="0">
                <a:solidFill>
                  <a:srgbClr val="002060"/>
                </a:solidFill>
              </a:rPr>
              <a:t>현대적 </a:t>
            </a:r>
            <a:r>
              <a:rPr lang="en-US" altLang="ko-KR" dirty="0" err="1">
                <a:solidFill>
                  <a:srgbClr val="002060"/>
                </a:solidFill>
              </a:rPr>
              <a:t>ConvNeXt</a:t>
            </a:r>
            <a:r>
              <a:rPr lang="en-US" altLang="ko-KR" dirty="0">
                <a:solidFill>
                  <a:srgbClr val="002060"/>
                </a:solidFill>
              </a:rPr>
              <a:t> </a:t>
            </a:r>
            <a:r>
              <a:rPr lang="ko-KR" altLang="en-US" dirty="0">
                <a:solidFill>
                  <a:srgbClr val="002060"/>
                </a:solidFill>
              </a:rPr>
              <a:t>아키텍처의 강력한 표현력</a:t>
            </a:r>
            <a:endParaRPr lang="en-US" altLang="ko-KR" dirty="0">
              <a:solidFill>
                <a:srgbClr val="002060"/>
              </a:solidFill>
            </a:endParaRPr>
          </a:p>
          <a:p>
            <a:pPr lvl="0">
              <a:lnSpc>
                <a:spcPct val="115000"/>
              </a:lnSpc>
            </a:pPr>
            <a:endParaRPr lang="en-US" altLang="ko-KR" dirty="0">
              <a:solidFill>
                <a:srgbClr val="002060"/>
              </a:solidFill>
            </a:endParaRPr>
          </a:p>
          <a:p>
            <a:pPr lvl="0">
              <a:lnSpc>
                <a:spcPct val="115000"/>
              </a:lnSpc>
            </a:pPr>
            <a:r>
              <a:rPr lang="en-US" altLang="ko-KR" b="1" dirty="0">
                <a:solidFill>
                  <a:srgbClr val="002060"/>
                </a:solidFill>
              </a:rPr>
              <a:t>= Strong visual representation</a:t>
            </a:r>
          </a:p>
          <a:p>
            <a:pPr lvl="0">
              <a:lnSpc>
                <a:spcPct val="115000"/>
              </a:lnSpc>
            </a:pPr>
            <a:r>
              <a:rPr lang="en-US" altLang="ko-KR" dirty="0"/>
              <a:t> </a:t>
            </a:r>
            <a:endParaRPr lang="en-US" altLang="ko-KR" dirty="0">
              <a:solidFill>
                <a:srgbClr val="002060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40412578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">
          <a:extLst>
            <a:ext uri="{FF2B5EF4-FFF2-40B4-BE49-F238E27FC236}">
              <a16:creationId xmlns:a16="http://schemas.microsoft.com/office/drawing/2014/main" id="{4552C92D-8BAE-C4A3-BD20-AEA909260D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5">
            <a:extLst>
              <a:ext uri="{FF2B5EF4-FFF2-40B4-BE49-F238E27FC236}">
                <a16:creationId xmlns:a16="http://schemas.microsoft.com/office/drawing/2014/main" id="{9BDF8BDC-F80C-AF3B-BCD4-68DF6AEC6A96}"/>
              </a:ext>
            </a:extLst>
          </p:cNvPr>
          <p:cNvSpPr/>
          <p:nvPr/>
        </p:nvSpPr>
        <p:spPr>
          <a:xfrm>
            <a:off x="0" y="-37950"/>
            <a:ext cx="1181100" cy="5219400"/>
          </a:xfrm>
          <a:prstGeom prst="rect">
            <a:avLst/>
          </a:prstGeom>
          <a:solidFill>
            <a:srgbClr val="19264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73" name="Google Shape;73;p15">
            <a:extLst>
              <a:ext uri="{FF2B5EF4-FFF2-40B4-BE49-F238E27FC236}">
                <a16:creationId xmlns:a16="http://schemas.microsoft.com/office/drawing/2014/main" id="{C0B777B1-AC46-F4A2-F15A-EE2C2A129C85}"/>
              </a:ext>
            </a:extLst>
          </p:cNvPr>
          <p:cNvCxnSpPr/>
          <p:nvPr/>
        </p:nvCxnSpPr>
        <p:spPr>
          <a:xfrm>
            <a:off x="172875" y="-37950"/>
            <a:ext cx="0" cy="218700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74" name="Google Shape;74;p15">
            <a:extLst>
              <a:ext uri="{FF2B5EF4-FFF2-40B4-BE49-F238E27FC236}">
                <a16:creationId xmlns:a16="http://schemas.microsoft.com/office/drawing/2014/main" id="{116D0604-4F3B-C427-730F-A469EAE9E455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00">
            <a:off x="-928700" y="3071650"/>
            <a:ext cx="3038475" cy="11811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Google Shape;83;p16">
            <a:extLst>
              <a:ext uri="{FF2B5EF4-FFF2-40B4-BE49-F238E27FC236}">
                <a16:creationId xmlns:a16="http://schemas.microsoft.com/office/drawing/2014/main" id="{BB3DA658-70C8-21A7-A155-78A57D2B1A41}"/>
              </a:ext>
            </a:extLst>
          </p:cNvPr>
          <p:cNvSpPr txBox="1"/>
          <p:nvPr/>
        </p:nvSpPr>
        <p:spPr>
          <a:xfrm>
            <a:off x="1413593" y="163028"/>
            <a:ext cx="5936276" cy="5385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>
              <a:lnSpc>
                <a:spcPct val="115000"/>
              </a:lnSpc>
            </a:pPr>
            <a:r>
              <a:rPr lang="en-US" altLang="ko-KR" sz="2000" b="1" dirty="0">
                <a:solidFill>
                  <a:srgbClr val="19264B"/>
                </a:solidFill>
                <a:latin typeface="NanumGothic ExtraBold"/>
                <a:ea typeface="NanumGothic ExtraBold"/>
                <a:cs typeface="NanumGothic ExtraBold"/>
                <a:sym typeface="NanumGothic ExtraBold"/>
              </a:rPr>
              <a:t>IMDB-WIKI</a:t>
            </a:r>
            <a:r>
              <a:rPr lang="ko-KR" altLang="en-US" sz="2000" b="1" dirty="0">
                <a:solidFill>
                  <a:srgbClr val="19264B"/>
                </a:solidFill>
                <a:latin typeface="NanumGothic ExtraBold"/>
                <a:ea typeface="NanumGothic ExtraBold"/>
                <a:cs typeface="NanumGothic ExtraBold"/>
                <a:sym typeface="NanumGothic ExtraBold"/>
              </a:rPr>
              <a:t> </a:t>
            </a:r>
            <a:r>
              <a:rPr lang="en-US" altLang="ko-KR" sz="2000" b="1" dirty="0">
                <a:solidFill>
                  <a:srgbClr val="19264B"/>
                </a:solidFill>
                <a:latin typeface="NanumGothic ExtraBold"/>
                <a:ea typeface="NanumGothic ExtraBold"/>
                <a:cs typeface="NanumGothic ExtraBold"/>
                <a:sym typeface="NanumGothic ExtraBold"/>
              </a:rPr>
              <a:t>dataset</a:t>
            </a:r>
            <a:r>
              <a:rPr lang="ko-KR" altLang="en-US" sz="2000" b="1" dirty="0">
                <a:solidFill>
                  <a:srgbClr val="19264B"/>
                </a:solidFill>
                <a:latin typeface="NanumGothic ExtraBold"/>
                <a:ea typeface="NanumGothic ExtraBold"/>
                <a:cs typeface="NanumGothic ExtraBold"/>
                <a:sym typeface="NanumGothic ExtraBold"/>
              </a:rPr>
              <a:t>을 활용한 나이</a:t>
            </a:r>
            <a:r>
              <a:rPr lang="en-US" altLang="ko-KR" sz="2000" b="1" dirty="0">
                <a:solidFill>
                  <a:srgbClr val="19264B"/>
                </a:solidFill>
                <a:latin typeface="NanumGothic ExtraBold"/>
                <a:ea typeface="NanumGothic ExtraBold"/>
                <a:cs typeface="NanumGothic ExtraBold"/>
                <a:sym typeface="NanumGothic ExtraBold"/>
              </a:rPr>
              <a:t>, </a:t>
            </a:r>
            <a:r>
              <a:rPr lang="ko-KR" altLang="en-US" sz="2000" b="1" dirty="0">
                <a:solidFill>
                  <a:srgbClr val="19264B"/>
                </a:solidFill>
                <a:latin typeface="NanumGothic ExtraBold"/>
                <a:ea typeface="NanumGothic ExtraBold"/>
                <a:cs typeface="NanumGothic ExtraBold"/>
                <a:sym typeface="NanumGothic ExtraBold"/>
              </a:rPr>
              <a:t>성별 예측</a:t>
            </a:r>
            <a:endParaRPr sz="2000" b="1" dirty="0">
              <a:solidFill>
                <a:srgbClr val="19264B"/>
              </a:solidFill>
              <a:latin typeface="NanumGothic ExtraBold"/>
              <a:ea typeface="NanumGothic ExtraBold"/>
              <a:cs typeface="NanumGothic ExtraBold"/>
              <a:sym typeface="NanumGothic ExtraBold"/>
            </a:endParaRPr>
          </a:p>
        </p:txBody>
      </p:sp>
      <p:sp>
        <p:nvSpPr>
          <p:cNvPr id="5" name="Google Shape;83;p16">
            <a:extLst>
              <a:ext uri="{FF2B5EF4-FFF2-40B4-BE49-F238E27FC236}">
                <a16:creationId xmlns:a16="http://schemas.microsoft.com/office/drawing/2014/main" id="{136B95F0-B8EE-0776-C888-E06644DB1D94}"/>
              </a:ext>
            </a:extLst>
          </p:cNvPr>
          <p:cNvSpPr txBox="1"/>
          <p:nvPr/>
        </p:nvSpPr>
        <p:spPr>
          <a:xfrm>
            <a:off x="1413593" y="701607"/>
            <a:ext cx="5463920" cy="12110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ko-KR" sz="1600" b="1" dirty="0">
                <a:solidFill>
                  <a:srgbClr val="002060"/>
                </a:solidFill>
                <a:latin typeface="+mn-lt"/>
                <a:ea typeface="NanumGothic ExtraBold"/>
                <a:cs typeface="NanumGothic ExtraBold"/>
                <a:sym typeface="NanumGothic ExtraBold"/>
              </a:rPr>
              <a:t>•</a:t>
            </a:r>
            <a:r>
              <a:rPr lang="en-US" sz="1600" b="1" dirty="0">
                <a:solidFill>
                  <a:srgbClr val="002060"/>
                </a:solidFill>
                <a:latin typeface="+mn-lt"/>
                <a:ea typeface="NanumGothic ExtraBold"/>
                <a:cs typeface="NanumGothic ExtraBold"/>
                <a:sym typeface="NanumGothic ExtraBold"/>
              </a:rPr>
              <a:t> Result</a:t>
            </a:r>
          </a:p>
          <a:p>
            <a:pPr lvl="0">
              <a:lnSpc>
                <a:spcPct val="115000"/>
              </a:lnSpc>
            </a:pPr>
            <a:r>
              <a:rPr lang="en-US" dirty="0">
                <a:solidFill>
                  <a:srgbClr val="002060"/>
                </a:solidFill>
                <a:latin typeface="+mn-lt"/>
                <a:ea typeface="NanumGothic ExtraBold"/>
                <a:cs typeface="NanumGothic ExtraBold"/>
                <a:sym typeface="NanumGothic ExtraBold"/>
              </a:rPr>
              <a:t>Learning Rate = 1e-4</a:t>
            </a:r>
          </a:p>
          <a:p>
            <a:pPr lvl="0">
              <a:lnSpc>
                <a:spcPct val="115000"/>
              </a:lnSpc>
            </a:pPr>
            <a:r>
              <a:rPr lang="en-US" dirty="0">
                <a:solidFill>
                  <a:srgbClr val="002060"/>
                </a:solidFill>
                <a:latin typeface="+mn-lt"/>
                <a:ea typeface="NanumGothic ExtraBold"/>
                <a:cs typeface="NanumGothic ExtraBold"/>
                <a:sym typeface="NanumGothic ExtraBold"/>
              </a:rPr>
              <a:t>Epoch = 10</a:t>
            </a:r>
          </a:p>
          <a:p>
            <a:pPr lvl="0">
              <a:lnSpc>
                <a:spcPct val="115000"/>
              </a:lnSpc>
            </a:pPr>
            <a:r>
              <a:rPr lang="en-US" dirty="0">
                <a:solidFill>
                  <a:srgbClr val="002060"/>
                </a:solidFill>
                <a:latin typeface="+mn-lt"/>
                <a:ea typeface="NanumGothic ExtraBold"/>
                <a:cs typeface="NanumGothic ExtraBold"/>
                <a:sym typeface="NanumGothic ExtraBold"/>
              </a:rPr>
              <a:t>Batch size = 32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35EECBB9-BD82-C7D9-1943-C08252E59937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7079"/>
          <a:stretch>
            <a:fillRect/>
          </a:stretch>
        </p:blipFill>
        <p:spPr>
          <a:xfrm>
            <a:off x="1919807" y="2301167"/>
            <a:ext cx="6301126" cy="2308875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60724590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">
          <a:extLst>
            <a:ext uri="{FF2B5EF4-FFF2-40B4-BE49-F238E27FC236}">
              <a16:creationId xmlns:a16="http://schemas.microsoft.com/office/drawing/2014/main" id="{136F224E-3B2B-A343-7802-B901CC8863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5">
            <a:extLst>
              <a:ext uri="{FF2B5EF4-FFF2-40B4-BE49-F238E27FC236}">
                <a16:creationId xmlns:a16="http://schemas.microsoft.com/office/drawing/2014/main" id="{9EDA5510-2382-7EE8-9E41-E3E33A331268}"/>
              </a:ext>
            </a:extLst>
          </p:cNvPr>
          <p:cNvSpPr/>
          <p:nvPr/>
        </p:nvSpPr>
        <p:spPr>
          <a:xfrm>
            <a:off x="0" y="-37950"/>
            <a:ext cx="1181100" cy="5219400"/>
          </a:xfrm>
          <a:prstGeom prst="rect">
            <a:avLst/>
          </a:prstGeom>
          <a:solidFill>
            <a:srgbClr val="19264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73" name="Google Shape;73;p15">
            <a:extLst>
              <a:ext uri="{FF2B5EF4-FFF2-40B4-BE49-F238E27FC236}">
                <a16:creationId xmlns:a16="http://schemas.microsoft.com/office/drawing/2014/main" id="{056389D2-7032-01DA-6CB7-4B4F763E9451}"/>
              </a:ext>
            </a:extLst>
          </p:cNvPr>
          <p:cNvCxnSpPr/>
          <p:nvPr/>
        </p:nvCxnSpPr>
        <p:spPr>
          <a:xfrm>
            <a:off x="172875" y="-37950"/>
            <a:ext cx="0" cy="218700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74" name="Google Shape;74;p15">
            <a:extLst>
              <a:ext uri="{FF2B5EF4-FFF2-40B4-BE49-F238E27FC236}">
                <a16:creationId xmlns:a16="http://schemas.microsoft.com/office/drawing/2014/main" id="{677FB52B-C59A-7906-F865-BBBD29DC3690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00">
            <a:off x="-928700" y="3071650"/>
            <a:ext cx="3038475" cy="11811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Google Shape;83;p16">
            <a:extLst>
              <a:ext uri="{FF2B5EF4-FFF2-40B4-BE49-F238E27FC236}">
                <a16:creationId xmlns:a16="http://schemas.microsoft.com/office/drawing/2014/main" id="{3C29B023-12B8-D729-630B-5B800C704D8B}"/>
              </a:ext>
            </a:extLst>
          </p:cNvPr>
          <p:cNvSpPr txBox="1"/>
          <p:nvPr/>
        </p:nvSpPr>
        <p:spPr>
          <a:xfrm>
            <a:off x="1413593" y="163028"/>
            <a:ext cx="5936276" cy="5385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>
              <a:lnSpc>
                <a:spcPct val="115000"/>
              </a:lnSpc>
            </a:pPr>
            <a:r>
              <a:rPr lang="en-US" altLang="ko-KR" sz="2000" b="1" dirty="0">
                <a:solidFill>
                  <a:srgbClr val="19264B"/>
                </a:solidFill>
                <a:latin typeface="NanumGothic ExtraBold"/>
                <a:ea typeface="NanumGothic ExtraBold"/>
                <a:cs typeface="NanumGothic ExtraBold"/>
                <a:sym typeface="NanumGothic ExtraBold"/>
              </a:rPr>
              <a:t>IMDB-WIKI</a:t>
            </a:r>
            <a:r>
              <a:rPr lang="ko-KR" altLang="en-US" sz="2000" b="1" dirty="0">
                <a:solidFill>
                  <a:srgbClr val="19264B"/>
                </a:solidFill>
                <a:latin typeface="NanumGothic ExtraBold"/>
                <a:ea typeface="NanumGothic ExtraBold"/>
                <a:cs typeface="NanumGothic ExtraBold"/>
                <a:sym typeface="NanumGothic ExtraBold"/>
              </a:rPr>
              <a:t> </a:t>
            </a:r>
            <a:r>
              <a:rPr lang="en-US" altLang="ko-KR" sz="2000" b="1" dirty="0">
                <a:solidFill>
                  <a:srgbClr val="19264B"/>
                </a:solidFill>
                <a:latin typeface="NanumGothic ExtraBold"/>
                <a:ea typeface="NanumGothic ExtraBold"/>
                <a:cs typeface="NanumGothic ExtraBold"/>
                <a:sym typeface="NanumGothic ExtraBold"/>
              </a:rPr>
              <a:t>dataset</a:t>
            </a:r>
            <a:r>
              <a:rPr lang="ko-KR" altLang="en-US" sz="2000" b="1" dirty="0">
                <a:solidFill>
                  <a:srgbClr val="19264B"/>
                </a:solidFill>
                <a:latin typeface="NanumGothic ExtraBold"/>
                <a:ea typeface="NanumGothic ExtraBold"/>
                <a:cs typeface="NanumGothic ExtraBold"/>
                <a:sym typeface="NanumGothic ExtraBold"/>
              </a:rPr>
              <a:t>을 활용한 나이</a:t>
            </a:r>
            <a:r>
              <a:rPr lang="en-US" altLang="ko-KR" sz="2000" b="1" dirty="0">
                <a:solidFill>
                  <a:srgbClr val="19264B"/>
                </a:solidFill>
                <a:latin typeface="NanumGothic ExtraBold"/>
                <a:ea typeface="NanumGothic ExtraBold"/>
                <a:cs typeface="NanumGothic ExtraBold"/>
                <a:sym typeface="NanumGothic ExtraBold"/>
              </a:rPr>
              <a:t>, </a:t>
            </a:r>
            <a:r>
              <a:rPr lang="ko-KR" altLang="en-US" sz="2000" b="1" dirty="0">
                <a:solidFill>
                  <a:srgbClr val="19264B"/>
                </a:solidFill>
                <a:latin typeface="NanumGothic ExtraBold"/>
                <a:ea typeface="NanumGothic ExtraBold"/>
                <a:cs typeface="NanumGothic ExtraBold"/>
                <a:sym typeface="NanumGothic ExtraBold"/>
              </a:rPr>
              <a:t>성별 예측</a:t>
            </a:r>
            <a:endParaRPr sz="2000" b="1" dirty="0">
              <a:solidFill>
                <a:srgbClr val="19264B"/>
              </a:solidFill>
              <a:latin typeface="NanumGothic ExtraBold"/>
              <a:ea typeface="NanumGothic ExtraBold"/>
              <a:cs typeface="NanumGothic ExtraBold"/>
              <a:sym typeface="NanumGothic ExtraBold"/>
            </a:endParaRPr>
          </a:p>
        </p:txBody>
      </p:sp>
      <p:sp>
        <p:nvSpPr>
          <p:cNvPr id="5" name="Google Shape;83;p16">
            <a:extLst>
              <a:ext uri="{FF2B5EF4-FFF2-40B4-BE49-F238E27FC236}">
                <a16:creationId xmlns:a16="http://schemas.microsoft.com/office/drawing/2014/main" id="{9541B422-225C-7DA1-DD0A-180379AA8CEF}"/>
              </a:ext>
            </a:extLst>
          </p:cNvPr>
          <p:cNvSpPr txBox="1"/>
          <p:nvPr/>
        </p:nvSpPr>
        <p:spPr>
          <a:xfrm>
            <a:off x="1413593" y="701607"/>
            <a:ext cx="5463920" cy="4677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ko-KR" sz="1600" b="1" dirty="0">
                <a:solidFill>
                  <a:srgbClr val="002060"/>
                </a:solidFill>
                <a:latin typeface="+mn-lt"/>
                <a:ea typeface="NanumGothic ExtraBold"/>
                <a:cs typeface="NanumGothic ExtraBold"/>
                <a:sym typeface="NanumGothic ExtraBold"/>
              </a:rPr>
              <a:t>•</a:t>
            </a:r>
            <a:r>
              <a:rPr lang="en-US" sz="1600" b="1" dirty="0">
                <a:solidFill>
                  <a:srgbClr val="002060"/>
                </a:solidFill>
                <a:latin typeface="+mn-lt"/>
                <a:ea typeface="NanumGothic ExtraBold"/>
                <a:cs typeface="NanumGothic ExtraBold"/>
                <a:sym typeface="NanumGothic ExtraBold"/>
              </a:rPr>
              <a:t> demo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6F30F01B-319C-BDA3-A9C2-374E276B2F65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3709" b="5453"/>
          <a:stretch>
            <a:fillRect/>
          </a:stretch>
        </p:blipFill>
        <p:spPr>
          <a:xfrm>
            <a:off x="2285146" y="1572925"/>
            <a:ext cx="2410781" cy="2135588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F95BD74F-4704-A8FB-83DD-17CDCB44222E}"/>
              </a:ext>
            </a:extLst>
          </p:cNvPr>
          <p:cNvSpPr txBox="1"/>
          <p:nvPr/>
        </p:nvSpPr>
        <p:spPr>
          <a:xfrm>
            <a:off x="1315790" y="3806458"/>
            <a:ext cx="434949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US" altLang="ko-KR" dirty="0">
                <a:solidFill>
                  <a:srgbClr val="002060"/>
                </a:solidFill>
                <a:effectLst/>
                <a:latin typeface="+mj-lt"/>
              </a:rPr>
              <a:t>{'gender': 'male’, '</a:t>
            </a:r>
            <a:r>
              <a:rPr lang="en-US" altLang="ko-KR" dirty="0" err="1">
                <a:solidFill>
                  <a:srgbClr val="002060"/>
                </a:solidFill>
                <a:effectLst/>
                <a:latin typeface="+mj-lt"/>
              </a:rPr>
              <a:t>gender_prob</a:t>
            </a:r>
            <a:r>
              <a:rPr lang="en-US" altLang="ko-KR" dirty="0">
                <a:solidFill>
                  <a:srgbClr val="002060"/>
                </a:solidFill>
                <a:effectLst/>
                <a:latin typeface="+mj-lt"/>
              </a:rPr>
              <a:t>': 0.705, 'age': 31.5}</a:t>
            </a: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9BE3A90B-66C2-CBAD-AE97-178023C64244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2096" t="1591" r="1438" b="4836"/>
          <a:stretch>
            <a:fillRect/>
          </a:stretch>
        </p:blipFill>
        <p:spPr>
          <a:xfrm>
            <a:off x="6245240" y="1572925"/>
            <a:ext cx="2410781" cy="2398133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20957810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">
          <a:extLst>
            <a:ext uri="{FF2B5EF4-FFF2-40B4-BE49-F238E27FC236}">
              <a16:creationId xmlns:a16="http://schemas.microsoft.com/office/drawing/2014/main" id="{A1BE6A3D-8258-07BC-35AD-955E7FD609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5">
            <a:extLst>
              <a:ext uri="{FF2B5EF4-FFF2-40B4-BE49-F238E27FC236}">
                <a16:creationId xmlns:a16="http://schemas.microsoft.com/office/drawing/2014/main" id="{051665D5-0A67-D1B8-A49A-39EFDCCCC2E0}"/>
              </a:ext>
            </a:extLst>
          </p:cNvPr>
          <p:cNvSpPr/>
          <p:nvPr/>
        </p:nvSpPr>
        <p:spPr>
          <a:xfrm>
            <a:off x="0" y="-37950"/>
            <a:ext cx="1181100" cy="5219400"/>
          </a:xfrm>
          <a:prstGeom prst="rect">
            <a:avLst/>
          </a:prstGeom>
          <a:solidFill>
            <a:srgbClr val="19264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73" name="Google Shape;73;p15">
            <a:extLst>
              <a:ext uri="{FF2B5EF4-FFF2-40B4-BE49-F238E27FC236}">
                <a16:creationId xmlns:a16="http://schemas.microsoft.com/office/drawing/2014/main" id="{DAFFB0D6-CC44-BB30-EF02-366294F95EA6}"/>
              </a:ext>
            </a:extLst>
          </p:cNvPr>
          <p:cNvCxnSpPr/>
          <p:nvPr/>
        </p:nvCxnSpPr>
        <p:spPr>
          <a:xfrm>
            <a:off x="172875" y="-37950"/>
            <a:ext cx="0" cy="218700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74" name="Google Shape;74;p15">
            <a:extLst>
              <a:ext uri="{FF2B5EF4-FFF2-40B4-BE49-F238E27FC236}">
                <a16:creationId xmlns:a16="http://schemas.microsoft.com/office/drawing/2014/main" id="{A4B35009-4DA0-2FB5-5085-1FE871957B21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00">
            <a:off x="-928700" y="3071650"/>
            <a:ext cx="3038475" cy="11811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Google Shape;83;p16">
            <a:extLst>
              <a:ext uri="{FF2B5EF4-FFF2-40B4-BE49-F238E27FC236}">
                <a16:creationId xmlns:a16="http://schemas.microsoft.com/office/drawing/2014/main" id="{F21776D9-88D2-A1C6-F9F2-E7FDD3DD3113}"/>
              </a:ext>
            </a:extLst>
          </p:cNvPr>
          <p:cNvSpPr txBox="1"/>
          <p:nvPr/>
        </p:nvSpPr>
        <p:spPr>
          <a:xfrm>
            <a:off x="1413593" y="163028"/>
            <a:ext cx="5936276" cy="5385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>
              <a:lnSpc>
                <a:spcPct val="115000"/>
              </a:lnSpc>
            </a:pPr>
            <a:r>
              <a:rPr lang="en-US" altLang="ko-KR" sz="2000" b="1" dirty="0">
                <a:solidFill>
                  <a:srgbClr val="19264B"/>
                </a:solidFill>
                <a:latin typeface="NanumGothic ExtraBold"/>
                <a:ea typeface="NanumGothic ExtraBold"/>
                <a:cs typeface="NanumGothic ExtraBold"/>
                <a:sym typeface="NanumGothic ExtraBold"/>
              </a:rPr>
              <a:t>IMDB-WIKI</a:t>
            </a:r>
            <a:r>
              <a:rPr lang="ko-KR" altLang="en-US" sz="2000" b="1" dirty="0">
                <a:solidFill>
                  <a:srgbClr val="19264B"/>
                </a:solidFill>
                <a:latin typeface="NanumGothic ExtraBold"/>
                <a:ea typeface="NanumGothic ExtraBold"/>
                <a:cs typeface="NanumGothic ExtraBold"/>
                <a:sym typeface="NanumGothic ExtraBold"/>
              </a:rPr>
              <a:t> </a:t>
            </a:r>
            <a:r>
              <a:rPr lang="en-US" altLang="ko-KR" sz="2000" b="1" dirty="0">
                <a:solidFill>
                  <a:srgbClr val="19264B"/>
                </a:solidFill>
                <a:latin typeface="NanumGothic ExtraBold"/>
                <a:ea typeface="NanumGothic ExtraBold"/>
                <a:cs typeface="NanumGothic ExtraBold"/>
                <a:sym typeface="NanumGothic ExtraBold"/>
              </a:rPr>
              <a:t>dataset</a:t>
            </a:r>
            <a:r>
              <a:rPr lang="ko-KR" altLang="en-US" sz="2000" b="1" dirty="0">
                <a:solidFill>
                  <a:srgbClr val="19264B"/>
                </a:solidFill>
                <a:latin typeface="NanumGothic ExtraBold"/>
                <a:ea typeface="NanumGothic ExtraBold"/>
                <a:cs typeface="NanumGothic ExtraBold"/>
                <a:sym typeface="NanumGothic ExtraBold"/>
              </a:rPr>
              <a:t>을 활용한 나이</a:t>
            </a:r>
            <a:r>
              <a:rPr lang="en-US" altLang="ko-KR" sz="2000" b="1" dirty="0">
                <a:solidFill>
                  <a:srgbClr val="19264B"/>
                </a:solidFill>
                <a:latin typeface="NanumGothic ExtraBold"/>
                <a:ea typeface="NanumGothic ExtraBold"/>
                <a:cs typeface="NanumGothic ExtraBold"/>
                <a:sym typeface="NanumGothic ExtraBold"/>
              </a:rPr>
              <a:t>, </a:t>
            </a:r>
            <a:r>
              <a:rPr lang="ko-KR" altLang="en-US" sz="2000" b="1" dirty="0">
                <a:solidFill>
                  <a:srgbClr val="19264B"/>
                </a:solidFill>
                <a:latin typeface="NanumGothic ExtraBold"/>
                <a:ea typeface="NanumGothic ExtraBold"/>
                <a:cs typeface="NanumGothic ExtraBold"/>
                <a:sym typeface="NanumGothic ExtraBold"/>
              </a:rPr>
              <a:t>성별 예측</a:t>
            </a:r>
            <a:endParaRPr sz="2000" b="1" dirty="0">
              <a:solidFill>
                <a:srgbClr val="19264B"/>
              </a:solidFill>
              <a:latin typeface="NanumGothic ExtraBold"/>
              <a:ea typeface="NanumGothic ExtraBold"/>
              <a:cs typeface="NanumGothic ExtraBold"/>
              <a:sym typeface="NanumGothic ExtraBold"/>
            </a:endParaRPr>
          </a:p>
        </p:txBody>
      </p:sp>
      <p:sp>
        <p:nvSpPr>
          <p:cNvPr id="5" name="Google Shape;83;p16">
            <a:extLst>
              <a:ext uri="{FF2B5EF4-FFF2-40B4-BE49-F238E27FC236}">
                <a16:creationId xmlns:a16="http://schemas.microsoft.com/office/drawing/2014/main" id="{B127BE07-E0E1-B9BE-0978-C6C886AC716A}"/>
              </a:ext>
            </a:extLst>
          </p:cNvPr>
          <p:cNvSpPr txBox="1"/>
          <p:nvPr/>
        </p:nvSpPr>
        <p:spPr>
          <a:xfrm>
            <a:off x="1413593" y="701607"/>
            <a:ext cx="5463920" cy="4677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ko-KR" sz="1600" b="1" dirty="0">
                <a:solidFill>
                  <a:srgbClr val="002060"/>
                </a:solidFill>
                <a:latin typeface="+mn-lt"/>
                <a:ea typeface="NanumGothic ExtraBold"/>
                <a:cs typeface="NanumGothic ExtraBold"/>
                <a:sym typeface="NanumGothic ExtraBold"/>
              </a:rPr>
              <a:t>•</a:t>
            </a:r>
            <a:r>
              <a:rPr lang="en-US" sz="1600" b="1" dirty="0">
                <a:solidFill>
                  <a:srgbClr val="002060"/>
                </a:solidFill>
                <a:latin typeface="+mn-lt"/>
                <a:ea typeface="NanumGothic ExtraBold"/>
                <a:cs typeface="NanumGothic ExtraBold"/>
                <a:sym typeface="NanumGothic ExtraBold"/>
              </a:rPr>
              <a:t> demo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91BB51C-A096-1363-0FB3-48A217658C8F}"/>
              </a:ext>
            </a:extLst>
          </p:cNvPr>
          <p:cNvSpPr txBox="1"/>
          <p:nvPr/>
        </p:nvSpPr>
        <p:spPr>
          <a:xfrm>
            <a:off x="1385842" y="3960550"/>
            <a:ext cx="434949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US" altLang="ko-KR" dirty="0">
                <a:solidFill>
                  <a:srgbClr val="002060"/>
                </a:solidFill>
              </a:rPr>
              <a:t>{'gender': 'female', '</a:t>
            </a:r>
            <a:r>
              <a:rPr lang="en-US" altLang="ko-KR" dirty="0" err="1">
                <a:solidFill>
                  <a:srgbClr val="002060"/>
                </a:solidFill>
              </a:rPr>
              <a:t>gender_prob</a:t>
            </a:r>
            <a:r>
              <a:rPr lang="en-US" altLang="ko-KR" dirty="0">
                <a:solidFill>
                  <a:srgbClr val="002060"/>
                </a:solidFill>
              </a:rPr>
              <a:t>': 0.112, 'age': 23.6}</a:t>
            </a:r>
            <a:endParaRPr lang="en-US" altLang="ko-KR" dirty="0">
              <a:solidFill>
                <a:srgbClr val="002060"/>
              </a:solidFill>
              <a:effectLst/>
              <a:latin typeface="+mj-lt"/>
            </a:endParaRP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44690EAB-C0B3-A22D-D459-01E31F79394A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1177"/>
          <a:stretch>
            <a:fillRect/>
          </a:stretch>
        </p:blipFill>
        <p:spPr>
          <a:xfrm>
            <a:off x="5967827" y="970737"/>
            <a:ext cx="2606232" cy="3592596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AB627249-0584-823F-C8E7-3CEEDED92C2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01821" y="1263450"/>
            <a:ext cx="2721504" cy="2603046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00234587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">
          <a:extLst>
            <a:ext uri="{FF2B5EF4-FFF2-40B4-BE49-F238E27FC236}">
              <a16:creationId xmlns:a16="http://schemas.microsoft.com/office/drawing/2014/main" id="{4B5E2242-3D47-AC87-1115-EBC1E502A6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5">
            <a:extLst>
              <a:ext uri="{FF2B5EF4-FFF2-40B4-BE49-F238E27FC236}">
                <a16:creationId xmlns:a16="http://schemas.microsoft.com/office/drawing/2014/main" id="{5A171EFF-41C2-2DE7-E318-46EA53BD9108}"/>
              </a:ext>
            </a:extLst>
          </p:cNvPr>
          <p:cNvSpPr/>
          <p:nvPr/>
        </p:nvSpPr>
        <p:spPr>
          <a:xfrm>
            <a:off x="0" y="-37950"/>
            <a:ext cx="1181100" cy="5219400"/>
          </a:xfrm>
          <a:prstGeom prst="rect">
            <a:avLst/>
          </a:prstGeom>
          <a:solidFill>
            <a:srgbClr val="19264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73" name="Google Shape;73;p15">
            <a:extLst>
              <a:ext uri="{FF2B5EF4-FFF2-40B4-BE49-F238E27FC236}">
                <a16:creationId xmlns:a16="http://schemas.microsoft.com/office/drawing/2014/main" id="{C47FB18E-F4B8-B20B-837B-0C5C293F7D3B}"/>
              </a:ext>
            </a:extLst>
          </p:cNvPr>
          <p:cNvCxnSpPr/>
          <p:nvPr/>
        </p:nvCxnSpPr>
        <p:spPr>
          <a:xfrm>
            <a:off x="172875" y="-37950"/>
            <a:ext cx="0" cy="218700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74" name="Google Shape;74;p15">
            <a:extLst>
              <a:ext uri="{FF2B5EF4-FFF2-40B4-BE49-F238E27FC236}">
                <a16:creationId xmlns:a16="http://schemas.microsoft.com/office/drawing/2014/main" id="{CF7AAD63-513A-74BE-6717-4851DAF9BEBC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00">
            <a:off x="-928700" y="3071650"/>
            <a:ext cx="3038475" cy="11811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Google Shape;83;p16">
            <a:extLst>
              <a:ext uri="{FF2B5EF4-FFF2-40B4-BE49-F238E27FC236}">
                <a16:creationId xmlns:a16="http://schemas.microsoft.com/office/drawing/2014/main" id="{EDA65DAB-B08B-5A77-A225-B41E9B1D65E3}"/>
              </a:ext>
            </a:extLst>
          </p:cNvPr>
          <p:cNvSpPr txBox="1"/>
          <p:nvPr/>
        </p:nvSpPr>
        <p:spPr>
          <a:xfrm>
            <a:off x="1413592" y="163028"/>
            <a:ext cx="7266707" cy="503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>
              <a:lnSpc>
                <a:spcPct val="115000"/>
              </a:lnSpc>
            </a:pPr>
            <a:r>
              <a:rPr lang="en-US" altLang="ko-KR" sz="1800" b="1" dirty="0" err="1">
                <a:solidFill>
                  <a:srgbClr val="19264B"/>
                </a:solidFill>
                <a:latin typeface="NanumGothic ExtraBold"/>
                <a:ea typeface="NanumGothic ExtraBold"/>
                <a:cs typeface="NanumGothic ExtraBold"/>
                <a:sym typeface="NanumGothic ExtraBold"/>
              </a:rPr>
              <a:t>Wikiart</a:t>
            </a:r>
            <a:r>
              <a:rPr lang="en-US" altLang="ko-KR" sz="1800" b="1" dirty="0">
                <a:solidFill>
                  <a:srgbClr val="19264B"/>
                </a:solidFill>
                <a:latin typeface="NanumGothic ExtraBold"/>
                <a:ea typeface="NanumGothic ExtraBold"/>
                <a:cs typeface="NanumGothic ExtraBold"/>
                <a:sym typeface="NanumGothic ExtraBold"/>
              </a:rPr>
              <a:t> dataset</a:t>
            </a:r>
            <a:r>
              <a:rPr lang="ko-KR" altLang="en-US" sz="1800" b="1" dirty="0">
                <a:solidFill>
                  <a:srgbClr val="19264B"/>
                </a:solidFill>
                <a:latin typeface="NanumGothic ExtraBold"/>
                <a:ea typeface="NanumGothic ExtraBold"/>
                <a:cs typeface="NanumGothic ExtraBold"/>
                <a:sym typeface="NanumGothic ExtraBold"/>
              </a:rPr>
              <a:t>을 활용한 예술 작품의 작가</a:t>
            </a:r>
            <a:r>
              <a:rPr lang="en-US" altLang="ko-KR" sz="1800" b="1" dirty="0">
                <a:solidFill>
                  <a:srgbClr val="19264B"/>
                </a:solidFill>
                <a:latin typeface="NanumGothic ExtraBold"/>
                <a:ea typeface="NanumGothic ExtraBold"/>
                <a:cs typeface="NanumGothic ExtraBold"/>
                <a:sym typeface="NanumGothic ExtraBold"/>
              </a:rPr>
              <a:t>, </a:t>
            </a:r>
            <a:r>
              <a:rPr lang="ko-KR" altLang="en-US" sz="1800" b="1" dirty="0">
                <a:solidFill>
                  <a:srgbClr val="19264B"/>
                </a:solidFill>
                <a:latin typeface="NanumGothic ExtraBold"/>
                <a:ea typeface="NanumGothic ExtraBold"/>
                <a:cs typeface="NanumGothic ExtraBold"/>
                <a:sym typeface="NanumGothic ExtraBold"/>
              </a:rPr>
              <a:t>장르</a:t>
            </a:r>
            <a:r>
              <a:rPr lang="en-US" altLang="ko-KR" sz="1800" b="1" dirty="0">
                <a:solidFill>
                  <a:srgbClr val="19264B"/>
                </a:solidFill>
                <a:latin typeface="NanumGothic ExtraBold"/>
                <a:ea typeface="NanumGothic ExtraBold"/>
                <a:cs typeface="NanumGothic ExtraBold"/>
                <a:sym typeface="NanumGothic ExtraBold"/>
              </a:rPr>
              <a:t>, </a:t>
            </a:r>
            <a:r>
              <a:rPr lang="ko-KR" altLang="en-US" sz="1800" b="1" dirty="0">
                <a:solidFill>
                  <a:srgbClr val="19264B"/>
                </a:solidFill>
                <a:latin typeface="NanumGothic ExtraBold"/>
                <a:ea typeface="NanumGothic ExtraBold"/>
                <a:cs typeface="NanumGothic ExtraBold"/>
                <a:sym typeface="NanumGothic ExtraBold"/>
              </a:rPr>
              <a:t>스타일 분류 예측</a:t>
            </a:r>
            <a:endParaRPr sz="1800" b="1" dirty="0">
              <a:solidFill>
                <a:srgbClr val="19264B"/>
              </a:solidFill>
              <a:latin typeface="NanumGothic ExtraBold"/>
              <a:ea typeface="NanumGothic ExtraBold"/>
              <a:cs typeface="NanumGothic ExtraBold"/>
              <a:sym typeface="NanumGothic ExtraBold"/>
            </a:endParaRPr>
          </a:p>
        </p:txBody>
      </p:sp>
      <p:sp>
        <p:nvSpPr>
          <p:cNvPr id="5" name="Google Shape;83;p16">
            <a:extLst>
              <a:ext uri="{FF2B5EF4-FFF2-40B4-BE49-F238E27FC236}">
                <a16:creationId xmlns:a16="http://schemas.microsoft.com/office/drawing/2014/main" id="{A67ABA3E-A65D-C77D-A687-E3CC58C55848}"/>
              </a:ext>
            </a:extLst>
          </p:cNvPr>
          <p:cNvSpPr txBox="1"/>
          <p:nvPr/>
        </p:nvSpPr>
        <p:spPr>
          <a:xfrm>
            <a:off x="1413581" y="701607"/>
            <a:ext cx="5657882" cy="17604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ko-KR" sz="1600" b="1" dirty="0">
                <a:solidFill>
                  <a:srgbClr val="002060"/>
                </a:solidFill>
                <a:latin typeface="+mj-lt"/>
                <a:ea typeface="NanumGothic ExtraBold"/>
                <a:cs typeface="NanumGothic ExtraBold"/>
                <a:sym typeface="NanumGothic ExtraBold"/>
              </a:rPr>
              <a:t>•</a:t>
            </a:r>
            <a:r>
              <a:rPr lang="en-US" sz="1600" b="1" dirty="0">
                <a:solidFill>
                  <a:srgbClr val="002060"/>
                </a:solidFill>
                <a:latin typeface="+mj-lt"/>
                <a:ea typeface="NanumGothic ExtraBold"/>
                <a:cs typeface="NanumGothic ExtraBold"/>
                <a:sym typeface="NanumGothic ExtraBold"/>
              </a:rPr>
              <a:t> Dataset</a:t>
            </a:r>
          </a:p>
          <a:p>
            <a:pPr lvl="0">
              <a:lnSpc>
                <a:spcPct val="150000"/>
              </a:lnSpc>
            </a:pPr>
            <a:r>
              <a:rPr lang="en-US" altLang="ko-KR" b="1" dirty="0">
                <a:solidFill>
                  <a:srgbClr val="002060"/>
                </a:solidFill>
                <a:ea typeface="NanumGothic ExtraBold"/>
                <a:cs typeface="NanumGothic ExtraBold"/>
                <a:sym typeface="NanumGothic ExtraBold"/>
              </a:rPr>
              <a:t>Images</a:t>
            </a:r>
            <a:r>
              <a:rPr lang="en-US" altLang="ko-KR" dirty="0">
                <a:solidFill>
                  <a:srgbClr val="002060"/>
                </a:solidFill>
                <a:ea typeface="NanumGothic ExtraBold"/>
                <a:cs typeface="NanumGothic ExtraBold"/>
                <a:sym typeface="NanumGothic ExtraBold"/>
              </a:rPr>
              <a:t>: </a:t>
            </a:r>
            <a:r>
              <a:rPr lang="ko-KR" altLang="en-US" dirty="0">
                <a:solidFill>
                  <a:srgbClr val="002060"/>
                </a:solidFill>
                <a:latin typeface="+mj-lt"/>
                <a:ea typeface="NanumGothic ExtraBold"/>
                <a:cs typeface="NanumGothic ExtraBold"/>
                <a:sym typeface="NanumGothic ExtraBold"/>
              </a:rPr>
              <a:t>예술 작품 사진 </a:t>
            </a:r>
            <a:r>
              <a:rPr lang="en-US" altLang="ko-KR" dirty="0">
                <a:solidFill>
                  <a:srgbClr val="002060"/>
                </a:solidFill>
                <a:latin typeface="+mj-lt"/>
                <a:ea typeface="NanumGothic ExtraBold"/>
                <a:cs typeface="NanumGothic ExtraBold"/>
                <a:sym typeface="NanumGothic ExtraBold"/>
              </a:rPr>
              <a:t>(81K)</a:t>
            </a:r>
            <a:endParaRPr lang="en-US" altLang="ko-KR" sz="1600" dirty="0">
              <a:solidFill>
                <a:srgbClr val="002060"/>
              </a:solidFill>
              <a:latin typeface="+mj-lt"/>
              <a:ea typeface="NanumGothic ExtraBold"/>
              <a:cs typeface="NanumGothic ExtraBold"/>
              <a:sym typeface="NanumGothic ExtraBold"/>
            </a:endParaRPr>
          </a:p>
          <a:p>
            <a:pPr lvl="0">
              <a:lnSpc>
                <a:spcPct val="150000"/>
              </a:lnSpc>
            </a:pPr>
            <a:r>
              <a:rPr lang="en-US" altLang="ko-KR" b="1" dirty="0">
                <a:solidFill>
                  <a:srgbClr val="002060"/>
                </a:solidFill>
                <a:latin typeface="+mj-lt"/>
              </a:rPr>
              <a:t>artist: </a:t>
            </a:r>
            <a:r>
              <a:rPr lang="en-US" altLang="ko-KR" dirty="0">
                <a:solidFill>
                  <a:srgbClr val="002060"/>
                </a:solidFill>
                <a:latin typeface="+mj-lt"/>
              </a:rPr>
              <a:t>129 artists</a:t>
            </a:r>
          </a:p>
          <a:p>
            <a:pPr lvl="0">
              <a:lnSpc>
                <a:spcPct val="150000"/>
              </a:lnSpc>
            </a:pPr>
            <a:r>
              <a:rPr lang="en-US" altLang="ko-KR" b="1" dirty="0">
                <a:solidFill>
                  <a:srgbClr val="002060"/>
                </a:solidFill>
                <a:latin typeface="+mj-lt"/>
              </a:rPr>
              <a:t>genre: </a:t>
            </a:r>
            <a:r>
              <a:rPr lang="en-US" altLang="ko-KR" dirty="0">
                <a:solidFill>
                  <a:srgbClr val="002060"/>
                </a:solidFill>
              </a:rPr>
              <a:t>11 genre classes</a:t>
            </a:r>
            <a:endParaRPr lang="en-US" altLang="ko-KR" b="1" dirty="0">
              <a:solidFill>
                <a:srgbClr val="002060"/>
              </a:solidFill>
              <a:latin typeface="+mj-lt"/>
            </a:endParaRPr>
          </a:p>
          <a:p>
            <a:pPr lvl="0">
              <a:lnSpc>
                <a:spcPct val="150000"/>
              </a:lnSpc>
            </a:pPr>
            <a:r>
              <a:rPr lang="en-US" altLang="ko-KR" b="1" dirty="0">
                <a:solidFill>
                  <a:srgbClr val="002060"/>
                </a:solidFill>
                <a:latin typeface="+mj-lt"/>
              </a:rPr>
              <a:t>style: </a:t>
            </a:r>
            <a:r>
              <a:rPr lang="en-US" altLang="ko-KR" dirty="0">
                <a:solidFill>
                  <a:srgbClr val="002060"/>
                </a:solidFill>
              </a:rPr>
              <a:t>27 style classes</a:t>
            </a:r>
            <a:endParaRPr sz="1600" dirty="0">
              <a:solidFill>
                <a:srgbClr val="002060"/>
              </a:solidFill>
              <a:latin typeface="+mj-lt"/>
              <a:ea typeface="NanumGothic ExtraBold"/>
              <a:cs typeface="NanumGothic ExtraBold"/>
              <a:sym typeface="NanumGothic ExtraBold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8718862B-7EBB-DCF1-261F-BF6E1BB27AB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25443" y="2680789"/>
            <a:ext cx="7453877" cy="19628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451079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">
          <a:extLst>
            <a:ext uri="{FF2B5EF4-FFF2-40B4-BE49-F238E27FC236}">
              <a16:creationId xmlns:a16="http://schemas.microsoft.com/office/drawing/2014/main" id="{CCEBD2D4-2899-007F-5DCD-9DEE0C38C2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5">
            <a:extLst>
              <a:ext uri="{FF2B5EF4-FFF2-40B4-BE49-F238E27FC236}">
                <a16:creationId xmlns:a16="http://schemas.microsoft.com/office/drawing/2014/main" id="{2407C089-D6C7-068C-C0B7-FA8B71B1CBAD}"/>
              </a:ext>
            </a:extLst>
          </p:cNvPr>
          <p:cNvSpPr/>
          <p:nvPr/>
        </p:nvSpPr>
        <p:spPr>
          <a:xfrm>
            <a:off x="0" y="-37950"/>
            <a:ext cx="1181100" cy="5219400"/>
          </a:xfrm>
          <a:prstGeom prst="rect">
            <a:avLst/>
          </a:prstGeom>
          <a:solidFill>
            <a:srgbClr val="19264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73" name="Google Shape;73;p15">
            <a:extLst>
              <a:ext uri="{FF2B5EF4-FFF2-40B4-BE49-F238E27FC236}">
                <a16:creationId xmlns:a16="http://schemas.microsoft.com/office/drawing/2014/main" id="{9AA7B6A1-37D8-C8E9-FAAD-0A389DC48BC6}"/>
              </a:ext>
            </a:extLst>
          </p:cNvPr>
          <p:cNvCxnSpPr/>
          <p:nvPr/>
        </p:nvCxnSpPr>
        <p:spPr>
          <a:xfrm>
            <a:off x="172875" y="-37950"/>
            <a:ext cx="0" cy="218700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74" name="Google Shape;74;p15">
            <a:extLst>
              <a:ext uri="{FF2B5EF4-FFF2-40B4-BE49-F238E27FC236}">
                <a16:creationId xmlns:a16="http://schemas.microsoft.com/office/drawing/2014/main" id="{AB31BCD5-0850-4B5D-8968-791A1C54C9B5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00">
            <a:off x="-928700" y="3071650"/>
            <a:ext cx="3038475" cy="1181100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Google Shape;83;p16">
            <a:extLst>
              <a:ext uri="{FF2B5EF4-FFF2-40B4-BE49-F238E27FC236}">
                <a16:creationId xmlns:a16="http://schemas.microsoft.com/office/drawing/2014/main" id="{C89550F8-7D19-FF00-2D8A-A57CAF982FEB}"/>
              </a:ext>
            </a:extLst>
          </p:cNvPr>
          <p:cNvSpPr txBox="1"/>
          <p:nvPr/>
        </p:nvSpPr>
        <p:spPr>
          <a:xfrm>
            <a:off x="1413593" y="701607"/>
            <a:ext cx="6690331" cy="34039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ko-KR" sz="1600" b="1" dirty="0">
                <a:solidFill>
                  <a:srgbClr val="002060"/>
                </a:solidFill>
                <a:latin typeface="+mn-lt"/>
                <a:ea typeface="NanumGothic ExtraBold"/>
                <a:cs typeface="NanumGothic ExtraBold"/>
                <a:sym typeface="NanumGothic ExtraBold"/>
              </a:rPr>
              <a:t>•</a:t>
            </a:r>
            <a:r>
              <a:rPr lang="en-US" sz="1600" b="1" dirty="0">
                <a:solidFill>
                  <a:srgbClr val="002060"/>
                </a:solidFill>
                <a:latin typeface="+mn-lt"/>
                <a:ea typeface="NanumGothic ExtraBold"/>
                <a:cs typeface="NanumGothic ExtraBold"/>
                <a:sym typeface="NanumGothic ExtraBold"/>
              </a:rPr>
              <a:t> Model</a:t>
            </a:r>
          </a:p>
          <a:p>
            <a:pPr lvl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endParaRPr lang="en-US" sz="1600" b="1" dirty="0">
              <a:solidFill>
                <a:srgbClr val="002060"/>
              </a:solidFill>
              <a:latin typeface="+mn-lt"/>
              <a:ea typeface="NanumGothic ExtraBold"/>
              <a:cs typeface="NanumGothic ExtraBold"/>
              <a:sym typeface="NanumGothic ExtraBold"/>
            </a:endParaRPr>
          </a:p>
          <a:p>
            <a:pPr lvl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endParaRPr lang="en-US" sz="1600" b="1" dirty="0">
              <a:solidFill>
                <a:srgbClr val="002060"/>
              </a:solidFill>
              <a:latin typeface="+mn-lt"/>
              <a:ea typeface="NanumGothic ExtraBold"/>
              <a:cs typeface="NanumGothic ExtraBold"/>
              <a:sym typeface="NanumGothic ExtraBold"/>
            </a:endParaRPr>
          </a:p>
          <a:p>
            <a:r>
              <a:rPr lang="en-US" altLang="ko-KR" b="1" dirty="0">
                <a:solidFill>
                  <a:srgbClr val="002060"/>
                </a:solidFill>
              </a:rPr>
              <a:t>1. CLIP-</a:t>
            </a:r>
            <a:r>
              <a:rPr lang="en-US" altLang="ko-KR" b="1" dirty="0" err="1">
                <a:solidFill>
                  <a:srgbClr val="002060"/>
                </a:solidFill>
              </a:rPr>
              <a:t>ViT</a:t>
            </a:r>
            <a:r>
              <a:rPr lang="en-US" altLang="ko-KR" b="1" dirty="0">
                <a:solidFill>
                  <a:srgbClr val="002060"/>
                </a:solidFill>
              </a:rPr>
              <a:t>(base-sized) </a:t>
            </a:r>
          </a:p>
          <a:p>
            <a:r>
              <a:rPr lang="en-US" altLang="ko-KR" b="1" dirty="0">
                <a:solidFill>
                  <a:srgbClr val="002060"/>
                </a:solidFill>
              </a:rPr>
              <a:t>	</a:t>
            </a:r>
            <a:r>
              <a:rPr lang="ko-KR" altLang="en-US" b="1" dirty="0">
                <a:solidFill>
                  <a:srgbClr val="002060"/>
                </a:solidFill>
              </a:rPr>
              <a:t>→</a:t>
            </a:r>
            <a:r>
              <a:rPr lang="en-US" altLang="ko-KR" b="1" dirty="0">
                <a:solidFill>
                  <a:srgbClr val="002060"/>
                </a:solidFill>
              </a:rPr>
              <a:t> Zero shot </a:t>
            </a:r>
            <a:r>
              <a:rPr lang="ko-KR" altLang="en-US" b="1" dirty="0">
                <a:solidFill>
                  <a:srgbClr val="002060"/>
                </a:solidFill>
              </a:rPr>
              <a:t>평가</a:t>
            </a:r>
            <a:endParaRPr lang="en-US" altLang="ko-KR" b="1" dirty="0">
              <a:solidFill>
                <a:srgbClr val="002060"/>
              </a:solidFill>
            </a:endParaRPr>
          </a:p>
          <a:p>
            <a:endParaRPr lang="en-US" altLang="ko-KR" dirty="0">
              <a:solidFill>
                <a:srgbClr val="002060"/>
              </a:solidFill>
            </a:endParaRPr>
          </a:p>
          <a:p>
            <a:endParaRPr lang="en-US" altLang="ko-KR" dirty="0">
              <a:solidFill>
                <a:srgbClr val="002060"/>
              </a:solidFill>
            </a:endParaRPr>
          </a:p>
          <a:p>
            <a:r>
              <a:rPr lang="en-US" altLang="ko-KR" b="1" dirty="0">
                <a:solidFill>
                  <a:srgbClr val="002060"/>
                </a:solidFill>
              </a:rPr>
              <a:t>2. </a:t>
            </a:r>
            <a:r>
              <a:rPr lang="en-US" altLang="ko-KR" b="1" dirty="0" err="1">
                <a:solidFill>
                  <a:srgbClr val="002060"/>
                </a:solidFill>
              </a:rPr>
              <a:t>ViT</a:t>
            </a:r>
            <a:r>
              <a:rPr lang="en-US" altLang="ko-KR" b="1" dirty="0">
                <a:solidFill>
                  <a:srgbClr val="002060"/>
                </a:solidFill>
              </a:rPr>
              <a:t>(base-sized)</a:t>
            </a:r>
            <a:r>
              <a:rPr lang="en-US" altLang="ko-KR" dirty="0">
                <a:solidFill>
                  <a:srgbClr val="002060"/>
                </a:solidFill>
              </a:rPr>
              <a:t> pre-trained on </a:t>
            </a:r>
            <a:r>
              <a:rPr lang="en-US" altLang="ko-KR" dirty="0"/>
              <a:t>ImageNet-21k and fine-tuned on ImageNet 2012</a:t>
            </a:r>
          </a:p>
          <a:p>
            <a:r>
              <a:rPr lang="en-US" altLang="ko-KR" dirty="0"/>
              <a:t>	</a:t>
            </a:r>
            <a:r>
              <a:rPr lang="ko-KR" altLang="en-US" b="1" dirty="0">
                <a:solidFill>
                  <a:srgbClr val="002060"/>
                </a:solidFill>
              </a:rPr>
              <a:t> → </a:t>
            </a:r>
            <a:r>
              <a:rPr lang="en-US" altLang="ko-KR" b="1" dirty="0">
                <a:solidFill>
                  <a:srgbClr val="002060"/>
                </a:solidFill>
              </a:rPr>
              <a:t>unfreeze all</a:t>
            </a:r>
          </a:p>
          <a:p>
            <a:endParaRPr lang="en-US" altLang="ko-KR" b="1" dirty="0">
              <a:solidFill>
                <a:srgbClr val="002060"/>
              </a:solidFill>
            </a:endParaRPr>
          </a:p>
          <a:p>
            <a:endParaRPr lang="en-US" altLang="ko-KR" b="1" dirty="0">
              <a:solidFill>
                <a:srgbClr val="002060"/>
              </a:solidFill>
            </a:endParaRPr>
          </a:p>
          <a:p>
            <a:r>
              <a:rPr lang="en-US" altLang="ko-KR" b="1" dirty="0">
                <a:solidFill>
                  <a:srgbClr val="002060"/>
                </a:solidFill>
              </a:rPr>
              <a:t>3. </a:t>
            </a:r>
            <a:r>
              <a:rPr lang="en-US" altLang="ko-KR" b="1" dirty="0" err="1">
                <a:solidFill>
                  <a:srgbClr val="002060"/>
                </a:solidFill>
              </a:rPr>
              <a:t>ConvNeXt</a:t>
            </a:r>
            <a:r>
              <a:rPr lang="en-US" altLang="ko-KR" b="1" dirty="0">
                <a:solidFill>
                  <a:srgbClr val="002060"/>
                </a:solidFill>
              </a:rPr>
              <a:t> </a:t>
            </a:r>
            <a:r>
              <a:rPr lang="en-US" altLang="ko-KR" dirty="0">
                <a:solidFill>
                  <a:srgbClr val="002060"/>
                </a:solidFill>
              </a:rPr>
              <a:t>pre-trained on ImageNet-21K and fined-tuned on ImageNet-1K</a:t>
            </a:r>
          </a:p>
          <a:p>
            <a:r>
              <a:rPr lang="en-US" altLang="ko-KR" dirty="0">
                <a:solidFill>
                  <a:srgbClr val="002060"/>
                </a:solidFill>
              </a:rPr>
              <a:t>	</a:t>
            </a:r>
            <a:r>
              <a:rPr lang="ko-KR" altLang="en-US" b="1" dirty="0">
                <a:solidFill>
                  <a:srgbClr val="002060"/>
                </a:solidFill>
              </a:rPr>
              <a:t> → </a:t>
            </a:r>
            <a:r>
              <a:rPr lang="en-US" altLang="ko-KR" b="1" dirty="0">
                <a:solidFill>
                  <a:srgbClr val="002060"/>
                </a:solidFill>
              </a:rPr>
              <a:t>layer-wise unfreeze</a:t>
            </a:r>
            <a:endParaRPr lang="en-US" altLang="ko-KR" dirty="0"/>
          </a:p>
          <a:p>
            <a:endParaRPr lang="en-US" altLang="ko-KR" dirty="0">
              <a:solidFill>
                <a:srgbClr val="002060"/>
              </a:solidFill>
            </a:endParaRPr>
          </a:p>
        </p:txBody>
      </p:sp>
      <p:sp>
        <p:nvSpPr>
          <p:cNvPr id="2" name="Google Shape;83;p16">
            <a:extLst>
              <a:ext uri="{FF2B5EF4-FFF2-40B4-BE49-F238E27FC236}">
                <a16:creationId xmlns:a16="http://schemas.microsoft.com/office/drawing/2014/main" id="{DBF0E997-7B14-4C77-7028-630D3BE11B47}"/>
              </a:ext>
            </a:extLst>
          </p:cNvPr>
          <p:cNvSpPr txBox="1"/>
          <p:nvPr/>
        </p:nvSpPr>
        <p:spPr>
          <a:xfrm>
            <a:off x="1413592" y="163028"/>
            <a:ext cx="7266707" cy="503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>
              <a:lnSpc>
                <a:spcPct val="115000"/>
              </a:lnSpc>
            </a:pPr>
            <a:r>
              <a:rPr lang="en-US" altLang="ko-KR" sz="1800" b="1" dirty="0" err="1">
                <a:solidFill>
                  <a:srgbClr val="19264B"/>
                </a:solidFill>
                <a:latin typeface="NanumGothic ExtraBold"/>
                <a:ea typeface="NanumGothic ExtraBold"/>
                <a:cs typeface="NanumGothic ExtraBold"/>
                <a:sym typeface="NanumGothic ExtraBold"/>
              </a:rPr>
              <a:t>Wikiart</a:t>
            </a:r>
            <a:r>
              <a:rPr lang="en-US" altLang="ko-KR" sz="1800" b="1" dirty="0">
                <a:solidFill>
                  <a:srgbClr val="19264B"/>
                </a:solidFill>
                <a:latin typeface="NanumGothic ExtraBold"/>
                <a:ea typeface="NanumGothic ExtraBold"/>
                <a:cs typeface="NanumGothic ExtraBold"/>
                <a:sym typeface="NanumGothic ExtraBold"/>
              </a:rPr>
              <a:t> dataset</a:t>
            </a:r>
            <a:r>
              <a:rPr lang="ko-KR" altLang="en-US" sz="1800" b="1" dirty="0">
                <a:solidFill>
                  <a:srgbClr val="19264B"/>
                </a:solidFill>
                <a:latin typeface="NanumGothic ExtraBold"/>
                <a:ea typeface="NanumGothic ExtraBold"/>
                <a:cs typeface="NanumGothic ExtraBold"/>
                <a:sym typeface="NanumGothic ExtraBold"/>
              </a:rPr>
              <a:t>을 활용한 예술 작품의 작가</a:t>
            </a:r>
            <a:r>
              <a:rPr lang="en-US" altLang="ko-KR" sz="1800" b="1" dirty="0">
                <a:solidFill>
                  <a:srgbClr val="19264B"/>
                </a:solidFill>
                <a:latin typeface="NanumGothic ExtraBold"/>
                <a:ea typeface="NanumGothic ExtraBold"/>
                <a:cs typeface="NanumGothic ExtraBold"/>
                <a:sym typeface="NanumGothic ExtraBold"/>
              </a:rPr>
              <a:t>, </a:t>
            </a:r>
            <a:r>
              <a:rPr lang="ko-KR" altLang="en-US" sz="1800" b="1" dirty="0">
                <a:solidFill>
                  <a:srgbClr val="19264B"/>
                </a:solidFill>
                <a:latin typeface="NanumGothic ExtraBold"/>
                <a:ea typeface="NanumGothic ExtraBold"/>
                <a:cs typeface="NanumGothic ExtraBold"/>
                <a:sym typeface="NanumGothic ExtraBold"/>
              </a:rPr>
              <a:t>장르</a:t>
            </a:r>
            <a:r>
              <a:rPr lang="en-US" altLang="ko-KR" sz="1800" b="1" dirty="0">
                <a:solidFill>
                  <a:srgbClr val="19264B"/>
                </a:solidFill>
                <a:latin typeface="NanumGothic ExtraBold"/>
                <a:ea typeface="NanumGothic ExtraBold"/>
                <a:cs typeface="NanumGothic ExtraBold"/>
                <a:sym typeface="NanumGothic ExtraBold"/>
              </a:rPr>
              <a:t>, </a:t>
            </a:r>
            <a:r>
              <a:rPr lang="ko-KR" altLang="en-US" sz="1800" b="1" dirty="0">
                <a:solidFill>
                  <a:srgbClr val="19264B"/>
                </a:solidFill>
                <a:latin typeface="NanumGothic ExtraBold"/>
                <a:ea typeface="NanumGothic ExtraBold"/>
                <a:cs typeface="NanumGothic ExtraBold"/>
                <a:sym typeface="NanumGothic ExtraBold"/>
              </a:rPr>
              <a:t>스타일 분류 예측</a:t>
            </a:r>
            <a:endParaRPr sz="1800" b="1" dirty="0">
              <a:solidFill>
                <a:srgbClr val="19264B"/>
              </a:solidFill>
              <a:latin typeface="NanumGothic ExtraBold"/>
              <a:ea typeface="NanumGothic ExtraBold"/>
              <a:cs typeface="NanumGothic ExtraBold"/>
              <a:sym typeface="NanumGothic ExtraBold"/>
            </a:endParaRPr>
          </a:p>
        </p:txBody>
      </p:sp>
    </p:spTree>
    <p:extLst>
      <p:ext uri="{BB962C8B-B14F-4D97-AF65-F5344CB8AC3E}">
        <p14:creationId xmlns:p14="http://schemas.microsoft.com/office/powerpoint/2010/main" val="272507561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">
          <a:extLst>
            <a:ext uri="{FF2B5EF4-FFF2-40B4-BE49-F238E27FC236}">
              <a16:creationId xmlns:a16="http://schemas.microsoft.com/office/drawing/2014/main" id="{8CE2600A-0A9B-4807-4CBB-ED23A28306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5">
            <a:extLst>
              <a:ext uri="{FF2B5EF4-FFF2-40B4-BE49-F238E27FC236}">
                <a16:creationId xmlns:a16="http://schemas.microsoft.com/office/drawing/2014/main" id="{4364270B-A3D8-BDF0-5A81-A5F8D80A32E4}"/>
              </a:ext>
            </a:extLst>
          </p:cNvPr>
          <p:cNvSpPr/>
          <p:nvPr/>
        </p:nvSpPr>
        <p:spPr>
          <a:xfrm>
            <a:off x="0" y="-37950"/>
            <a:ext cx="1181100" cy="5219400"/>
          </a:xfrm>
          <a:prstGeom prst="rect">
            <a:avLst/>
          </a:prstGeom>
          <a:solidFill>
            <a:srgbClr val="19264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73" name="Google Shape;73;p15">
            <a:extLst>
              <a:ext uri="{FF2B5EF4-FFF2-40B4-BE49-F238E27FC236}">
                <a16:creationId xmlns:a16="http://schemas.microsoft.com/office/drawing/2014/main" id="{C1E330E8-EF34-450B-D456-BC6888B430A2}"/>
              </a:ext>
            </a:extLst>
          </p:cNvPr>
          <p:cNvCxnSpPr/>
          <p:nvPr/>
        </p:nvCxnSpPr>
        <p:spPr>
          <a:xfrm>
            <a:off x="172875" y="-37950"/>
            <a:ext cx="0" cy="218700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74" name="Google Shape;74;p15">
            <a:extLst>
              <a:ext uri="{FF2B5EF4-FFF2-40B4-BE49-F238E27FC236}">
                <a16:creationId xmlns:a16="http://schemas.microsoft.com/office/drawing/2014/main" id="{2A2B6B4F-590F-95E8-1CBC-2E47EED05CDE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00">
            <a:off x="-928700" y="3071650"/>
            <a:ext cx="3038475" cy="1181100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Google Shape;83;p16">
            <a:extLst>
              <a:ext uri="{FF2B5EF4-FFF2-40B4-BE49-F238E27FC236}">
                <a16:creationId xmlns:a16="http://schemas.microsoft.com/office/drawing/2014/main" id="{356CC7FA-42DC-01CA-1CD3-A8C03FB21F6A}"/>
              </a:ext>
            </a:extLst>
          </p:cNvPr>
          <p:cNvSpPr txBox="1"/>
          <p:nvPr/>
        </p:nvSpPr>
        <p:spPr>
          <a:xfrm>
            <a:off x="1413593" y="701607"/>
            <a:ext cx="5463920" cy="4677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ko-KR" sz="1600" b="1" dirty="0">
                <a:solidFill>
                  <a:srgbClr val="002060"/>
                </a:solidFill>
                <a:latin typeface="+mn-lt"/>
                <a:ea typeface="NanumGothic ExtraBold"/>
                <a:cs typeface="NanumGothic ExtraBold"/>
                <a:sym typeface="NanumGothic ExtraBold"/>
              </a:rPr>
              <a:t>•</a:t>
            </a:r>
            <a:r>
              <a:rPr lang="en-US" sz="1600" b="1" dirty="0">
                <a:solidFill>
                  <a:srgbClr val="002060"/>
                </a:solidFill>
                <a:latin typeface="+mn-lt"/>
                <a:ea typeface="NanumGothic ExtraBold"/>
                <a:cs typeface="NanumGothic ExtraBold"/>
                <a:sym typeface="NanumGothic ExtraBold"/>
              </a:rPr>
              <a:t> Result (zero shot)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7F1A098C-EE7B-0D17-E508-1C4022535CB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88260" y="1565984"/>
            <a:ext cx="3059558" cy="2979235"/>
          </a:xfrm>
          <a:prstGeom prst="rect">
            <a:avLst/>
          </a:prstGeom>
          <a:ln>
            <a:solidFill>
              <a:srgbClr val="002060"/>
            </a:solidFill>
          </a:ln>
        </p:spPr>
      </p:pic>
      <p:sp>
        <p:nvSpPr>
          <p:cNvPr id="2" name="Google Shape;83;p16">
            <a:extLst>
              <a:ext uri="{FF2B5EF4-FFF2-40B4-BE49-F238E27FC236}">
                <a16:creationId xmlns:a16="http://schemas.microsoft.com/office/drawing/2014/main" id="{EBFF3753-D7CD-9C87-402E-3EEBD99E963E}"/>
              </a:ext>
            </a:extLst>
          </p:cNvPr>
          <p:cNvSpPr txBox="1"/>
          <p:nvPr/>
        </p:nvSpPr>
        <p:spPr>
          <a:xfrm>
            <a:off x="1413592" y="163028"/>
            <a:ext cx="7266707" cy="503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>
              <a:lnSpc>
                <a:spcPct val="115000"/>
              </a:lnSpc>
            </a:pPr>
            <a:r>
              <a:rPr lang="en-US" altLang="ko-KR" sz="1800" b="1" dirty="0" err="1">
                <a:solidFill>
                  <a:srgbClr val="19264B"/>
                </a:solidFill>
                <a:latin typeface="NanumGothic ExtraBold"/>
                <a:ea typeface="NanumGothic ExtraBold"/>
                <a:cs typeface="NanumGothic ExtraBold"/>
                <a:sym typeface="NanumGothic ExtraBold"/>
              </a:rPr>
              <a:t>Wikiart</a:t>
            </a:r>
            <a:r>
              <a:rPr lang="en-US" altLang="ko-KR" sz="1800" b="1" dirty="0">
                <a:solidFill>
                  <a:srgbClr val="19264B"/>
                </a:solidFill>
                <a:latin typeface="NanumGothic ExtraBold"/>
                <a:ea typeface="NanumGothic ExtraBold"/>
                <a:cs typeface="NanumGothic ExtraBold"/>
                <a:sym typeface="NanumGothic ExtraBold"/>
              </a:rPr>
              <a:t> dataset</a:t>
            </a:r>
            <a:r>
              <a:rPr lang="ko-KR" altLang="en-US" sz="1800" b="1" dirty="0">
                <a:solidFill>
                  <a:srgbClr val="19264B"/>
                </a:solidFill>
                <a:latin typeface="NanumGothic ExtraBold"/>
                <a:ea typeface="NanumGothic ExtraBold"/>
                <a:cs typeface="NanumGothic ExtraBold"/>
                <a:sym typeface="NanumGothic ExtraBold"/>
              </a:rPr>
              <a:t>을 활용한 예술 작품의 작가</a:t>
            </a:r>
            <a:r>
              <a:rPr lang="en-US" altLang="ko-KR" sz="1800" b="1" dirty="0">
                <a:solidFill>
                  <a:srgbClr val="19264B"/>
                </a:solidFill>
                <a:latin typeface="NanumGothic ExtraBold"/>
                <a:ea typeface="NanumGothic ExtraBold"/>
                <a:cs typeface="NanumGothic ExtraBold"/>
                <a:sym typeface="NanumGothic ExtraBold"/>
              </a:rPr>
              <a:t>, </a:t>
            </a:r>
            <a:r>
              <a:rPr lang="ko-KR" altLang="en-US" sz="1800" b="1" dirty="0">
                <a:solidFill>
                  <a:srgbClr val="19264B"/>
                </a:solidFill>
                <a:latin typeface="NanumGothic ExtraBold"/>
                <a:ea typeface="NanumGothic ExtraBold"/>
                <a:cs typeface="NanumGothic ExtraBold"/>
                <a:sym typeface="NanumGothic ExtraBold"/>
              </a:rPr>
              <a:t>장르</a:t>
            </a:r>
            <a:r>
              <a:rPr lang="en-US" altLang="ko-KR" sz="1800" b="1" dirty="0">
                <a:solidFill>
                  <a:srgbClr val="19264B"/>
                </a:solidFill>
                <a:latin typeface="NanumGothic ExtraBold"/>
                <a:ea typeface="NanumGothic ExtraBold"/>
                <a:cs typeface="NanumGothic ExtraBold"/>
                <a:sym typeface="NanumGothic ExtraBold"/>
              </a:rPr>
              <a:t>, </a:t>
            </a:r>
            <a:r>
              <a:rPr lang="ko-KR" altLang="en-US" sz="1800" b="1" dirty="0">
                <a:solidFill>
                  <a:srgbClr val="19264B"/>
                </a:solidFill>
                <a:latin typeface="NanumGothic ExtraBold"/>
                <a:ea typeface="NanumGothic ExtraBold"/>
                <a:cs typeface="NanumGothic ExtraBold"/>
                <a:sym typeface="NanumGothic ExtraBold"/>
              </a:rPr>
              <a:t>스타일 분류 예측</a:t>
            </a:r>
            <a:endParaRPr sz="1800" b="1" dirty="0">
              <a:solidFill>
                <a:srgbClr val="19264B"/>
              </a:solidFill>
              <a:latin typeface="NanumGothic ExtraBold"/>
              <a:ea typeface="NanumGothic ExtraBold"/>
              <a:cs typeface="NanumGothic ExtraBold"/>
              <a:sym typeface="NanumGothic ExtraBold"/>
            </a:endParaRPr>
          </a:p>
        </p:txBody>
      </p:sp>
    </p:spTree>
    <p:extLst>
      <p:ext uri="{BB962C8B-B14F-4D97-AF65-F5344CB8AC3E}">
        <p14:creationId xmlns:p14="http://schemas.microsoft.com/office/powerpoint/2010/main" val="389052645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">
          <a:extLst>
            <a:ext uri="{FF2B5EF4-FFF2-40B4-BE49-F238E27FC236}">
              <a16:creationId xmlns:a16="http://schemas.microsoft.com/office/drawing/2014/main" id="{972AD62E-7442-6E3D-FCAF-F33199775F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5">
            <a:extLst>
              <a:ext uri="{FF2B5EF4-FFF2-40B4-BE49-F238E27FC236}">
                <a16:creationId xmlns:a16="http://schemas.microsoft.com/office/drawing/2014/main" id="{B924FFAF-C61F-DDB5-D716-1E3066239EBF}"/>
              </a:ext>
            </a:extLst>
          </p:cNvPr>
          <p:cNvSpPr/>
          <p:nvPr/>
        </p:nvSpPr>
        <p:spPr>
          <a:xfrm>
            <a:off x="0" y="-37950"/>
            <a:ext cx="1181100" cy="5219400"/>
          </a:xfrm>
          <a:prstGeom prst="rect">
            <a:avLst/>
          </a:prstGeom>
          <a:solidFill>
            <a:srgbClr val="19264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73" name="Google Shape;73;p15">
            <a:extLst>
              <a:ext uri="{FF2B5EF4-FFF2-40B4-BE49-F238E27FC236}">
                <a16:creationId xmlns:a16="http://schemas.microsoft.com/office/drawing/2014/main" id="{C69779FE-AC9F-A9BF-105E-CC111758F806}"/>
              </a:ext>
            </a:extLst>
          </p:cNvPr>
          <p:cNvCxnSpPr/>
          <p:nvPr/>
        </p:nvCxnSpPr>
        <p:spPr>
          <a:xfrm>
            <a:off x="172875" y="-37950"/>
            <a:ext cx="0" cy="218700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74" name="Google Shape;74;p15">
            <a:extLst>
              <a:ext uri="{FF2B5EF4-FFF2-40B4-BE49-F238E27FC236}">
                <a16:creationId xmlns:a16="http://schemas.microsoft.com/office/drawing/2014/main" id="{0D1FE19D-5F0A-1744-77E7-6BAC3A159A32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00">
            <a:off x="-928700" y="3071650"/>
            <a:ext cx="3038475" cy="1181100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Google Shape;83;p16">
            <a:extLst>
              <a:ext uri="{FF2B5EF4-FFF2-40B4-BE49-F238E27FC236}">
                <a16:creationId xmlns:a16="http://schemas.microsoft.com/office/drawing/2014/main" id="{58C5A30F-DF8B-7AE0-B21A-1A381B3010D8}"/>
              </a:ext>
            </a:extLst>
          </p:cNvPr>
          <p:cNvSpPr txBox="1"/>
          <p:nvPr/>
        </p:nvSpPr>
        <p:spPr>
          <a:xfrm>
            <a:off x="1413593" y="701607"/>
            <a:ext cx="5463920" cy="12110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ko-KR" sz="1600" b="1" dirty="0">
                <a:solidFill>
                  <a:srgbClr val="002060"/>
                </a:solidFill>
                <a:latin typeface="+mn-lt"/>
                <a:ea typeface="NanumGothic ExtraBold"/>
                <a:cs typeface="NanumGothic ExtraBold"/>
                <a:sym typeface="NanumGothic ExtraBold"/>
              </a:rPr>
              <a:t>•</a:t>
            </a:r>
            <a:r>
              <a:rPr lang="en-US" sz="1600" b="1" dirty="0">
                <a:solidFill>
                  <a:srgbClr val="002060"/>
                </a:solidFill>
                <a:latin typeface="+mn-lt"/>
                <a:ea typeface="NanumGothic ExtraBold"/>
                <a:cs typeface="NanumGothic ExtraBold"/>
                <a:sym typeface="NanumGothic ExtraBold"/>
              </a:rPr>
              <a:t> Result (unfreeze all)</a:t>
            </a:r>
          </a:p>
          <a:p>
            <a:pPr lvl="0">
              <a:lnSpc>
                <a:spcPct val="115000"/>
              </a:lnSpc>
            </a:pPr>
            <a:r>
              <a:rPr lang="en-US" dirty="0">
                <a:solidFill>
                  <a:srgbClr val="002060"/>
                </a:solidFill>
                <a:latin typeface="+mn-lt"/>
                <a:ea typeface="NanumGothic ExtraBold"/>
                <a:cs typeface="NanumGothic ExtraBold"/>
                <a:sym typeface="NanumGothic ExtraBold"/>
              </a:rPr>
              <a:t>Learning Rate = 5e</a:t>
            </a:r>
            <a:r>
              <a:rPr lang="en-US" altLang="ko-KR" dirty="0">
                <a:solidFill>
                  <a:srgbClr val="002060"/>
                </a:solidFill>
                <a:latin typeface="+mn-lt"/>
                <a:ea typeface="NanumGothic ExtraBold"/>
                <a:cs typeface="NanumGothic ExtraBold"/>
                <a:sym typeface="NanumGothic ExtraBold"/>
              </a:rPr>
              <a:t>-5</a:t>
            </a:r>
            <a:endParaRPr lang="en-US" dirty="0">
              <a:solidFill>
                <a:srgbClr val="002060"/>
              </a:solidFill>
              <a:latin typeface="+mn-lt"/>
              <a:ea typeface="NanumGothic ExtraBold"/>
              <a:cs typeface="NanumGothic ExtraBold"/>
              <a:sym typeface="NanumGothic ExtraBold"/>
            </a:endParaRPr>
          </a:p>
          <a:p>
            <a:pPr lvl="0">
              <a:lnSpc>
                <a:spcPct val="115000"/>
              </a:lnSpc>
            </a:pPr>
            <a:r>
              <a:rPr lang="en-US" dirty="0">
                <a:solidFill>
                  <a:srgbClr val="002060"/>
                </a:solidFill>
                <a:latin typeface="+mn-lt"/>
                <a:ea typeface="NanumGothic ExtraBold"/>
                <a:cs typeface="NanumGothic ExtraBold"/>
                <a:sym typeface="NanumGothic ExtraBold"/>
              </a:rPr>
              <a:t>Epoch = 20</a:t>
            </a:r>
          </a:p>
          <a:p>
            <a:pPr lvl="0">
              <a:lnSpc>
                <a:spcPct val="115000"/>
              </a:lnSpc>
            </a:pPr>
            <a:r>
              <a:rPr lang="en-US" dirty="0">
                <a:solidFill>
                  <a:srgbClr val="002060"/>
                </a:solidFill>
                <a:latin typeface="+mn-lt"/>
                <a:ea typeface="NanumGothic ExtraBold"/>
                <a:cs typeface="NanumGothic ExtraBold"/>
                <a:sym typeface="NanumGothic ExtraBold"/>
              </a:rPr>
              <a:t>Batch size = 16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112CE14B-049C-07EF-0E4F-3C315CC4924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53497" y="1959775"/>
            <a:ext cx="5859094" cy="2904190"/>
          </a:xfrm>
          <a:prstGeom prst="rect">
            <a:avLst/>
          </a:prstGeom>
          <a:ln>
            <a:solidFill>
              <a:srgbClr val="002060"/>
            </a:solidFill>
          </a:ln>
        </p:spPr>
      </p:pic>
      <p:sp>
        <p:nvSpPr>
          <p:cNvPr id="2" name="Google Shape;83;p16">
            <a:extLst>
              <a:ext uri="{FF2B5EF4-FFF2-40B4-BE49-F238E27FC236}">
                <a16:creationId xmlns:a16="http://schemas.microsoft.com/office/drawing/2014/main" id="{5777F901-02D3-C6E4-FEEC-D81021E9E721}"/>
              </a:ext>
            </a:extLst>
          </p:cNvPr>
          <p:cNvSpPr txBox="1"/>
          <p:nvPr/>
        </p:nvSpPr>
        <p:spPr>
          <a:xfrm>
            <a:off x="1413592" y="163028"/>
            <a:ext cx="7266707" cy="503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>
              <a:lnSpc>
                <a:spcPct val="115000"/>
              </a:lnSpc>
            </a:pPr>
            <a:r>
              <a:rPr lang="en-US" altLang="ko-KR" sz="1800" b="1" dirty="0" err="1">
                <a:solidFill>
                  <a:srgbClr val="19264B"/>
                </a:solidFill>
                <a:latin typeface="NanumGothic ExtraBold"/>
                <a:ea typeface="NanumGothic ExtraBold"/>
                <a:cs typeface="NanumGothic ExtraBold"/>
                <a:sym typeface="NanumGothic ExtraBold"/>
              </a:rPr>
              <a:t>Wikiart</a:t>
            </a:r>
            <a:r>
              <a:rPr lang="en-US" altLang="ko-KR" sz="1800" b="1" dirty="0">
                <a:solidFill>
                  <a:srgbClr val="19264B"/>
                </a:solidFill>
                <a:latin typeface="NanumGothic ExtraBold"/>
                <a:ea typeface="NanumGothic ExtraBold"/>
                <a:cs typeface="NanumGothic ExtraBold"/>
                <a:sym typeface="NanumGothic ExtraBold"/>
              </a:rPr>
              <a:t> dataset</a:t>
            </a:r>
            <a:r>
              <a:rPr lang="ko-KR" altLang="en-US" sz="1800" b="1" dirty="0">
                <a:solidFill>
                  <a:srgbClr val="19264B"/>
                </a:solidFill>
                <a:latin typeface="NanumGothic ExtraBold"/>
                <a:ea typeface="NanumGothic ExtraBold"/>
                <a:cs typeface="NanumGothic ExtraBold"/>
                <a:sym typeface="NanumGothic ExtraBold"/>
              </a:rPr>
              <a:t>을 활용한 예술 작품의 작가</a:t>
            </a:r>
            <a:r>
              <a:rPr lang="en-US" altLang="ko-KR" sz="1800" b="1" dirty="0">
                <a:solidFill>
                  <a:srgbClr val="19264B"/>
                </a:solidFill>
                <a:latin typeface="NanumGothic ExtraBold"/>
                <a:ea typeface="NanumGothic ExtraBold"/>
                <a:cs typeface="NanumGothic ExtraBold"/>
                <a:sym typeface="NanumGothic ExtraBold"/>
              </a:rPr>
              <a:t>, </a:t>
            </a:r>
            <a:r>
              <a:rPr lang="ko-KR" altLang="en-US" sz="1800" b="1" dirty="0">
                <a:solidFill>
                  <a:srgbClr val="19264B"/>
                </a:solidFill>
                <a:latin typeface="NanumGothic ExtraBold"/>
                <a:ea typeface="NanumGothic ExtraBold"/>
                <a:cs typeface="NanumGothic ExtraBold"/>
                <a:sym typeface="NanumGothic ExtraBold"/>
              </a:rPr>
              <a:t>장르</a:t>
            </a:r>
            <a:r>
              <a:rPr lang="en-US" altLang="ko-KR" sz="1800" b="1" dirty="0">
                <a:solidFill>
                  <a:srgbClr val="19264B"/>
                </a:solidFill>
                <a:latin typeface="NanumGothic ExtraBold"/>
                <a:ea typeface="NanumGothic ExtraBold"/>
                <a:cs typeface="NanumGothic ExtraBold"/>
                <a:sym typeface="NanumGothic ExtraBold"/>
              </a:rPr>
              <a:t>, </a:t>
            </a:r>
            <a:r>
              <a:rPr lang="ko-KR" altLang="en-US" sz="1800" b="1" dirty="0">
                <a:solidFill>
                  <a:srgbClr val="19264B"/>
                </a:solidFill>
                <a:latin typeface="NanumGothic ExtraBold"/>
                <a:ea typeface="NanumGothic ExtraBold"/>
                <a:cs typeface="NanumGothic ExtraBold"/>
                <a:sym typeface="NanumGothic ExtraBold"/>
              </a:rPr>
              <a:t>스타일 분류 예측</a:t>
            </a:r>
            <a:endParaRPr sz="1800" b="1" dirty="0">
              <a:solidFill>
                <a:srgbClr val="19264B"/>
              </a:solidFill>
              <a:latin typeface="NanumGothic ExtraBold"/>
              <a:ea typeface="NanumGothic ExtraBold"/>
              <a:cs typeface="NanumGothic ExtraBold"/>
              <a:sym typeface="NanumGothic ExtraBold"/>
            </a:endParaRPr>
          </a:p>
        </p:txBody>
      </p:sp>
    </p:spTree>
    <p:extLst>
      <p:ext uri="{BB962C8B-B14F-4D97-AF65-F5344CB8AC3E}">
        <p14:creationId xmlns:p14="http://schemas.microsoft.com/office/powerpoint/2010/main" val="151615284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">
          <a:extLst>
            <a:ext uri="{FF2B5EF4-FFF2-40B4-BE49-F238E27FC236}">
              <a16:creationId xmlns:a16="http://schemas.microsoft.com/office/drawing/2014/main" id="{2515A11B-080D-C9C4-EE04-3B4AB6ADEE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5">
            <a:extLst>
              <a:ext uri="{FF2B5EF4-FFF2-40B4-BE49-F238E27FC236}">
                <a16:creationId xmlns:a16="http://schemas.microsoft.com/office/drawing/2014/main" id="{69A2A0F2-984D-3629-2148-CC61D7472E81}"/>
              </a:ext>
            </a:extLst>
          </p:cNvPr>
          <p:cNvSpPr/>
          <p:nvPr/>
        </p:nvSpPr>
        <p:spPr>
          <a:xfrm>
            <a:off x="0" y="-37950"/>
            <a:ext cx="1181100" cy="5219400"/>
          </a:xfrm>
          <a:prstGeom prst="rect">
            <a:avLst/>
          </a:prstGeom>
          <a:solidFill>
            <a:srgbClr val="19264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73" name="Google Shape;73;p15">
            <a:extLst>
              <a:ext uri="{FF2B5EF4-FFF2-40B4-BE49-F238E27FC236}">
                <a16:creationId xmlns:a16="http://schemas.microsoft.com/office/drawing/2014/main" id="{E4CEF63A-2567-4FC4-2B09-DFF93FC0408D}"/>
              </a:ext>
            </a:extLst>
          </p:cNvPr>
          <p:cNvCxnSpPr/>
          <p:nvPr/>
        </p:nvCxnSpPr>
        <p:spPr>
          <a:xfrm>
            <a:off x="172875" y="-37950"/>
            <a:ext cx="0" cy="218700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74" name="Google Shape;74;p15">
            <a:extLst>
              <a:ext uri="{FF2B5EF4-FFF2-40B4-BE49-F238E27FC236}">
                <a16:creationId xmlns:a16="http://schemas.microsoft.com/office/drawing/2014/main" id="{82FEB7D8-3EAE-D37A-E683-EA55CF4A6692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00">
            <a:off x="-928700" y="3071650"/>
            <a:ext cx="3038475" cy="1181100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Google Shape;83;p16">
            <a:extLst>
              <a:ext uri="{FF2B5EF4-FFF2-40B4-BE49-F238E27FC236}">
                <a16:creationId xmlns:a16="http://schemas.microsoft.com/office/drawing/2014/main" id="{7E8B04FF-E1AE-0DCA-6180-572100B56FA5}"/>
              </a:ext>
            </a:extLst>
          </p:cNvPr>
          <p:cNvSpPr txBox="1"/>
          <p:nvPr/>
        </p:nvSpPr>
        <p:spPr>
          <a:xfrm>
            <a:off x="1413593" y="701607"/>
            <a:ext cx="5463920" cy="12110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ko-KR" sz="1600" b="1" dirty="0">
                <a:solidFill>
                  <a:srgbClr val="002060"/>
                </a:solidFill>
                <a:latin typeface="+mn-lt"/>
                <a:ea typeface="NanumGothic ExtraBold"/>
                <a:cs typeface="NanumGothic ExtraBold"/>
                <a:sym typeface="NanumGothic ExtraBold"/>
              </a:rPr>
              <a:t>•</a:t>
            </a:r>
            <a:r>
              <a:rPr lang="en-US" sz="1600" b="1" dirty="0">
                <a:solidFill>
                  <a:srgbClr val="002060"/>
                </a:solidFill>
                <a:latin typeface="+mn-lt"/>
                <a:ea typeface="NanumGothic ExtraBold"/>
                <a:cs typeface="NanumGothic ExtraBold"/>
                <a:sym typeface="NanumGothic ExtraBold"/>
              </a:rPr>
              <a:t> Result (layer-wise unfreeze)</a:t>
            </a:r>
          </a:p>
          <a:p>
            <a:pPr lvl="0">
              <a:lnSpc>
                <a:spcPct val="115000"/>
              </a:lnSpc>
            </a:pPr>
            <a:r>
              <a:rPr lang="en-US" dirty="0">
                <a:solidFill>
                  <a:srgbClr val="002060"/>
                </a:solidFill>
                <a:latin typeface="+mn-lt"/>
                <a:ea typeface="NanumGothic ExtraBold"/>
                <a:cs typeface="NanumGothic ExtraBold"/>
                <a:sym typeface="NanumGothic ExtraBold"/>
              </a:rPr>
              <a:t>Learning Rate = 1e-4 </a:t>
            </a:r>
            <a:r>
              <a:rPr lang="ko-KR" altLang="en-US" dirty="0">
                <a:solidFill>
                  <a:srgbClr val="002060"/>
                </a:solidFill>
                <a:ea typeface="NanumGothic ExtraBold"/>
                <a:cs typeface="NanumGothic ExtraBold"/>
                <a:sym typeface="NanumGothic ExtraBold"/>
              </a:rPr>
              <a:t>→ </a:t>
            </a:r>
            <a:r>
              <a:rPr lang="en-US" altLang="ko-KR" dirty="0">
                <a:solidFill>
                  <a:srgbClr val="002060"/>
                </a:solidFill>
                <a:ea typeface="NanumGothic ExtraBold"/>
                <a:cs typeface="NanumGothic ExtraBold"/>
                <a:sym typeface="NanumGothic ExtraBold"/>
              </a:rPr>
              <a:t>1e-5</a:t>
            </a:r>
            <a:r>
              <a:rPr lang="ko-KR" altLang="en-US" dirty="0">
                <a:solidFill>
                  <a:srgbClr val="002060"/>
                </a:solidFill>
                <a:ea typeface="NanumGothic ExtraBold"/>
                <a:cs typeface="NanumGothic ExtraBold"/>
                <a:sym typeface="NanumGothic ExtraBold"/>
              </a:rPr>
              <a:t> → </a:t>
            </a:r>
            <a:r>
              <a:rPr lang="en-US" altLang="ko-KR" dirty="0">
                <a:solidFill>
                  <a:srgbClr val="002060"/>
                </a:solidFill>
                <a:ea typeface="NanumGothic ExtraBold"/>
                <a:cs typeface="NanumGothic ExtraBold"/>
                <a:sym typeface="NanumGothic ExtraBold"/>
              </a:rPr>
              <a:t>5e-6</a:t>
            </a:r>
            <a:endParaRPr lang="en-US" dirty="0">
              <a:solidFill>
                <a:srgbClr val="002060"/>
              </a:solidFill>
              <a:latin typeface="+mn-lt"/>
              <a:ea typeface="NanumGothic ExtraBold"/>
              <a:cs typeface="NanumGothic ExtraBold"/>
              <a:sym typeface="NanumGothic ExtraBold"/>
            </a:endParaRPr>
          </a:p>
          <a:p>
            <a:pPr lvl="0">
              <a:lnSpc>
                <a:spcPct val="115000"/>
              </a:lnSpc>
            </a:pPr>
            <a:r>
              <a:rPr lang="en-US" dirty="0">
                <a:solidFill>
                  <a:srgbClr val="002060"/>
                </a:solidFill>
                <a:latin typeface="+mn-lt"/>
                <a:ea typeface="NanumGothic ExtraBold"/>
                <a:cs typeface="NanumGothic ExtraBold"/>
                <a:sym typeface="NanumGothic ExtraBold"/>
              </a:rPr>
              <a:t>Epoch := 5</a:t>
            </a:r>
            <a:r>
              <a:rPr lang="ko-KR" altLang="en-US" dirty="0">
                <a:solidFill>
                  <a:srgbClr val="002060"/>
                </a:solidFill>
                <a:latin typeface="+mn-lt"/>
                <a:ea typeface="NanumGothic ExtraBold"/>
                <a:cs typeface="NanumGothic ExtraBold"/>
                <a:sym typeface="NanumGothic ExtraBold"/>
              </a:rPr>
              <a:t>→</a:t>
            </a:r>
            <a:r>
              <a:rPr lang="en-US" altLang="ko-KR" dirty="0">
                <a:solidFill>
                  <a:srgbClr val="002060"/>
                </a:solidFill>
                <a:latin typeface="+mn-lt"/>
                <a:ea typeface="NanumGothic ExtraBold"/>
                <a:cs typeface="NanumGothic ExtraBold"/>
                <a:sym typeface="NanumGothic ExtraBold"/>
              </a:rPr>
              <a:t>10</a:t>
            </a:r>
            <a:r>
              <a:rPr lang="ko-KR" altLang="en-US" dirty="0">
                <a:solidFill>
                  <a:srgbClr val="002060"/>
                </a:solidFill>
                <a:ea typeface="NanumGothic ExtraBold"/>
                <a:cs typeface="NanumGothic ExtraBold"/>
                <a:sym typeface="NanumGothic ExtraBold"/>
              </a:rPr>
              <a:t> →</a:t>
            </a:r>
            <a:r>
              <a:rPr lang="en-US" altLang="ko-KR" dirty="0">
                <a:solidFill>
                  <a:srgbClr val="002060"/>
                </a:solidFill>
                <a:ea typeface="NanumGothic ExtraBold"/>
                <a:cs typeface="NanumGothic ExtraBold"/>
                <a:sym typeface="NanumGothic ExtraBold"/>
              </a:rPr>
              <a:t>10</a:t>
            </a:r>
            <a:endParaRPr lang="en-US" dirty="0">
              <a:solidFill>
                <a:srgbClr val="002060"/>
              </a:solidFill>
              <a:latin typeface="+mn-lt"/>
              <a:ea typeface="NanumGothic ExtraBold"/>
              <a:cs typeface="NanumGothic ExtraBold"/>
              <a:sym typeface="NanumGothic ExtraBold"/>
            </a:endParaRPr>
          </a:p>
          <a:p>
            <a:pPr lvl="0">
              <a:lnSpc>
                <a:spcPct val="115000"/>
              </a:lnSpc>
            </a:pPr>
            <a:r>
              <a:rPr lang="en-US" dirty="0">
                <a:solidFill>
                  <a:srgbClr val="002060"/>
                </a:solidFill>
                <a:latin typeface="+mn-lt"/>
                <a:ea typeface="NanumGothic ExtraBold"/>
                <a:cs typeface="NanumGothic ExtraBold"/>
                <a:sym typeface="NanumGothic ExtraBold"/>
              </a:rPr>
              <a:t>Batch size = 32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CD02F748-4A59-1743-A51F-39E2EE88CA8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60763" y="2379174"/>
            <a:ext cx="7632775" cy="2266499"/>
          </a:xfrm>
          <a:prstGeom prst="rect">
            <a:avLst/>
          </a:prstGeom>
          <a:ln>
            <a:solidFill>
              <a:srgbClr val="002060"/>
            </a:solidFill>
          </a:ln>
        </p:spPr>
      </p:pic>
      <p:sp>
        <p:nvSpPr>
          <p:cNvPr id="2" name="Google Shape;83;p16">
            <a:extLst>
              <a:ext uri="{FF2B5EF4-FFF2-40B4-BE49-F238E27FC236}">
                <a16:creationId xmlns:a16="http://schemas.microsoft.com/office/drawing/2014/main" id="{70A6ADED-9D09-AD94-29E0-B66DF69FEF84}"/>
              </a:ext>
            </a:extLst>
          </p:cNvPr>
          <p:cNvSpPr txBox="1"/>
          <p:nvPr/>
        </p:nvSpPr>
        <p:spPr>
          <a:xfrm>
            <a:off x="1413592" y="163028"/>
            <a:ext cx="7266707" cy="503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>
              <a:lnSpc>
                <a:spcPct val="115000"/>
              </a:lnSpc>
            </a:pPr>
            <a:r>
              <a:rPr lang="en-US" altLang="ko-KR" sz="1800" b="1" dirty="0" err="1">
                <a:solidFill>
                  <a:srgbClr val="19264B"/>
                </a:solidFill>
                <a:latin typeface="NanumGothic ExtraBold"/>
                <a:ea typeface="NanumGothic ExtraBold"/>
                <a:cs typeface="NanumGothic ExtraBold"/>
                <a:sym typeface="NanumGothic ExtraBold"/>
              </a:rPr>
              <a:t>Wikiart</a:t>
            </a:r>
            <a:r>
              <a:rPr lang="en-US" altLang="ko-KR" sz="1800" b="1" dirty="0">
                <a:solidFill>
                  <a:srgbClr val="19264B"/>
                </a:solidFill>
                <a:latin typeface="NanumGothic ExtraBold"/>
                <a:ea typeface="NanumGothic ExtraBold"/>
                <a:cs typeface="NanumGothic ExtraBold"/>
                <a:sym typeface="NanumGothic ExtraBold"/>
              </a:rPr>
              <a:t> dataset</a:t>
            </a:r>
            <a:r>
              <a:rPr lang="ko-KR" altLang="en-US" sz="1800" b="1" dirty="0">
                <a:solidFill>
                  <a:srgbClr val="19264B"/>
                </a:solidFill>
                <a:latin typeface="NanumGothic ExtraBold"/>
                <a:ea typeface="NanumGothic ExtraBold"/>
                <a:cs typeface="NanumGothic ExtraBold"/>
                <a:sym typeface="NanumGothic ExtraBold"/>
              </a:rPr>
              <a:t>을 활용한 예술 작품의 작가</a:t>
            </a:r>
            <a:r>
              <a:rPr lang="en-US" altLang="ko-KR" sz="1800" b="1" dirty="0">
                <a:solidFill>
                  <a:srgbClr val="19264B"/>
                </a:solidFill>
                <a:latin typeface="NanumGothic ExtraBold"/>
                <a:ea typeface="NanumGothic ExtraBold"/>
                <a:cs typeface="NanumGothic ExtraBold"/>
                <a:sym typeface="NanumGothic ExtraBold"/>
              </a:rPr>
              <a:t>, </a:t>
            </a:r>
            <a:r>
              <a:rPr lang="ko-KR" altLang="en-US" sz="1800" b="1" dirty="0">
                <a:solidFill>
                  <a:srgbClr val="19264B"/>
                </a:solidFill>
                <a:latin typeface="NanumGothic ExtraBold"/>
                <a:ea typeface="NanumGothic ExtraBold"/>
                <a:cs typeface="NanumGothic ExtraBold"/>
                <a:sym typeface="NanumGothic ExtraBold"/>
              </a:rPr>
              <a:t>장르</a:t>
            </a:r>
            <a:r>
              <a:rPr lang="en-US" altLang="ko-KR" sz="1800" b="1" dirty="0">
                <a:solidFill>
                  <a:srgbClr val="19264B"/>
                </a:solidFill>
                <a:latin typeface="NanumGothic ExtraBold"/>
                <a:ea typeface="NanumGothic ExtraBold"/>
                <a:cs typeface="NanumGothic ExtraBold"/>
                <a:sym typeface="NanumGothic ExtraBold"/>
              </a:rPr>
              <a:t>, </a:t>
            </a:r>
            <a:r>
              <a:rPr lang="ko-KR" altLang="en-US" sz="1800" b="1" dirty="0">
                <a:solidFill>
                  <a:srgbClr val="19264B"/>
                </a:solidFill>
                <a:latin typeface="NanumGothic ExtraBold"/>
                <a:ea typeface="NanumGothic ExtraBold"/>
                <a:cs typeface="NanumGothic ExtraBold"/>
                <a:sym typeface="NanumGothic ExtraBold"/>
              </a:rPr>
              <a:t>스타일 분류 예측</a:t>
            </a:r>
            <a:endParaRPr sz="1800" b="1" dirty="0">
              <a:solidFill>
                <a:srgbClr val="19264B"/>
              </a:solidFill>
              <a:latin typeface="NanumGothic ExtraBold"/>
              <a:ea typeface="NanumGothic ExtraBold"/>
              <a:cs typeface="NanumGothic ExtraBold"/>
              <a:sym typeface="NanumGothic ExtraBold"/>
            </a:endParaRPr>
          </a:p>
        </p:txBody>
      </p:sp>
    </p:spTree>
    <p:extLst>
      <p:ext uri="{BB962C8B-B14F-4D97-AF65-F5344CB8AC3E}">
        <p14:creationId xmlns:p14="http://schemas.microsoft.com/office/powerpoint/2010/main" val="31779220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">
          <a:extLst>
            <a:ext uri="{FF2B5EF4-FFF2-40B4-BE49-F238E27FC236}">
              <a16:creationId xmlns:a16="http://schemas.microsoft.com/office/drawing/2014/main" id="{32FC1F82-E5E5-E82F-3D43-15D032338B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5">
            <a:extLst>
              <a:ext uri="{FF2B5EF4-FFF2-40B4-BE49-F238E27FC236}">
                <a16:creationId xmlns:a16="http://schemas.microsoft.com/office/drawing/2014/main" id="{CB4A4A76-BD36-7F14-5442-53380A2A86CE}"/>
              </a:ext>
            </a:extLst>
          </p:cNvPr>
          <p:cNvSpPr/>
          <p:nvPr/>
        </p:nvSpPr>
        <p:spPr>
          <a:xfrm>
            <a:off x="0" y="-37950"/>
            <a:ext cx="1181100" cy="5219400"/>
          </a:xfrm>
          <a:prstGeom prst="rect">
            <a:avLst/>
          </a:prstGeom>
          <a:solidFill>
            <a:srgbClr val="19264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73" name="Google Shape;73;p15">
            <a:extLst>
              <a:ext uri="{FF2B5EF4-FFF2-40B4-BE49-F238E27FC236}">
                <a16:creationId xmlns:a16="http://schemas.microsoft.com/office/drawing/2014/main" id="{FAF36D12-6DEE-28E6-5E8C-1BC546FB9E70}"/>
              </a:ext>
            </a:extLst>
          </p:cNvPr>
          <p:cNvCxnSpPr/>
          <p:nvPr/>
        </p:nvCxnSpPr>
        <p:spPr>
          <a:xfrm>
            <a:off x="172875" y="-37950"/>
            <a:ext cx="0" cy="218700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74" name="Google Shape;74;p15">
            <a:extLst>
              <a:ext uri="{FF2B5EF4-FFF2-40B4-BE49-F238E27FC236}">
                <a16:creationId xmlns:a16="http://schemas.microsoft.com/office/drawing/2014/main" id="{F0745E87-B18D-90CF-23D9-733DD9CB53FF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00">
            <a:off x="-928700" y="3071650"/>
            <a:ext cx="3038475" cy="11811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Google Shape;83;p16">
            <a:extLst>
              <a:ext uri="{FF2B5EF4-FFF2-40B4-BE49-F238E27FC236}">
                <a16:creationId xmlns:a16="http://schemas.microsoft.com/office/drawing/2014/main" id="{3868FCF8-73A4-F9C4-083D-7023750DE575}"/>
              </a:ext>
            </a:extLst>
          </p:cNvPr>
          <p:cNvSpPr txBox="1"/>
          <p:nvPr/>
        </p:nvSpPr>
        <p:spPr>
          <a:xfrm>
            <a:off x="2059307" y="2142962"/>
            <a:ext cx="5936276" cy="6801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ctr">
              <a:lnSpc>
                <a:spcPct val="115000"/>
              </a:lnSpc>
            </a:pPr>
            <a:r>
              <a:rPr lang="ko-KR" altLang="en-US" sz="2800" b="1" dirty="0">
                <a:solidFill>
                  <a:srgbClr val="19264B"/>
                </a:solidFill>
                <a:latin typeface="NanumGothic ExtraBold"/>
                <a:ea typeface="NanumGothic ExtraBold"/>
                <a:cs typeface="NanumGothic ExtraBold"/>
                <a:sym typeface="NanumGothic ExtraBold"/>
              </a:rPr>
              <a:t>감사합니다</a:t>
            </a:r>
            <a:r>
              <a:rPr lang="en-US" altLang="ko-KR" sz="2800" b="1" dirty="0">
                <a:solidFill>
                  <a:srgbClr val="19264B"/>
                </a:solidFill>
                <a:latin typeface="NanumGothic ExtraBold"/>
                <a:ea typeface="NanumGothic ExtraBold"/>
                <a:cs typeface="NanumGothic ExtraBold"/>
                <a:sym typeface="NanumGothic ExtraBold"/>
              </a:rPr>
              <a:t>.</a:t>
            </a:r>
            <a:endParaRPr sz="2800" b="1" dirty="0">
              <a:solidFill>
                <a:srgbClr val="19264B"/>
              </a:solidFill>
              <a:latin typeface="NanumGothic ExtraBold"/>
              <a:ea typeface="NanumGothic ExtraBold"/>
              <a:cs typeface="NanumGothic ExtraBold"/>
              <a:sym typeface="NanumGothic ExtraBold"/>
            </a:endParaRPr>
          </a:p>
        </p:txBody>
      </p:sp>
    </p:spTree>
    <p:extLst>
      <p:ext uri="{BB962C8B-B14F-4D97-AF65-F5344CB8AC3E}">
        <p14:creationId xmlns:p14="http://schemas.microsoft.com/office/powerpoint/2010/main" val="3843124068"/>
      </p:ext>
    </p:extLst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1141</TotalTime>
  <Words>403</Words>
  <Application>Microsoft Office PowerPoint</Application>
  <PresentationFormat>화면 슬라이드 쇼(16:9)</PresentationFormat>
  <Paragraphs>79</Paragraphs>
  <Slides>14</Slides>
  <Notes>14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14</vt:i4>
      </vt:variant>
    </vt:vector>
  </HeadingPairs>
  <TitlesOfParts>
    <vt:vector size="17" baseType="lpstr">
      <vt:lpstr>NanumGothic ExtraBold</vt:lpstr>
      <vt:lpstr>Arial</vt:lpstr>
      <vt:lpstr>Simple Light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노기현</dc:creator>
  <cp:lastModifiedBy>lsu8342@gmail.com</cp:lastModifiedBy>
  <cp:revision>7</cp:revision>
  <dcterms:modified xsi:type="dcterms:W3CDTF">2025-11-25T10:07:49Z</dcterms:modified>
</cp:coreProperties>
</file>